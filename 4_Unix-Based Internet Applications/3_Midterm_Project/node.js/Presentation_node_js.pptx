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18"/>
  </p:notesMasterIdLst>
  <p:sldIdLst>
    <p:sldId id="256" r:id="rId2"/>
    <p:sldId id="288" r:id="rId3"/>
    <p:sldId id="266" r:id="rId4"/>
    <p:sldId id="265" r:id="rId5"/>
    <p:sldId id="263" r:id="rId6"/>
    <p:sldId id="297" r:id="rId7"/>
    <p:sldId id="299" r:id="rId8"/>
    <p:sldId id="295" r:id="rId9"/>
    <p:sldId id="300" r:id="rId10"/>
    <p:sldId id="296" r:id="rId11"/>
    <p:sldId id="301" r:id="rId12"/>
    <p:sldId id="261" r:id="rId13"/>
    <p:sldId id="264" r:id="rId14"/>
    <p:sldId id="258" r:id="rId15"/>
    <p:sldId id="302" r:id="rId16"/>
    <p:sldId id="294" r:id="rId17"/>
  </p:sldIdLst>
  <p:sldSz cx="9144000" cy="5143500" type="screen16x9"/>
  <p:notesSz cx="6858000" cy="9144000"/>
  <p:embeddedFontLst>
    <p:embeddedFont>
      <p:font typeface="Open Sans" panose="020B0606030504020204" pitchFamily="34" charset="0"/>
      <p:regular r:id="rId19"/>
      <p:bold r:id="rId20"/>
      <p:italic r:id="rId21"/>
      <p:boldItalic r:id="rId22"/>
    </p:embeddedFont>
    <p:embeddedFont>
      <p:font typeface="Raleway" pitchFamily="2" charset="0"/>
      <p:regular r:id="rId23"/>
      <p:bold r:id="rId24"/>
      <p:italic r:id="rId25"/>
      <p:boldItalic r:id="rId26"/>
    </p:embeddedFont>
    <p:embeddedFont>
      <p:font typeface="Roboto Mono" panose="00000009000000000000" pitchFamily="49" charset="0"/>
      <p:regular r:id="rId27"/>
      <p:bold r:id="rId28"/>
      <p:italic r:id="rId29"/>
      <p:boldItalic r:id="rId30"/>
    </p:embeddedFont>
    <p:embeddedFont>
      <p:font typeface="VT323" panose="020B0604020202020204" charset="0"/>
      <p:regular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EB9"/>
    <a:srgbClr val="7A7A78"/>
    <a:srgbClr val="FFC000"/>
    <a:srgbClr val="009900"/>
    <a:srgbClr val="75B7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B59E57D-C21D-433A-88A1-23F45811943C}">
  <a:tblStyle styleId="{6B59E57D-C21D-433A-88A1-23F45811943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ed3401ed3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ed3401ed3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e1d838b627_4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e1d838b627_4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0968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3fb61485ab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33fb61485ab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e1d838b627_4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e1d838b627_4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e1d838b627_4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e1d838b627_4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e1d838b627_4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e1d838b627_4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201669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e1d838b627_4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e1d838b627_4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e1d838b627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e1d838b627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e1d838b627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e1d838b627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10306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84988" y="78599"/>
            <a:ext cx="8974027" cy="4925051"/>
            <a:chOff x="84988" y="78599"/>
            <a:chExt cx="8974027" cy="4925051"/>
          </a:xfrm>
        </p:grpSpPr>
        <p:pic>
          <p:nvPicPr>
            <p:cNvPr id="10" name="Google Shape;10;p2"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11" name="Google Shape;11;p2"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12" name="Google Shape;12;p2"/>
          <p:cNvSpPr>
            <a:spLocks noGrp="1"/>
          </p:cNvSpPr>
          <p:nvPr>
            <p:ph type="pic" idx="2"/>
          </p:nvPr>
        </p:nvSpPr>
        <p:spPr>
          <a:xfrm>
            <a:off x="5805375" y="1317075"/>
            <a:ext cx="2831700" cy="2648100"/>
          </a:xfrm>
          <a:prstGeom prst="rect">
            <a:avLst/>
          </a:prstGeom>
          <a:noFill/>
          <a:ln w="19050" cap="flat" cmpd="sng">
            <a:solidFill>
              <a:schemeClr val="dk2"/>
            </a:solidFill>
            <a:prstDash val="solid"/>
            <a:round/>
            <a:headEnd type="none" w="sm" len="sm"/>
            <a:tailEnd type="none" w="sm" len="sm"/>
          </a:ln>
        </p:spPr>
      </p:sp>
      <p:sp>
        <p:nvSpPr>
          <p:cNvPr id="13" name="Google Shape;13;p2"/>
          <p:cNvSpPr txBox="1">
            <a:spLocks noGrp="1"/>
          </p:cNvSpPr>
          <p:nvPr>
            <p:ph type="ctrTitle"/>
          </p:nvPr>
        </p:nvSpPr>
        <p:spPr>
          <a:xfrm>
            <a:off x="606800" y="849600"/>
            <a:ext cx="5060700" cy="24624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rgbClr val="191919"/>
              </a:buClr>
              <a:buSzPts val="5200"/>
              <a:buNone/>
              <a:defRPr sz="5600"/>
            </a:lvl1pPr>
            <a:lvl2pPr lvl="1">
              <a:spcBef>
                <a:spcPts val="0"/>
              </a:spcBef>
              <a:spcAft>
                <a:spcPts val="0"/>
              </a:spcAft>
              <a:buClr>
                <a:srgbClr val="191919"/>
              </a:buClr>
              <a:buSzPts val="5200"/>
              <a:buNone/>
              <a:defRPr sz="5200">
                <a:solidFill>
                  <a:srgbClr val="191919"/>
                </a:solidFill>
              </a:defRPr>
            </a:lvl2pPr>
            <a:lvl3pPr lvl="2">
              <a:spcBef>
                <a:spcPts val="0"/>
              </a:spcBef>
              <a:spcAft>
                <a:spcPts val="0"/>
              </a:spcAft>
              <a:buClr>
                <a:srgbClr val="191919"/>
              </a:buClr>
              <a:buSzPts val="5200"/>
              <a:buNone/>
              <a:defRPr sz="5200">
                <a:solidFill>
                  <a:srgbClr val="191919"/>
                </a:solidFill>
              </a:defRPr>
            </a:lvl3pPr>
            <a:lvl4pPr lvl="3">
              <a:spcBef>
                <a:spcPts val="0"/>
              </a:spcBef>
              <a:spcAft>
                <a:spcPts val="0"/>
              </a:spcAft>
              <a:buClr>
                <a:srgbClr val="191919"/>
              </a:buClr>
              <a:buSzPts val="5200"/>
              <a:buNone/>
              <a:defRPr sz="5200">
                <a:solidFill>
                  <a:srgbClr val="191919"/>
                </a:solidFill>
              </a:defRPr>
            </a:lvl4pPr>
            <a:lvl5pPr lvl="4">
              <a:spcBef>
                <a:spcPts val="0"/>
              </a:spcBef>
              <a:spcAft>
                <a:spcPts val="0"/>
              </a:spcAft>
              <a:buClr>
                <a:srgbClr val="191919"/>
              </a:buClr>
              <a:buSzPts val="5200"/>
              <a:buNone/>
              <a:defRPr sz="5200">
                <a:solidFill>
                  <a:srgbClr val="191919"/>
                </a:solidFill>
              </a:defRPr>
            </a:lvl5pPr>
            <a:lvl6pPr lvl="5">
              <a:spcBef>
                <a:spcPts val="0"/>
              </a:spcBef>
              <a:spcAft>
                <a:spcPts val="0"/>
              </a:spcAft>
              <a:buClr>
                <a:srgbClr val="191919"/>
              </a:buClr>
              <a:buSzPts val="5200"/>
              <a:buNone/>
              <a:defRPr sz="5200">
                <a:solidFill>
                  <a:srgbClr val="191919"/>
                </a:solidFill>
              </a:defRPr>
            </a:lvl6pPr>
            <a:lvl7pPr lvl="6">
              <a:spcBef>
                <a:spcPts val="0"/>
              </a:spcBef>
              <a:spcAft>
                <a:spcPts val="0"/>
              </a:spcAft>
              <a:buClr>
                <a:srgbClr val="191919"/>
              </a:buClr>
              <a:buSzPts val="5200"/>
              <a:buNone/>
              <a:defRPr sz="5200">
                <a:solidFill>
                  <a:srgbClr val="191919"/>
                </a:solidFill>
              </a:defRPr>
            </a:lvl7pPr>
            <a:lvl8pPr lvl="7">
              <a:spcBef>
                <a:spcPts val="0"/>
              </a:spcBef>
              <a:spcAft>
                <a:spcPts val="0"/>
              </a:spcAft>
              <a:buClr>
                <a:srgbClr val="191919"/>
              </a:buClr>
              <a:buSzPts val="5200"/>
              <a:buNone/>
              <a:defRPr sz="5200">
                <a:solidFill>
                  <a:srgbClr val="191919"/>
                </a:solidFill>
              </a:defRPr>
            </a:lvl8pPr>
            <a:lvl9pPr lvl="8">
              <a:spcBef>
                <a:spcPts val="0"/>
              </a:spcBef>
              <a:spcAft>
                <a:spcPts val="0"/>
              </a:spcAft>
              <a:buClr>
                <a:srgbClr val="191919"/>
              </a:buClr>
              <a:buSzPts val="5200"/>
              <a:buNone/>
              <a:defRPr sz="5200">
                <a:solidFill>
                  <a:srgbClr val="191919"/>
                </a:solidFill>
              </a:defRPr>
            </a:lvl9pPr>
          </a:lstStyle>
          <a:p>
            <a:endParaRPr/>
          </a:p>
        </p:txBody>
      </p:sp>
      <p:sp>
        <p:nvSpPr>
          <p:cNvPr id="14" name="Google Shape;14;p2"/>
          <p:cNvSpPr txBox="1">
            <a:spLocks noGrp="1"/>
          </p:cNvSpPr>
          <p:nvPr>
            <p:ph type="subTitle" idx="1"/>
          </p:nvPr>
        </p:nvSpPr>
        <p:spPr>
          <a:xfrm>
            <a:off x="606800" y="3364900"/>
            <a:ext cx="4351500" cy="1135200"/>
          </a:xfrm>
          <a:prstGeom prst="rect">
            <a:avLst/>
          </a:prstGeom>
          <a:ln>
            <a:noFill/>
          </a:ln>
        </p:spPr>
        <p:txBody>
          <a:bodyPr spcFirstLastPara="1" wrap="square" lIns="91425" tIns="91425" rIns="91425" bIns="91425" anchor="t" anchorCtr="0">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pic>
        <p:nvPicPr>
          <p:cNvPr id="15" name="Google Shape;15;p2" title="Sin título-2.png"/>
          <p:cNvPicPr preferRelativeResize="0"/>
          <p:nvPr/>
        </p:nvPicPr>
        <p:blipFill rotWithShape="1">
          <a:blip r:embed="rId3">
            <a:alphaModFix/>
          </a:blip>
          <a:srcRect l="61982"/>
          <a:stretch/>
        </p:blipFill>
        <p:spPr>
          <a:xfrm>
            <a:off x="5805376" y="1051575"/>
            <a:ext cx="2831677" cy="265500"/>
          </a:xfrm>
          <a:prstGeom prst="rect">
            <a:avLst/>
          </a:prstGeom>
          <a:noFill/>
          <a:ln w="9525" cap="flat" cmpd="sng">
            <a:solidFill>
              <a:schemeClr val="dk2"/>
            </a:solidFill>
            <a:prstDash val="solid"/>
            <a:round/>
            <a:headEnd type="none" w="sm" len="sm"/>
            <a:tailEnd type="none" w="sm" len="sm"/>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6"/>
        <p:cNvGrpSpPr/>
        <p:nvPr/>
      </p:nvGrpSpPr>
      <p:grpSpPr>
        <a:xfrm>
          <a:off x="0" y="0"/>
          <a:ext cx="0" cy="0"/>
          <a:chOff x="0" y="0"/>
          <a:chExt cx="0" cy="0"/>
        </a:xfrm>
      </p:grpSpPr>
      <p:grpSp>
        <p:nvGrpSpPr>
          <p:cNvPr id="27" name="Google Shape;27;p4"/>
          <p:cNvGrpSpPr/>
          <p:nvPr/>
        </p:nvGrpSpPr>
        <p:grpSpPr>
          <a:xfrm>
            <a:off x="84988" y="78599"/>
            <a:ext cx="8974027" cy="4925051"/>
            <a:chOff x="84988" y="78599"/>
            <a:chExt cx="8974027" cy="4925051"/>
          </a:xfrm>
        </p:grpSpPr>
        <p:pic>
          <p:nvPicPr>
            <p:cNvPr id="28" name="Google Shape;28;p4"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29" name="Google Shape;29;p4"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30" name="Google Shape;30;p4"/>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a:endParaRPr/>
          </a:p>
        </p:txBody>
      </p:sp>
      <p:sp>
        <p:nvSpPr>
          <p:cNvPr id="31" name="Google Shape;31;p4"/>
          <p:cNvSpPr txBox="1">
            <a:spLocks noGrp="1"/>
          </p:cNvSpPr>
          <p:nvPr>
            <p:ph type="body" idx="1"/>
          </p:nvPr>
        </p:nvSpPr>
        <p:spPr>
          <a:xfrm>
            <a:off x="720000" y="1152475"/>
            <a:ext cx="7704000" cy="3416400"/>
          </a:xfrm>
          <a:prstGeom prst="rect">
            <a:avLst/>
          </a:prstGeom>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accent1"/>
              </a:buClr>
              <a:buSzPts val="1800"/>
              <a:buFont typeface="Darker Grotesque SemiBold"/>
              <a:buChar char="●"/>
              <a:defRPr sz="1200">
                <a:solidFill>
                  <a:srgbClr val="434343"/>
                </a:solidFill>
              </a:defRPr>
            </a:lvl1pPr>
            <a:lvl2pPr marL="914400" lvl="1" indent="-317500" rtl="0">
              <a:lnSpc>
                <a:spcPct val="115000"/>
              </a:lnSpc>
              <a:spcBef>
                <a:spcPts val="0"/>
              </a:spcBef>
              <a:spcAft>
                <a:spcPts val="0"/>
              </a:spcAft>
              <a:buClr>
                <a:srgbClr val="15325B"/>
              </a:buClr>
              <a:buSzPts val="1400"/>
              <a:buFont typeface="Darker Grotesque SemiBold"/>
              <a:buChar char="○"/>
              <a:defRPr>
                <a:solidFill>
                  <a:srgbClr val="434343"/>
                </a:solidFill>
              </a:defRPr>
            </a:lvl2pPr>
            <a:lvl3pPr marL="1371600" lvl="2" indent="-317500" rtl="0">
              <a:lnSpc>
                <a:spcPct val="115000"/>
              </a:lnSpc>
              <a:spcBef>
                <a:spcPts val="0"/>
              </a:spcBef>
              <a:spcAft>
                <a:spcPts val="0"/>
              </a:spcAft>
              <a:buClr>
                <a:srgbClr val="15325B"/>
              </a:buClr>
              <a:buSzPts val="1400"/>
              <a:buFont typeface="Darker Grotesque SemiBold"/>
              <a:buChar char="■"/>
              <a:defRPr>
                <a:solidFill>
                  <a:srgbClr val="434343"/>
                </a:solidFill>
              </a:defRPr>
            </a:lvl3pPr>
            <a:lvl4pPr marL="1828800" lvl="3" indent="-317500" rtl="0">
              <a:lnSpc>
                <a:spcPct val="115000"/>
              </a:lnSpc>
              <a:spcBef>
                <a:spcPts val="0"/>
              </a:spcBef>
              <a:spcAft>
                <a:spcPts val="0"/>
              </a:spcAft>
              <a:buClr>
                <a:srgbClr val="15325B"/>
              </a:buClr>
              <a:buSzPts val="1400"/>
              <a:buFont typeface="Darker Grotesque SemiBold"/>
              <a:buChar char="●"/>
              <a:defRPr>
                <a:solidFill>
                  <a:srgbClr val="434343"/>
                </a:solidFill>
              </a:defRPr>
            </a:lvl4pPr>
            <a:lvl5pPr marL="2286000" lvl="4" indent="-317500" rtl="0">
              <a:lnSpc>
                <a:spcPct val="115000"/>
              </a:lnSpc>
              <a:spcBef>
                <a:spcPts val="0"/>
              </a:spcBef>
              <a:spcAft>
                <a:spcPts val="0"/>
              </a:spcAft>
              <a:buClr>
                <a:srgbClr val="15325B"/>
              </a:buClr>
              <a:buSzPts val="1400"/>
              <a:buFont typeface="Darker Grotesque SemiBold"/>
              <a:buChar char="○"/>
              <a:defRPr>
                <a:solidFill>
                  <a:srgbClr val="434343"/>
                </a:solidFill>
              </a:defRPr>
            </a:lvl5pPr>
            <a:lvl6pPr marL="2743200" lvl="5" indent="-317500" rtl="0">
              <a:lnSpc>
                <a:spcPct val="115000"/>
              </a:lnSpc>
              <a:spcBef>
                <a:spcPts val="0"/>
              </a:spcBef>
              <a:spcAft>
                <a:spcPts val="0"/>
              </a:spcAft>
              <a:buClr>
                <a:srgbClr val="15325B"/>
              </a:buClr>
              <a:buSzPts val="1400"/>
              <a:buFont typeface="Darker Grotesque SemiBold"/>
              <a:buChar char="■"/>
              <a:defRPr>
                <a:solidFill>
                  <a:srgbClr val="434343"/>
                </a:solidFill>
              </a:defRPr>
            </a:lvl6pPr>
            <a:lvl7pPr marL="3200400" lvl="6" indent="-317500" rtl="0">
              <a:lnSpc>
                <a:spcPct val="115000"/>
              </a:lnSpc>
              <a:spcBef>
                <a:spcPts val="0"/>
              </a:spcBef>
              <a:spcAft>
                <a:spcPts val="0"/>
              </a:spcAft>
              <a:buClr>
                <a:srgbClr val="15325B"/>
              </a:buClr>
              <a:buSzPts val="1400"/>
              <a:buFont typeface="Darker Grotesque SemiBold"/>
              <a:buChar char="●"/>
              <a:defRPr>
                <a:solidFill>
                  <a:srgbClr val="434343"/>
                </a:solidFill>
              </a:defRPr>
            </a:lvl7pPr>
            <a:lvl8pPr marL="3657600" lvl="7" indent="-317500" rtl="0">
              <a:lnSpc>
                <a:spcPct val="115000"/>
              </a:lnSpc>
              <a:spcBef>
                <a:spcPts val="0"/>
              </a:spcBef>
              <a:spcAft>
                <a:spcPts val="0"/>
              </a:spcAft>
              <a:buClr>
                <a:srgbClr val="15325B"/>
              </a:buClr>
              <a:buSzPts val="1400"/>
              <a:buFont typeface="Darker Grotesque SemiBold"/>
              <a:buChar char="○"/>
              <a:defRPr>
                <a:solidFill>
                  <a:srgbClr val="434343"/>
                </a:solidFill>
              </a:defRPr>
            </a:lvl8pPr>
            <a:lvl9pPr marL="4114800" lvl="8" indent="-317500" rtl="0">
              <a:lnSpc>
                <a:spcPct val="115000"/>
              </a:lnSpc>
              <a:spcBef>
                <a:spcPts val="0"/>
              </a:spcBef>
              <a:spcAft>
                <a:spcPts val="0"/>
              </a:spcAft>
              <a:buClr>
                <a:srgbClr val="15325B"/>
              </a:buClr>
              <a:buSzPts val="1400"/>
              <a:buFont typeface="Darker Grotesque SemiBold"/>
              <a:buChar char="■"/>
              <a:defRPr>
                <a:solidFill>
                  <a:srgbClr val="434343"/>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grpSp>
        <p:nvGrpSpPr>
          <p:cNvPr id="41" name="Google Shape;41;p6"/>
          <p:cNvGrpSpPr/>
          <p:nvPr/>
        </p:nvGrpSpPr>
        <p:grpSpPr>
          <a:xfrm>
            <a:off x="84988" y="78599"/>
            <a:ext cx="8974027" cy="4925051"/>
            <a:chOff x="84988" y="78599"/>
            <a:chExt cx="8974027" cy="4925051"/>
          </a:xfrm>
        </p:grpSpPr>
        <p:pic>
          <p:nvPicPr>
            <p:cNvPr id="42" name="Google Shape;42;p6"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43" name="Google Shape;43;p6"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44" name="Google Shape;44;p6"/>
          <p:cNvSpPr txBox="1">
            <a:spLocks noGrp="1"/>
          </p:cNvSpPr>
          <p:nvPr>
            <p:ph type="title"/>
          </p:nvPr>
        </p:nvSpPr>
        <p:spPr>
          <a:xfrm>
            <a:off x="341850" y="654800"/>
            <a:ext cx="8460300" cy="60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pic>
        <p:nvPicPr>
          <p:cNvPr id="45" name="Google Shape;45;p6"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grpSp>
        <p:nvGrpSpPr>
          <p:cNvPr id="47" name="Google Shape;47;p7"/>
          <p:cNvGrpSpPr/>
          <p:nvPr/>
        </p:nvGrpSpPr>
        <p:grpSpPr>
          <a:xfrm>
            <a:off x="84988" y="78599"/>
            <a:ext cx="8974027" cy="4925051"/>
            <a:chOff x="84988" y="78599"/>
            <a:chExt cx="8974027" cy="4925051"/>
          </a:xfrm>
        </p:grpSpPr>
        <p:pic>
          <p:nvPicPr>
            <p:cNvPr id="48" name="Google Shape;48;p7"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49" name="Google Shape;49;p7"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50" name="Google Shape;50;p7"/>
          <p:cNvSpPr txBox="1">
            <a:spLocks noGrp="1"/>
          </p:cNvSpPr>
          <p:nvPr>
            <p:ph type="title"/>
          </p:nvPr>
        </p:nvSpPr>
        <p:spPr>
          <a:xfrm>
            <a:off x="228600" y="228600"/>
            <a:ext cx="3998400" cy="1445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600"/>
              <a:buNone/>
              <a:defRPr sz="260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51" name="Google Shape;51;p7"/>
          <p:cNvSpPr txBox="1">
            <a:spLocks noGrp="1"/>
          </p:cNvSpPr>
          <p:nvPr>
            <p:ph type="body" idx="1"/>
          </p:nvPr>
        </p:nvSpPr>
        <p:spPr>
          <a:xfrm>
            <a:off x="1609625" y="2066125"/>
            <a:ext cx="3824100" cy="25326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52" name="Google Shape;52;p7"/>
          <p:cNvSpPr>
            <a:spLocks noGrp="1"/>
          </p:cNvSpPr>
          <p:nvPr>
            <p:ph type="pic" idx="2"/>
          </p:nvPr>
        </p:nvSpPr>
        <p:spPr>
          <a:xfrm>
            <a:off x="5715849" y="0"/>
            <a:ext cx="3428100" cy="5143500"/>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3"/>
        <p:cNvGrpSpPr/>
        <p:nvPr/>
      </p:nvGrpSpPr>
      <p:grpSpPr>
        <a:xfrm>
          <a:off x="0" y="0"/>
          <a:ext cx="0" cy="0"/>
          <a:chOff x="0" y="0"/>
          <a:chExt cx="0" cy="0"/>
        </a:xfrm>
      </p:grpSpPr>
      <p:grpSp>
        <p:nvGrpSpPr>
          <p:cNvPr id="54" name="Google Shape;54;p8"/>
          <p:cNvGrpSpPr/>
          <p:nvPr/>
        </p:nvGrpSpPr>
        <p:grpSpPr>
          <a:xfrm>
            <a:off x="84988" y="78599"/>
            <a:ext cx="8974027" cy="4925051"/>
            <a:chOff x="84988" y="78599"/>
            <a:chExt cx="8974027" cy="4925051"/>
          </a:xfrm>
        </p:grpSpPr>
        <p:pic>
          <p:nvPicPr>
            <p:cNvPr id="55" name="Google Shape;55;p8"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56" name="Google Shape;56;p8"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57" name="Google Shape;57;p8"/>
          <p:cNvSpPr txBox="1">
            <a:spLocks noGrp="1"/>
          </p:cNvSpPr>
          <p:nvPr>
            <p:ph type="title"/>
          </p:nvPr>
        </p:nvSpPr>
        <p:spPr>
          <a:xfrm>
            <a:off x="1388100" y="1307100"/>
            <a:ext cx="6367800" cy="25293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8"/>
        <p:cNvGrpSpPr/>
        <p:nvPr/>
      </p:nvGrpSpPr>
      <p:grpSpPr>
        <a:xfrm>
          <a:off x="0" y="0"/>
          <a:ext cx="0" cy="0"/>
          <a:chOff x="0" y="0"/>
          <a:chExt cx="0" cy="0"/>
        </a:xfrm>
      </p:grpSpPr>
      <p:grpSp>
        <p:nvGrpSpPr>
          <p:cNvPr id="59" name="Google Shape;59;p9"/>
          <p:cNvGrpSpPr/>
          <p:nvPr/>
        </p:nvGrpSpPr>
        <p:grpSpPr>
          <a:xfrm>
            <a:off x="84988" y="78599"/>
            <a:ext cx="8974027" cy="4925051"/>
            <a:chOff x="84988" y="78599"/>
            <a:chExt cx="8974027" cy="4925051"/>
          </a:xfrm>
        </p:grpSpPr>
        <p:pic>
          <p:nvPicPr>
            <p:cNvPr id="60" name="Google Shape;60;p9"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61" name="Google Shape;61;p9"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62" name="Google Shape;62;p9"/>
          <p:cNvSpPr txBox="1">
            <a:spLocks noGrp="1"/>
          </p:cNvSpPr>
          <p:nvPr>
            <p:ph type="subTitle" idx="1"/>
          </p:nvPr>
        </p:nvSpPr>
        <p:spPr>
          <a:xfrm>
            <a:off x="720064" y="1580125"/>
            <a:ext cx="3597000" cy="238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3" name="Google Shape;63;p9"/>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2600"/>
              <a:buNone/>
              <a:defRPr sz="260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64" name="Google Shape;64;p9"/>
          <p:cNvSpPr txBox="1">
            <a:spLocks noGrp="1"/>
          </p:cNvSpPr>
          <p:nvPr>
            <p:ph type="subTitle" idx="2"/>
          </p:nvPr>
        </p:nvSpPr>
        <p:spPr>
          <a:xfrm>
            <a:off x="4826936" y="1580125"/>
            <a:ext cx="3597000" cy="238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5"/>
        <p:cNvGrpSpPr/>
        <p:nvPr/>
      </p:nvGrpSpPr>
      <p:grpSpPr>
        <a:xfrm>
          <a:off x="0" y="0"/>
          <a:ext cx="0" cy="0"/>
          <a:chOff x="0" y="0"/>
          <a:chExt cx="0" cy="0"/>
        </a:xfrm>
      </p:grpSpPr>
      <p:pic>
        <p:nvPicPr>
          <p:cNvPr id="66" name="Google Shape;66;p10"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67" name="Google Shape;67;p10"/>
          <p:cNvSpPr>
            <a:spLocks noGrp="1"/>
          </p:cNvSpPr>
          <p:nvPr>
            <p:ph type="pic" idx="2"/>
          </p:nvPr>
        </p:nvSpPr>
        <p:spPr>
          <a:xfrm>
            <a:off x="191450" y="686275"/>
            <a:ext cx="8758200" cy="4130100"/>
          </a:xfrm>
          <a:prstGeom prst="rect">
            <a:avLst/>
          </a:prstGeom>
          <a:noFill/>
          <a:ln>
            <a:noFill/>
          </a:ln>
        </p:spPr>
      </p:sp>
      <p:sp>
        <p:nvSpPr>
          <p:cNvPr id="68" name="Google Shape;68;p10"/>
          <p:cNvSpPr txBox="1">
            <a:spLocks noGrp="1"/>
          </p:cNvSpPr>
          <p:nvPr>
            <p:ph type="title"/>
          </p:nvPr>
        </p:nvSpPr>
        <p:spPr>
          <a:xfrm>
            <a:off x="6584125" y="3792925"/>
            <a:ext cx="2004000" cy="694500"/>
          </a:xfrm>
          <a:prstGeom prst="rect">
            <a:avLst/>
          </a:prstGeom>
          <a:solidFill>
            <a:schemeClr val="lt1"/>
          </a:solidFill>
          <a:ln>
            <a:noFill/>
          </a:ln>
        </p:spPr>
        <p:txBody>
          <a:bodyPr spcFirstLastPara="1" wrap="square" lIns="91425" tIns="91425" rIns="91425" bIns="91425" anchor="t" anchorCtr="0">
            <a:noAutofit/>
          </a:bodyPr>
          <a:lstStyle>
            <a:lvl1pPr lvl="0" algn="ctr" rtl="0">
              <a:spcBef>
                <a:spcPts val="0"/>
              </a:spcBef>
              <a:spcAft>
                <a:spcPts val="0"/>
              </a:spcAft>
              <a:buSzPts val="3200"/>
              <a:buNone/>
              <a:defRPr sz="1500"/>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a:endParaRPr/>
          </a:p>
        </p:txBody>
      </p:sp>
      <p:pic>
        <p:nvPicPr>
          <p:cNvPr id="69" name="Google Shape;69;p10"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0"/>
        <p:cNvGrpSpPr/>
        <p:nvPr/>
      </p:nvGrpSpPr>
      <p:grpSpPr>
        <a:xfrm>
          <a:off x="0" y="0"/>
          <a:ext cx="0" cy="0"/>
          <a:chOff x="0" y="0"/>
          <a:chExt cx="0" cy="0"/>
        </a:xfrm>
      </p:grpSpPr>
      <p:grpSp>
        <p:nvGrpSpPr>
          <p:cNvPr id="71" name="Google Shape;71;p11"/>
          <p:cNvGrpSpPr/>
          <p:nvPr/>
        </p:nvGrpSpPr>
        <p:grpSpPr>
          <a:xfrm>
            <a:off x="84988" y="78599"/>
            <a:ext cx="8974027" cy="4925051"/>
            <a:chOff x="84988" y="78599"/>
            <a:chExt cx="8974027" cy="4925051"/>
          </a:xfrm>
        </p:grpSpPr>
        <p:pic>
          <p:nvPicPr>
            <p:cNvPr id="72" name="Google Shape;72;p11"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73" name="Google Shape;73;p11"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74" name="Google Shape;74;p11"/>
          <p:cNvSpPr txBox="1">
            <a:spLocks noGrp="1"/>
          </p:cNvSpPr>
          <p:nvPr>
            <p:ph type="title" hasCustomPrompt="1"/>
          </p:nvPr>
        </p:nvSpPr>
        <p:spPr>
          <a:xfrm>
            <a:off x="1284000" y="1952850"/>
            <a:ext cx="6576000" cy="7995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5" name="Google Shape;75;p11"/>
          <p:cNvSpPr txBox="1">
            <a:spLocks noGrp="1"/>
          </p:cNvSpPr>
          <p:nvPr>
            <p:ph type="subTitle" idx="1"/>
          </p:nvPr>
        </p:nvSpPr>
        <p:spPr>
          <a:xfrm>
            <a:off x="1284000" y="2816250"/>
            <a:ext cx="6576000" cy="374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6"/>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_1_1_1_2_1">
    <p:spTree>
      <p:nvGrpSpPr>
        <p:cNvPr id="1" name="Shape 77"/>
        <p:cNvGrpSpPr/>
        <p:nvPr/>
      </p:nvGrpSpPr>
      <p:grpSpPr>
        <a:xfrm>
          <a:off x="0" y="0"/>
          <a:ext cx="0" cy="0"/>
          <a:chOff x="0" y="0"/>
          <a:chExt cx="0" cy="0"/>
        </a:xfrm>
      </p:grpSpPr>
      <p:pic>
        <p:nvPicPr>
          <p:cNvPr id="78" name="Google Shape;78;p13"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79" name="Google Shape;79;p13"/>
          <p:cNvSpPr txBox="1">
            <a:spLocks noGrp="1"/>
          </p:cNvSpPr>
          <p:nvPr>
            <p:ph type="title"/>
          </p:nvPr>
        </p:nvSpPr>
        <p:spPr>
          <a:xfrm>
            <a:off x="341850" y="654800"/>
            <a:ext cx="8453400" cy="602400"/>
          </a:xfrm>
          <a:prstGeom prst="rect">
            <a:avLst/>
          </a:prstGeom>
        </p:spPr>
        <p:txBody>
          <a:bodyPr spcFirstLastPara="1" wrap="square" lIns="91425" tIns="91425" rIns="91425" bIns="91425" anchor="t"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80" name="Google Shape;80;p13"/>
          <p:cNvSpPr txBox="1">
            <a:spLocks noGrp="1"/>
          </p:cNvSpPr>
          <p:nvPr>
            <p:ph type="subTitle" idx="1"/>
          </p:nvPr>
        </p:nvSpPr>
        <p:spPr>
          <a:xfrm>
            <a:off x="1107250" y="1796625"/>
            <a:ext cx="2799900" cy="5394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81" name="Google Shape;81;p13"/>
          <p:cNvSpPr txBox="1">
            <a:spLocks noGrp="1"/>
          </p:cNvSpPr>
          <p:nvPr>
            <p:ph type="subTitle" idx="2"/>
          </p:nvPr>
        </p:nvSpPr>
        <p:spPr>
          <a:xfrm>
            <a:off x="1107250" y="2442833"/>
            <a:ext cx="2799900" cy="5394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82" name="Google Shape;82;p13"/>
          <p:cNvSpPr txBox="1">
            <a:spLocks noGrp="1"/>
          </p:cNvSpPr>
          <p:nvPr>
            <p:ph type="subTitle" idx="3"/>
          </p:nvPr>
        </p:nvSpPr>
        <p:spPr>
          <a:xfrm>
            <a:off x="1107250" y="3089042"/>
            <a:ext cx="2799900" cy="5394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83" name="Google Shape;83;p13"/>
          <p:cNvSpPr txBox="1">
            <a:spLocks noGrp="1"/>
          </p:cNvSpPr>
          <p:nvPr>
            <p:ph type="subTitle" idx="4"/>
          </p:nvPr>
        </p:nvSpPr>
        <p:spPr>
          <a:xfrm>
            <a:off x="1107250" y="3735250"/>
            <a:ext cx="2799900" cy="5394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84" name="Google Shape;84;p13"/>
          <p:cNvSpPr txBox="1">
            <a:spLocks noGrp="1"/>
          </p:cNvSpPr>
          <p:nvPr>
            <p:ph type="subTitle" idx="5"/>
          </p:nvPr>
        </p:nvSpPr>
        <p:spPr>
          <a:xfrm>
            <a:off x="4851600" y="1796625"/>
            <a:ext cx="2799900" cy="5394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85" name="Google Shape;85;p13"/>
          <p:cNvSpPr txBox="1">
            <a:spLocks noGrp="1"/>
          </p:cNvSpPr>
          <p:nvPr>
            <p:ph type="subTitle" idx="6"/>
          </p:nvPr>
        </p:nvSpPr>
        <p:spPr>
          <a:xfrm>
            <a:off x="4851600" y="2442831"/>
            <a:ext cx="2799900" cy="5394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86" name="Google Shape;86;p13"/>
          <p:cNvSpPr txBox="1">
            <a:spLocks noGrp="1"/>
          </p:cNvSpPr>
          <p:nvPr>
            <p:ph type="subTitle" idx="7"/>
          </p:nvPr>
        </p:nvSpPr>
        <p:spPr>
          <a:xfrm>
            <a:off x="4851600" y="3089037"/>
            <a:ext cx="2799900" cy="5394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87" name="Google Shape;87;p13"/>
          <p:cNvSpPr txBox="1">
            <a:spLocks noGrp="1"/>
          </p:cNvSpPr>
          <p:nvPr>
            <p:ph type="subTitle" idx="8"/>
          </p:nvPr>
        </p:nvSpPr>
        <p:spPr>
          <a:xfrm>
            <a:off x="4851600" y="3735244"/>
            <a:ext cx="2799900" cy="5394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88" name="Google Shape;88;p13"/>
          <p:cNvSpPr txBox="1">
            <a:spLocks noGrp="1"/>
          </p:cNvSpPr>
          <p:nvPr>
            <p:ph type="title" idx="9" hasCustomPrompt="1"/>
          </p:nvPr>
        </p:nvSpPr>
        <p:spPr>
          <a:xfrm>
            <a:off x="341850" y="3849550"/>
            <a:ext cx="765300" cy="31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27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89" name="Google Shape;89;p13"/>
          <p:cNvSpPr txBox="1">
            <a:spLocks noGrp="1"/>
          </p:cNvSpPr>
          <p:nvPr>
            <p:ph type="title" idx="13" hasCustomPrompt="1"/>
          </p:nvPr>
        </p:nvSpPr>
        <p:spPr>
          <a:xfrm>
            <a:off x="341850" y="2560850"/>
            <a:ext cx="765300" cy="31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27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0" name="Google Shape;90;p13"/>
          <p:cNvSpPr txBox="1">
            <a:spLocks noGrp="1"/>
          </p:cNvSpPr>
          <p:nvPr>
            <p:ph type="title" idx="14" hasCustomPrompt="1"/>
          </p:nvPr>
        </p:nvSpPr>
        <p:spPr>
          <a:xfrm>
            <a:off x="342582" y="1916800"/>
            <a:ext cx="764100" cy="310500"/>
          </a:xfrm>
          <a:prstGeom prst="rect">
            <a:avLst/>
          </a:prstGeom>
        </p:spPr>
        <p:txBody>
          <a:bodyPr spcFirstLastPara="1" wrap="square" lIns="91425" tIns="91425" rIns="91425" bIns="91425" anchor="ctr" anchorCtr="0">
            <a:noAutofit/>
          </a:bodyPr>
          <a:lstStyle>
            <a:lvl1pPr lvl="0" algn="ctr">
              <a:spcBef>
                <a:spcPts val="0"/>
              </a:spcBef>
              <a:spcAft>
                <a:spcPts val="0"/>
              </a:spcAft>
              <a:buSzPts val="3000"/>
              <a:buNone/>
              <a:defRPr sz="27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1" name="Google Shape;91;p13"/>
          <p:cNvSpPr txBox="1">
            <a:spLocks noGrp="1"/>
          </p:cNvSpPr>
          <p:nvPr>
            <p:ph type="title" idx="15" hasCustomPrompt="1"/>
          </p:nvPr>
        </p:nvSpPr>
        <p:spPr>
          <a:xfrm>
            <a:off x="341850" y="3205200"/>
            <a:ext cx="765300" cy="310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000"/>
              <a:buNone/>
              <a:defRPr sz="2700">
                <a:solidFill>
                  <a:schemeClr val="dk2"/>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92" name="Google Shape;92;p13"/>
          <p:cNvSpPr txBox="1">
            <a:spLocks noGrp="1"/>
          </p:cNvSpPr>
          <p:nvPr>
            <p:ph type="title" idx="16" hasCustomPrompt="1"/>
          </p:nvPr>
        </p:nvSpPr>
        <p:spPr>
          <a:xfrm>
            <a:off x="3985789" y="2561048"/>
            <a:ext cx="865800" cy="31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27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3" name="Google Shape;93;p13"/>
          <p:cNvSpPr txBox="1">
            <a:spLocks noGrp="1"/>
          </p:cNvSpPr>
          <p:nvPr>
            <p:ph type="title" idx="17" hasCustomPrompt="1"/>
          </p:nvPr>
        </p:nvSpPr>
        <p:spPr>
          <a:xfrm>
            <a:off x="3985787" y="3205296"/>
            <a:ext cx="865800" cy="31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27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4" name="Google Shape;94;p13"/>
          <p:cNvSpPr txBox="1">
            <a:spLocks noGrp="1"/>
          </p:cNvSpPr>
          <p:nvPr>
            <p:ph type="title" idx="18" hasCustomPrompt="1"/>
          </p:nvPr>
        </p:nvSpPr>
        <p:spPr>
          <a:xfrm>
            <a:off x="3985789" y="3849544"/>
            <a:ext cx="865800" cy="31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27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5" name="Google Shape;95;p13"/>
          <p:cNvSpPr txBox="1">
            <a:spLocks noGrp="1"/>
          </p:cNvSpPr>
          <p:nvPr>
            <p:ph type="title" idx="19" hasCustomPrompt="1"/>
          </p:nvPr>
        </p:nvSpPr>
        <p:spPr>
          <a:xfrm>
            <a:off x="3985789" y="1916800"/>
            <a:ext cx="865800" cy="310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000"/>
              <a:buNone/>
              <a:defRPr sz="2700">
                <a:solidFill>
                  <a:schemeClr val="dk2"/>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pic>
        <p:nvPicPr>
          <p:cNvPr id="96" name="Google Shape;96;p13"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97"/>
        <p:cNvGrpSpPr/>
        <p:nvPr/>
      </p:nvGrpSpPr>
      <p:grpSpPr>
        <a:xfrm>
          <a:off x="0" y="0"/>
          <a:ext cx="0" cy="0"/>
          <a:chOff x="0" y="0"/>
          <a:chExt cx="0" cy="0"/>
        </a:xfrm>
      </p:grpSpPr>
      <p:pic>
        <p:nvPicPr>
          <p:cNvPr id="98" name="Google Shape;98;p14"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99" name="Google Shape;99;p14"/>
          <p:cNvSpPr txBox="1">
            <a:spLocks noGrp="1"/>
          </p:cNvSpPr>
          <p:nvPr>
            <p:ph type="title"/>
          </p:nvPr>
        </p:nvSpPr>
        <p:spPr>
          <a:xfrm>
            <a:off x="679225" y="794675"/>
            <a:ext cx="7866600" cy="698400"/>
          </a:xfrm>
          <a:prstGeom prst="rect">
            <a:avLst/>
          </a:prstGeom>
          <a:ln>
            <a:noFill/>
          </a:ln>
        </p:spPr>
        <p:txBody>
          <a:bodyPr spcFirstLastPara="1" wrap="square" lIns="91425" tIns="91425" rIns="91425" bIns="91425" anchor="t" anchorCtr="0">
            <a:noAutofit/>
          </a:bodyPr>
          <a:lstStyle>
            <a:lvl1pPr lvl="0" algn="l">
              <a:spcBef>
                <a:spcPts val="0"/>
              </a:spcBef>
              <a:spcAft>
                <a:spcPts val="0"/>
              </a:spcAft>
              <a:buSzPts val="3200"/>
              <a:buNone/>
              <a:defRPr sz="4000"/>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100" name="Google Shape;100;p14"/>
          <p:cNvSpPr txBox="1">
            <a:spLocks noGrp="1"/>
          </p:cNvSpPr>
          <p:nvPr>
            <p:ph type="subTitle" idx="1"/>
          </p:nvPr>
        </p:nvSpPr>
        <p:spPr>
          <a:xfrm>
            <a:off x="1522850" y="1816950"/>
            <a:ext cx="6918600" cy="25389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01" name="Google Shape;101;p14"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1">
  <p:cSld name="ONE_COLUMN_TEXT_1">
    <p:spTree>
      <p:nvGrpSpPr>
        <p:cNvPr id="1" name="Shape 102"/>
        <p:cNvGrpSpPr/>
        <p:nvPr/>
      </p:nvGrpSpPr>
      <p:grpSpPr>
        <a:xfrm>
          <a:off x="0" y="0"/>
          <a:ext cx="0" cy="0"/>
          <a:chOff x="0" y="0"/>
          <a:chExt cx="0" cy="0"/>
        </a:xfrm>
      </p:grpSpPr>
      <p:pic>
        <p:nvPicPr>
          <p:cNvPr id="103" name="Google Shape;103;p15"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104" name="Google Shape;104;p15"/>
          <p:cNvSpPr txBox="1">
            <a:spLocks noGrp="1"/>
          </p:cNvSpPr>
          <p:nvPr>
            <p:ph type="title"/>
          </p:nvPr>
        </p:nvSpPr>
        <p:spPr>
          <a:xfrm>
            <a:off x="3789425" y="795800"/>
            <a:ext cx="4547700" cy="1255500"/>
          </a:xfrm>
          <a:prstGeom prst="rect">
            <a:avLst/>
          </a:prstGeom>
          <a:ln>
            <a:noFill/>
          </a:ln>
        </p:spPr>
        <p:txBody>
          <a:bodyPr spcFirstLastPara="1" wrap="square" lIns="91425" tIns="91425" rIns="91425" bIns="91425" anchor="t" anchorCtr="0">
            <a:noAutofit/>
          </a:bodyPr>
          <a:lstStyle>
            <a:lvl1pPr lvl="0">
              <a:lnSpc>
                <a:spcPct val="80000"/>
              </a:lnSpc>
              <a:spcBef>
                <a:spcPts val="0"/>
              </a:spcBef>
              <a:spcAft>
                <a:spcPts val="0"/>
              </a:spcAft>
              <a:buSzPts val="26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105" name="Google Shape;105;p15"/>
          <p:cNvSpPr txBox="1">
            <a:spLocks noGrp="1"/>
          </p:cNvSpPr>
          <p:nvPr>
            <p:ph type="body" idx="1"/>
          </p:nvPr>
        </p:nvSpPr>
        <p:spPr>
          <a:xfrm>
            <a:off x="3789425" y="2229300"/>
            <a:ext cx="4940100" cy="2532600"/>
          </a:xfrm>
          <a:prstGeom prst="rect">
            <a:avLst/>
          </a:prstGeom>
        </p:spPr>
        <p:txBody>
          <a:bodyPr spcFirstLastPara="1" wrap="square" lIns="91425" tIns="91425" rIns="91425" bIns="91425" anchor="t" anchorCtr="0">
            <a:noAutofit/>
          </a:bodyPr>
          <a:lstStyle>
            <a:lvl1pPr marL="457200" lvl="0" indent="-317500">
              <a:lnSpc>
                <a:spcPct val="100000"/>
              </a:lnSpc>
              <a:spcBef>
                <a:spcPts val="0"/>
              </a:spcBef>
              <a:spcAft>
                <a:spcPts val="0"/>
              </a:spcAft>
              <a:buSzPts val="1400"/>
              <a:buChar char="●"/>
              <a:defRPr sz="1400"/>
            </a:lvl1pPr>
            <a:lvl2pPr marL="914400" lvl="1" indent="-317500">
              <a:lnSpc>
                <a:spcPct val="115000"/>
              </a:lnSpc>
              <a:spcBef>
                <a:spcPts val="0"/>
              </a:spcBef>
              <a:spcAft>
                <a:spcPts val="0"/>
              </a:spcAft>
              <a:buSzPts val="1400"/>
              <a:buChar char="○"/>
              <a:defRPr/>
            </a:lvl2pPr>
            <a:lvl3pPr marL="1371600" lvl="2" indent="-317500">
              <a:lnSpc>
                <a:spcPct val="115000"/>
              </a:lnSpc>
              <a:spcBef>
                <a:spcPts val="0"/>
              </a:spcBef>
              <a:spcAft>
                <a:spcPts val="0"/>
              </a:spcAft>
              <a:buSzPts val="1400"/>
              <a:buChar char="■"/>
              <a:defRPr/>
            </a:lvl3pPr>
            <a:lvl4pPr marL="1828800" lvl="3" indent="-317500">
              <a:lnSpc>
                <a:spcPct val="115000"/>
              </a:lnSpc>
              <a:spcBef>
                <a:spcPts val="0"/>
              </a:spcBef>
              <a:spcAft>
                <a:spcPts val="0"/>
              </a:spcAft>
              <a:buSzPts val="1400"/>
              <a:buChar char="●"/>
              <a:defRPr/>
            </a:lvl4pPr>
            <a:lvl5pPr marL="2286000" lvl="4" indent="-317500">
              <a:lnSpc>
                <a:spcPct val="115000"/>
              </a:lnSpc>
              <a:spcBef>
                <a:spcPts val="0"/>
              </a:spcBef>
              <a:spcAft>
                <a:spcPts val="0"/>
              </a:spcAft>
              <a:buSzPts val="1400"/>
              <a:buChar char="○"/>
              <a:defRPr/>
            </a:lvl5pPr>
            <a:lvl6pPr marL="2743200" lvl="5" indent="-317500">
              <a:lnSpc>
                <a:spcPct val="115000"/>
              </a:lnSpc>
              <a:spcBef>
                <a:spcPts val="0"/>
              </a:spcBef>
              <a:spcAft>
                <a:spcPts val="0"/>
              </a:spcAft>
              <a:buSzPts val="1400"/>
              <a:buChar char="■"/>
              <a:defRPr/>
            </a:lvl6pPr>
            <a:lvl7pPr marL="3200400" lvl="6" indent="-317500">
              <a:lnSpc>
                <a:spcPct val="115000"/>
              </a:lnSpc>
              <a:spcBef>
                <a:spcPts val="0"/>
              </a:spcBef>
              <a:spcAft>
                <a:spcPts val="0"/>
              </a:spcAft>
              <a:buSzPts val="1400"/>
              <a:buChar char="●"/>
              <a:defRPr/>
            </a:lvl7pPr>
            <a:lvl8pPr marL="3657600" lvl="7" indent="-317500">
              <a:lnSpc>
                <a:spcPct val="115000"/>
              </a:lnSpc>
              <a:spcBef>
                <a:spcPts val="0"/>
              </a:spcBef>
              <a:spcAft>
                <a:spcPts val="0"/>
              </a:spcAft>
              <a:buSzPts val="1400"/>
              <a:buChar char="○"/>
              <a:defRPr/>
            </a:lvl8pPr>
            <a:lvl9pPr marL="4114800" lvl="8" indent="-317500">
              <a:lnSpc>
                <a:spcPct val="115000"/>
              </a:lnSpc>
              <a:spcBef>
                <a:spcPts val="0"/>
              </a:spcBef>
              <a:spcAft>
                <a:spcPts val="0"/>
              </a:spcAft>
              <a:buSzPts val="1400"/>
              <a:buChar char="■"/>
              <a:defRPr/>
            </a:lvl9pPr>
          </a:lstStyle>
          <a:p>
            <a:endParaRPr/>
          </a:p>
        </p:txBody>
      </p:sp>
      <p:sp>
        <p:nvSpPr>
          <p:cNvPr id="106" name="Google Shape;106;p15"/>
          <p:cNvSpPr>
            <a:spLocks noGrp="1"/>
          </p:cNvSpPr>
          <p:nvPr>
            <p:ph type="pic" idx="2"/>
          </p:nvPr>
        </p:nvSpPr>
        <p:spPr>
          <a:xfrm>
            <a:off x="522525" y="1195150"/>
            <a:ext cx="2947200" cy="3341400"/>
          </a:xfrm>
          <a:prstGeom prst="rect">
            <a:avLst/>
          </a:prstGeom>
          <a:noFill/>
          <a:ln w="9525" cap="flat" cmpd="sng">
            <a:solidFill>
              <a:schemeClr val="dk2"/>
            </a:solidFill>
            <a:prstDash val="solid"/>
            <a:round/>
            <a:headEnd type="none" w="sm" len="sm"/>
            <a:tailEnd type="none" w="sm" len="sm"/>
          </a:ln>
        </p:spPr>
      </p:sp>
      <p:pic>
        <p:nvPicPr>
          <p:cNvPr id="107" name="Google Shape;107;p15"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08"/>
        <p:cNvGrpSpPr/>
        <p:nvPr/>
      </p:nvGrpSpPr>
      <p:grpSpPr>
        <a:xfrm>
          <a:off x="0" y="0"/>
          <a:ext cx="0" cy="0"/>
          <a:chOff x="0" y="0"/>
          <a:chExt cx="0" cy="0"/>
        </a:xfrm>
      </p:grpSpPr>
      <p:pic>
        <p:nvPicPr>
          <p:cNvPr id="109" name="Google Shape;109;p16"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110" name="Google Shape;110;p16"/>
          <p:cNvSpPr txBox="1">
            <a:spLocks noGrp="1"/>
          </p:cNvSpPr>
          <p:nvPr>
            <p:ph type="title"/>
          </p:nvPr>
        </p:nvSpPr>
        <p:spPr>
          <a:xfrm>
            <a:off x="341850" y="689750"/>
            <a:ext cx="8460300" cy="572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pic>
        <p:nvPicPr>
          <p:cNvPr id="111" name="Google Shape;111;p16"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112"/>
        <p:cNvGrpSpPr/>
        <p:nvPr/>
      </p:nvGrpSpPr>
      <p:grpSpPr>
        <a:xfrm>
          <a:off x="0" y="0"/>
          <a:ext cx="0" cy="0"/>
          <a:chOff x="0" y="0"/>
          <a:chExt cx="0" cy="0"/>
        </a:xfrm>
      </p:grpSpPr>
      <p:grpSp>
        <p:nvGrpSpPr>
          <p:cNvPr id="113" name="Google Shape;113;p17"/>
          <p:cNvGrpSpPr/>
          <p:nvPr/>
        </p:nvGrpSpPr>
        <p:grpSpPr>
          <a:xfrm>
            <a:off x="84988" y="78599"/>
            <a:ext cx="8974027" cy="4925051"/>
            <a:chOff x="84988" y="78599"/>
            <a:chExt cx="8974027" cy="4925051"/>
          </a:xfrm>
        </p:grpSpPr>
        <p:pic>
          <p:nvPicPr>
            <p:cNvPr id="114" name="Google Shape;114;p17"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115" name="Google Shape;115;p17"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116" name="Google Shape;116;p17"/>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2600"/>
              <a:buNone/>
              <a:defRPr sz="260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127"/>
        <p:cNvGrpSpPr/>
        <p:nvPr/>
      </p:nvGrpSpPr>
      <p:grpSpPr>
        <a:xfrm>
          <a:off x="0" y="0"/>
          <a:ext cx="0" cy="0"/>
          <a:chOff x="0" y="0"/>
          <a:chExt cx="0" cy="0"/>
        </a:xfrm>
      </p:grpSpPr>
      <p:pic>
        <p:nvPicPr>
          <p:cNvPr id="128" name="Google Shape;128;p19"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129" name="Google Shape;129;p19"/>
          <p:cNvSpPr txBox="1">
            <a:spLocks noGrp="1"/>
          </p:cNvSpPr>
          <p:nvPr>
            <p:ph type="subTitle" idx="1"/>
          </p:nvPr>
        </p:nvSpPr>
        <p:spPr>
          <a:xfrm>
            <a:off x="330950" y="1987918"/>
            <a:ext cx="25794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0" name="Google Shape;130;p19"/>
          <p:cNvSpPr txBox="1">
            <a:spLocks noGrp="1"/>
          </p:cNvSpPr>
          <p:nvPr>
            <p:ph type="subTitle" idx="2"/>
          </p:nvPr>
        </p:nvSpPr>
        <p:spPr>
          <a:xfrm>
            <a:off x="3225884" y="1987918"/>
            <a:ext cx="25794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1" name="Google Shape;131;p19"/>
          <p:cNvSpPr txBox="1">
            <a:spLocks noGrp="1"/>
          </p:cNvSpPr>
          <p:nvPr>
            <p:ph type="subTitle" idx="3"/>
          </p:nvPr>
        </p:nvSpPr>
        <p:spPr>
          <a:xfrm>
            <a:off x="330950" y="3392225"/>
            <a:ext cx="25794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2" name="Google Shape;132;p19"/>
          <p:cNvSpPr txBox="1">
            <a:spLocks noGrp="1"/>
          </p:cNvSpPr>
          <p:nvPr>
            <p:ph type="subTitle" idx="4"/>
          </p:nvPr>
        </p:nvSpPr>
        <p:spPr>
          <a:xfrm>
            <a:off x="3225884" y="3392225"/>
            <a:ext cx="25794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3" name="Google Shape;133;p19"/>
          <p:cNvSpPr txBox="1">
            <a:spLocks noGrp="1"/>
          </p:cNvSpPr>
          <p:nvPr>
            <p:ph type="subTitle" idx="5"/>
          </p:nvPr>
        </p:nvSpPr>
        <p:spPr>
          <a:xfrm>
            <a:off x="6120825" y="1987918"/>
            <a:ext cx="25794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4" name="Google Shape;134;p19"/>
          <p:cNvSpPr txBox="1">
            <a:spLocks noGrp="1"/>
          </p:cNvSpPr>
          <p:nvPr>
            <p:ph type="subTitle" idx="6"/>
          </p:nvPr>
        </p:nvSpPr>
        <p:spPr>
          <a:xfrm>
            <a:off x="6120825" y="3392225"/>
            <a:ext cx="25794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5" name="Google Shape;135;p19"/>
          <p:cNvSpPr txBox="1">
            <a:spLocks noGrp="1"/>
          </p:cNvSpPr>
          <p:nvPr>
            <p:ph type="title"/>
          </p:nvPr>
        </p:nvSpPr>
        <p:spPr>
          <a:xfrm>
            <a:off x="341850" y="654800"/>
            <a:ext cx="7704000" cy="60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36" name="Google Shape;136;p19"/>
          <p:cNvSpPr txBox="1">
            <a:spLocks noGrp="1"/>
          </p:cNvSpPr>
          <p:nvPr>
            <p:ph type="title" idx="7" hasCustomPrompt="1"/>
          </p:nvPr>
        </p:nvSpPr>
        <p:spPr>
          <a:xfrm>
            <a:off x="6132612" y="3071476"/>
            <a:ext cx="2574600" cy="3108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23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7" name="Google Shape;137;p19"/>
          <p:cNvSpPr txBox="1">
            <a:spLocks noGrp="1"/>
          </p:cNvSpPr>
          <p:nvPr>
            <p:ph type="title" idx="8" hasCustomPrompt="1"/>
          </p:nvPr>
        </p:nvSpPr>
        <p:spPr>
          <a:xfrm>
            <a:off x="6132612" y="1677125"/>
            <a:ext cx="2574600" cy="3108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23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8" name="Google Shape;138;p19"/>
          <p:cNvSpPr txBox="1">
            <a:spLocks noGrp="1"/>
          </p:cNvSpPr>
          <p:nvPr>
            <p:ph type="title" idx="9" hasCustomPrompt="1"/>
          </p:nvPr>
        </p:nvSpPr>
        <p:spPr>
          <a:xfrm>
            <a:off x="3239948" y="1677425"/>
            <a:ext cx="2574600" cy="3105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23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39" name="Google Shape;139;p19"/>
          <p:cNvSpPr txBox="1">
            <a:spLocks noGrp="1"/>
          </p:cNvSpPr>
          <p:nvPr>
            <p:ph type="title" idx="13" hasCustomPrompt="1"/>
          </p:nvPr>
        </p:nvSpPr>
        <p:spPr>
          <a:xfrm>
            <a:off x="3237714" y="3071476"/>
            <a:ext cx="2579400" cy="3108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23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140" name="Google Shape;140;p19"/>
          <p:cNvSpPr txBox="1">
            <a:spLocks noGrp="1"/>
          </p:cNvSpPr>
          <p:nvPr>
            <p:ph type="title" idx="14" hasCustomPrompt="1"/>
          </p:nvPr>
        </p:nvSpPr>
        <p:spPr>
          <a:xfrm>
            <a:off x="342736" y="1677125"/>
            <a:ext cx="2579400" cy="3108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23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1" name="Google Shape;141;p19"/>
          <p:cNvSpPr txBox="1">
            <a:spLocks noGrp="1"/>
          </p:cNvSpPr>
          <p:nvPr>
            <p:ph type="title" idx="15" hasCustomPrompt="1"/>
          </p:nvPr>
        </p:nvSpPr>
        <p:spPr>
          <a:xfrm>
            <a:off x="342736" y="3071476"/>
            <a:ext cx="2579400" cy="3108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23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pic>
        <p:nvPicPr>
          <p:cNvPr id="142" name="Google Shape;142;p19"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59"/>
        <p:cNvGrpSpPr/>
        <p:nvPr/>
      </p:nvGrpSpPr>
      <p:grpSpPr>
        <a:xfrm>
          <a:off x="0" y="0"/>
          <a:ext cx="0" cy="0"/>
          <a:chOff x="0" y="0"/>
          <a:chExt cx="0" cy="0"/>
        </a:xfrm>
      </p:grpSpPr>
      <p:grpSp>
        <p:nvGrpSpPr>
          <p:cNvPr id="160" name="Google Shape;160;p22"/>
          <p:cNvGrpSpPr/>
          <p:nvPr/>
        </p:nvGrpSpPr>
        <p:grpSpPr>
          <a:xfrm>
            <a:off x="84988" y="78599"/>
            <a:ext cx="8974027" cy="4925051"/>
            <a:chOff x="84988" y="78599"/>
            <a:chExt cx="8974027" cy="4925051"/>
          </a:xfrm>
        </p:grpSpPr>
        <p:pic>
          <p:nvPicPr>
            <p:cNvPr id="161" name="Google Shape;161;p22"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162" name="Google Shape;162;p22"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63"/>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17"/>
        <p:cNvGrpSpPr/>
        <p:nvPr/>
      </p:nvGrpSpPr>
      <p:grpSpPr>
        <a:xfrm>
          <a:off x="0" y="0"/>
          <a:ext cx="0" cy="0"/>
          <a:chOff x="0" y="0"/>
          <a:chExt cx="0" cy="0"/>
        </a:xfrm>
      </p:grpSpPr>
      <p:pic>
        <p:nvPicPr>
          <p:cNvPr id="118" name="Google Shape;118;p18"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119" name="Google Shape;119;p18"/>
          <p:cNvSpPr txBox="1">
            <a:spLocks noGrp="1"/>
          </p:cNvSpPr>
          <p:nvPr>
            <p:ph type="subTitle" idx="1"/>
          </p:nvPr>
        </p:nvSpPr>
        <p:spPr>
          <a:xfrm>
            <a:off x="3145041" y="2118945"/>
            <a:ext cx="2599200" cy="2010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0" name="Google Shape;120;p18"/>
          <p:cNvSpPr txBox="1">
            <a:spLocks noGrp="1"/>
          </p:cNvSpPr>
          <p:nvPr>
            <p:ph type="subTitle" idx="2"/>
          </p:nvPr>
        </p:nvSpPr>
        <p:spPr>
          <a:xfrm>
            <a:off x="341850" y="2118945"/>
            <a:ext cx="2599200" cy="2010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1" name="Google Shape;121;p18"/>
          <p:cNvSpPr txBox="1">
            <a:spLocks noGrp="1"/>
          </p:cNvSpPr>
          <p:nvPr>
            <p:ph type="subTitle" idx="3"/>
          </p:nvPr>
        </p:nvSpPr>
        <p:spPr>
          <a:xfrm>
            <a:off x="5948257" y="2118945"/>
            <a:ext cx="2599200" cy="2010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2" name="Google Shape;122;p18"/>
          <p:cNvSpPr txBox="1">
            <a:spLocks noGrp="1"/>
          </p:cNvSpPr>
          <p:nvPr>
            <p:ph type="title" hasCustomPrompt="1"/>
          </p:nvPr>
        </p:nvSpPr>
        <p:spPr>
          <a:xfrm>
            <a:off x="3144432" y="1706300"/>
            <a:ext cx="698700" cy="3108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23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23" name="Google Shape;123;p18"/>
          <p:cNvSpPr txBox="1">
            <a:spLocks noGrp="1"/>
          </p:cNvSpPr>
          <p:nvPr>
            <p:ph type="title" idx="4" hasCustomPrompt="1"/>
          </p:nvPr>
        </p:nvSpPr>
        <p:spPr>
          <a:xfrm>
            <a:off x="341854" y="1706450"/>
            <a:ext cx="697500" cy="3105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23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24" name="Google Shape;124;p18"/>
          <p:cNvSpPr txBox="1">
            <a:spLocks noGrp="1"/>
          </p:cNvSpPr>
          <p:nvPr>
            <p:ph type="title" idx="5" hasCustomPrompt="1"/>
          </p:nvPr>
        </p:nvSpPr>
        <p:spPr>
          <a:xfrm>
            <a:off x="5948295" y="1706300"/>
            <a:ext cx="698700" cy="3108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2300">
                <a:solidFill>
                  <a:schemeClr val="dk2"/>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125" name="Google Shape;125;p18"/>
          <p:cNvSpPr txBox="1">
            <a:spLocks noGrp="1"/>
          </p:cNvSpPr>
          <p:nvPr>
            <p:ph type="title" idx="6"/>
          </p:nvPr>
        </p:nvSpPr>
        <p:spPr>
          <a:xfrm>
            <a:off x="341850" y="654800"/>
            <a:ext cx="8249700" cy="602700"/>
          </a:xfrm>
          <a:prstGeom prst="rect">
            <a:avLst/>
          </a:prstGeom>
          <a:ln>
            <a:noFill/>
          </a:ln>
        </p:spPr>
        <p:txBody>
          <a:bodyPr spcFirstLastPara="1" wrap="square" lIns="91425" tIns="91425" rIns="91425" bIns="91425" anchor="t" anchorCtr="0">
            <a:noAutofit/>
          </a:bodyPr>
          <a:lstStyle>
            <a:lvl1pPr lvl="0">
              <a:spcBef>
                <a:spcPts val="0"/>
              </a:spcBef>
              <a:spcAft>
                <a:spcPts val="0"/>
              </a:spcAft>
              <a:buSzPts val="26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pic>
        <p:nvPicPr>
          <p:cNvPr id="126" name="Google Shape;126;p18"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extLst>
      <p:ext uri="{BB962C8B-B14F-4D97-AF65-F5344CB8AC3E}">
        <p14:creationId xmlns:p14="http://schemas.microsoft.com/office/powerpoint/2010/main" val="1581333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1pPr>
            <a:lvl2pPr lvl="1"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2pPr>
            <a:lvl3pPr lvl="2"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3pPr>
            <a:lvl4pPr lvl="3"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4pPr>
            <a:lvl5pPr lvl="4"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5pPr>
            <a:lvl6pPr lvl="5"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6pPr>
            <a:lvl7pPr lvl="6"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7pPr>
            <a:lvl8pPr lvl="7"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8pPr>
            <a:lvl9pPr lvl="8"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1pPr>
            <a:lvl2pPr marL="914400" lvl="1" indent="-3175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2pPr>
            <a:lvl3pPr marL="1371600" lvl="2" indent="-3175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3pPr>
            <a:lvl4pPr marL="1828800" lvl="3" indent="-3175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4pPr>
            <a:lvl5pPr marL="2286000" lvl="4" indent="-3175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5pPr>
            <a:lvl6pPr marL="2743200" lvl="5" indent="-3175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6pPr>
            <a:lvl7pPr marL="3200400" lvl="6" indent="-3175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7pPr>
            <a:lvl8pPr marL="3657600" lvl="7" indent="-3175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8pPr>
            <a:lvl9pPr marL="4114800" lvl="8" indent="-3175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5" r:id="rId15"/>
    <p:sldLayoutId id="2147483668" r:id="rId16"/>
    <p:sldLayoutId id="2147483669" r:id="rId17"/>
    <p:sldLayoutId id="2147483674"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jp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hyperlink" Target="https://w3techs.com/technologies/overview/web_server" TargetMode="Externa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1.jpe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8" Type="http://schemas.openxmlformats.org/officeDocument/2006/relationships/hyperlink" Target="https://www.usenix.org/system/files/sec22summer_li-song.pdf" TargetMode="External"/><Relationship Id="rId3" Type="http://schemas.openxmlformats.org/officeDocument/2006/relationships/hyperlink" Target="https://www.sosp.org/2001/papers/welsh.pdf" TargetMode="External"/><Relationship Id="rId7" Type="http://schemas.openxmlformats.org/officeDocument/2006/relationships/hyperlink" Target="https://www.usenix.org/system/files/raid20-koishybayev.pdf" TargetMode="External"/><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hyperlink" Target="https://www.mdpi.com/2079-9292/11/19/3217" TargetMode="External"/><Relationship Id="rId5" Type="http://schemas.openxmlformats.org/officeDocument/2006/relationships/hyperlink" Target="https://www.usenix.org/legacy/event/usenix99/full_papers/pai/pai.pdf" TargetMode="External"/><Relationship Id="rId10" Type="http://schemas.openxmlformats.org/officeDocument/2006/relationships/image" Target="../media/image8.png"/><Relationship Id="rId4" Type="http://schemas.openxmlformats.org/officeDocument/2006/relationships/hyperlink" Target="http://bantha.org/~jcondit/threads-hotos-2003.pdf" TargetMode="External"/><Relationship Id="rId9"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3.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80" name="Google Shape;180;p28"/>
          <p:cNvSpPr txBox="1">
            <a:spLocks noGrp="1"/>
          </p:cNvSpPr>
          <p:nvPr>
            <p:ph type="ctrTitle"/>
          </p:nvPr>
        </p:nvSpPr>
        <p:spPr>
          <a:xfrm>
            <a:off x="606800" y="1470100"/>
            <a:ext cx="5312338" cy="246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5400" dirty="0"/>
              <a:t>Node.js as a Unix-based Application:</a:t>
            </a:r>
            <a:endParaRPr sz="5400" dirty="0"/>
          </a:p>
        </p:txBody>
      </p:sp>
      <p:sp>
        <p:nvSpPr>
          <p:cNvPr id="181" name="Google Shape;181;p28"/>
          <p:cNvSpPr txBox="1">
            <a:spLocks noGrp="1"/>
          </p:cNvSpPr>
          <p:nvPr>
            <p:ph type="subTitle" idx="1"/>
          </p:nvPr>
        </p:nvSpPr>
        <p:spPr>
          <a:xfrm>
            <a:off x="606800" y="2687500"/>
            <a:ext cx="7862188" cy="18804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sz="1600" dirty="0"/>
          </a:p>
          <a:p>
            <a:pPr marL="0" lvl="0" indent="0" algn="l" rtl="0">
              <a:spcBef>
                <a:spcPts val="0"/>
              </a:spcBef>
              <a:spcAft>
                <a:spcPts val="0"/>
              </a:spcAft>
              <a:buNone/>
            </a:pPr>
            <a:r>
              <a:rPr lang="en-US" dirty="0"/>
              <a:t>Abstract: </a:t>
            </a:r>
            <a:r>
              <a:rPr lang="en-US" sz="1200" b="1" dirty="0"/>
              <a:t>Node.js </a:t>
            </a:r>
            <a:r>
              <a:rPr lang="en-US" sz="1200" dirty="0"/>
              <a:t>— a Unix-focused, event-driven runtime built on V8 and </a:t>
            </a:r>
            <a:r>
              <a:rPr lang="en-US" sz="1200" dirty="0" err="1"/>
              <a:t>libuv</a:t>
            </a:r>
            <a:r>
              <a:rPr lang="en-US" sz="1200" dirty="0"/>
              <a:t>—uses non-blocking I/O and OS-level primitives (</a:t>
            </a:r>
            <a:r>
              <a:rPr lang="en-US" sz="1200" dirty="0" err="1"/>
              <a:t>epoll</a:t>
            </a:r>
            <a:r>
              <a:rPr lang="en-US" sz="1200" dirty="0"/>
              <a:t>/</a:t>
            </a:r>
            <a:r>
              <a:rPr lang="en-US" sz="1200" dirty="0" err="1"/>
              <a:t>kqueue</a:t>
            </a:r>
            <a:r>
              <a:rPr lang="en-US" sz="1200" dirty="0"/>
              <a:t>) to sustain high concurrency with low resource cost. This report analyzes its </a:t>
            </a:r>
            <a:r>
              <a:rPr lang="en-US" sz="1200" i="1" dirty="0"/>
              <a:t>architectural foundations, performance behavior</a:t>
            </a:r>
            <a:r>
              <a:rPr lang="en-US" sz="1200" dirty="0"/>
              <a:t> as documented in peer-reviewed systems research, and </a:t>
            </a:r>
            <a:r>
              <a:rPr lang="en-US" sz="1200" i="1" dirty="0"/>
              <a:t>security posture </a:t>
            </a:r>
            <a:r>
              <a:rPr lang="en-US" sz="1200" dirty="0"/>
              <a:t>shaped by modern vulnerability studies. It also highlights </a:t>
            </a:r>
            <a:r>
              <a:rPr lang="en-US" sz="1200" i="1" dirty="0"/>
              <a:t>key limitations</a:t>
            </a:r>
            <a:r>
              <a:rPr lang="en-US" sz="1200" dirty="0"/>
              <a:t>, including </a:t>
            </a:r>
            <a:r>
              <a:rPr lang="en-US" sz="1200" i="1" dirty="0"/>
              <a:t>CPU-bound stalls </a:t>
            </a:r>
            <a:r>
              <a:rPr lang="en-US" sz="1200" dirty="0"/>
              <a:t>and </a:t>
            </a:r>
            <a:r>
              <a:rPr lang="en-US" sz="1200" i="1" dirty="0"/>
              <a:t>module-system complexity</a:t>
            </a:r>
            <a:r>
              <a:rPr lang="en-US" sz="1200" dirty="0"/>
              <a:t>, and outlines future directions amid </a:t>
            </a:r>
            <a:r>
              <a:rPr lang="en-US" sz="1200" i="1" dirty="0"/>
              <a:t>emerging runtimes </a:t>
            </a:r>
            <a:r>
              <a:rPr lang="en-US" sz="1200" dirty="0"/>
              <a:t>such as </a:t>
            </a:r>
            <a:r>
              <a:rPr lang="en-US" sz="1200" i="1" dirty="0" err="1"/>
              <a:t>Deno</a:t>
            </a:r>
            <a:r>
              <a:rPr lang="en-US" sz="1200" i="1" dirty="0"/>
              <a:t> and Bun</a:t>
            </a:r>
            <a:r>
              <a:rPr lang="en-US" sz="1200" dirty="0"/>
              <a:t>.</a:t>
            </a:r>
            <a:endParaRPr sz="1200" dirty="0"/>
          </a:p>
        </p:txBody>
      </p:sp>
      <p:sp>
        <p:nvSpPr>
          <p:cNvPr id="182" name="Google Shape;182;p28"/>
          <p:cNvSpPr txBox="1"/>
          <p:nvPr/>
        </p:nvSpPr>
        <p:spPr>
          <a:xfrm>
            <a:off x="435854" y="205291"/>
            <a:ext cx="4475400" cy="265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600" dirty="0">
                <a:solidFill>
                  <a:schemeClr val="bg1">
                    <a:lumMod val="10000"/>
                  </a:schemeClr>
                </a:solidFill>
                <a:latin typeface="VT323"/>
                <a:ea typeface="VT323"/>
                <a:cs typeface="VT323"/>
                <a:sym typeface="VT323"/>
              </a:rPr>
              <a:t>Nikita Niakhai/</a:t>
            </a:r>
            <a:r>
              <a:rPr lang="en-US" sz="1600" dirty="0">
                <a:solidFill>
                  <a:schemeClr val="bg1">
                    <a:lumMod val="10000"/>
                  </a:schemeClr>
                </a:solidFill>
                <a:latin typeface="VT323"/>
                <a:ea typeface="VT323"/>
                <a:cs typeface="VT323"/>
                <a:sym typeface="VT323"/>
              </a:rPr>
              <a:t>M25-SNE-01/Unix-based Applications</a:t>
            </a:r>
            <a:endParaRPr sz="1600" dirty="0">
              <a:solidFill>
                <a:schemeClr val="bg1">
                  <a:lumMod val="10000"/>
                </a:schemeClr>
              </a:solidFill>
              <a:latin typeface="VT323"/>
              <a:ea typeface="VT323"/>
              <a:cs typeface="VT323"/>
              <a:sym typeface="VT323"/>
            </a:endParaRPr>
          </a:p>
        </p:txBody>
      </p:sp>
      <p:pic>
        <p:nvPicPr>
          <p:cNvPr id="5" name="Google Shape;249;p31">
            <a:extLst>
              <a:ext uri="{FF2B5EF4-FFF2-40B4-BE49-F238E27FC236}">
                <a16:creationId xmlns:a16="http://schemas.microsoft.com/office/drawing/2014/main" id="{9F282D3A-1A24-9D35-C63E-6D55F8DB7C71}"/>
              </a:ext>
            </a:extLst>
          </p:cNvPr>
          <p:cNvPicPr preferRelativeResize="0">
            <a:picLocks noGrp="1"/>
          </p:cNvPicPr>
          <p:nvPr>
            <p:ph type="pic" idx="2"/>
          </p:nvPr>
        </p:nvPicPr>
        <p:blipFill rotWithShape="1">
          <a:blip r:embed="rId3"/>
          <a:srcRect l="10605" t="-26263" r="10607" b="-1736"/>
          <a:stretch/>
        </p:blipFill>
        <p:spPr>
          <a:xfrm>
            <a:off x="5814925" y="1045863"/>
            <a:ext cx="2808000" cy="2304000"/>
          </a:xfrm>
          <a:prstGeom prst="rect">
            <a:avLst/>
          </a:prstGeom>
          <a:noFill/>
          <a:ln w="19050" cap="flat" cmpd="sng">
            <a:solidFill>
              <a:schemeClr val="dk2"/>
            </a:solidFill>
            <a:prstDash val="solid"/>
            <a:round/>
            <a:headEnd type="none" w="sm" len="sm"/>
            <a:tailEnd type="none" w="sm" len="sm"/>
          </a:ln>
        </p:spPr>
      </p:pic>
      <p:cxnSp>
        <p:nvCxnSpPr>
          <p:cNvPr id="9" name="Google Shape;341;p38">
            <a:extLst>
              <a:ext uri="{FF2B5EF4-FFF2-40B4-BE49-F238E27FC236}">
                <a16:creationId xmlns:a16="http://schemas.microsoft.com/office/drawing/2014/main" id="{1853150B-22F8-0AC8-A62D-44B44B1F767C}"/>
              </a:ext>
            </a:extLst>
          </p:cNvPr>
          <p:cNvCxnSpPr>
            <a:cxnSpLocks/>
          </p:cNvCxnSpPr>
          <p:nvPr/>
        </p:nvCxnSpPr>
        <p:spPr>
          <a:xfrm>
            <a:off x="697944" y="3398002"/>
            <a:ext cx="4821113" cy="0"/>
          </a:xfrm>
          <a:prstGeom prst="straightConnector1">
            <a:avLst/>
          </a:prstGeom>
          <a:noFill/>
          <a:ln w="19050" cap="flat" cmpd="sng">
            <a:solidFill>
              <a:schemeClr val="dk2"/>
            </a:solidFill>
            <a:prstDash val="solid"/>
            <a:round/>
            <a:headEnd type="none" w="med" len="med"/>
            <a:tailEnd type="none" w="med" len="med"/>
          </a:ln>
        </p:spPr>
      </p:cxnSp>
      <p:sp>
        <p:nvSpPr>
          <p:cNvPr id="2" name="TextBox 1">
            <a:extLst>
              <a:ext uri="{FF2B5EF4-FFF2-40B4-BE49-F238E27FC236}">
                <a16:creationId xmlns:a16="http://schemas.microsoft.com/office/drawing/2014/main" id="{1EEE39C2-EB74-F97D-A578-668D7CF2FB23}"/>
              </a:ext>
            </a:extLst>
          </p:cNvPr>
          <p:cNvSpPr txBox="1"/>
          <p:nvPr/>
        </p:nvSpPr>
        <p:spPr>
          <a:xfrm>
            <a:off x="652372" y="2882742"/>
            <a:ext cx="5221194" cy="523220"/>
          </a:xfrm>
          <a:prstGeom prst="rect">
            <a:avLst/>
          </a:prstGeom>
          <a:noFill/>
        </p:spPr>
        <p:txBody>
          <a:bodyPr wrap="square" rtlCol="0">
            <a:spAutoFit/>
          </a:bodyPr>
          <a:lstStyle/>
          <a:p>
            <a:r>
              <a:rPr lang="en-US" b="1" i="1" dirty="0">
                <a:latin typeface="Roboto Mono" panose="00000009000000000000" pitchFamily="49" charset="0"/>
                <a:ea typeface="Roboto Mono" panose="00000009000000000000" pitchFamily="49" charset="0"/>
              </a:rPr>
              <a:t>Evolution, Architecture, Performance, Security</a:t>
            </a:r>
          </a:p>
          <a:p>
            <a:endParaRPr lang="ru-RU" dirty="0">
              <a:latin typeface="Roboto Mono" panose="00000009000000000000" pitchFamily="49" charset="0"/>
              <a:ea typeface="Roboto Mono" panose="00000009000000000000" pitchFamily="49"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pic>
        <p:nvPicPr>
          <p:cNvPr id="249" name="Google Shape;249;p31" title="fluffy-clouds-windy-sky.jpg"/>
          <p:cNvPicPr preferRelativeResize="0">
            <a:picLocks noGrp="1"/>
          </p:cNvPicPr>
          <p:nvPr>
            <p:ph type="pic" idx="2"/>
          </p:nvPr>
        </p:nvPicPr>
        <p:blipFill rotWithShape="1">
          <a:blip r:embed="rId3">
            <a:alphaModFix/>
          </a:blip>
          <a:srcRect l="20604" r="20610"/>
          <a:stretch/>
        </p:blipFill>
        <p:spPr>
          <a:xfrm>
            <a:off x="522525" y="1195150"/>
            <a:ext cx="2947200" cy="3341428"/>
          </a:xfrm>
          <a:prstGeom prst="rect">
            <a:avLst/>
          </a:prstGeom>
        </p:spPr>
      </p:pic>
      <p:sp>
        <p:nvSpPr>
          <p:cNvPr id="250" name="Google Shape;250;p31"/>
          <p:cNvSpPr txBox="1">
            <a:spLocks noGrp="1"/>
          </p:cNvSpPr>
          <p:nvPr>
            <p:ph type="title"/>
          </p:nvPr>
        </p:nvSpPr>
        <p:spPr>
          <a:xfrm>
            <a:off x="3789425" y="795800"/>
            <a:ext cx="4547700" cy="1255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Introduction. Definition</a:t>
            </a:r>
            <a:endParaRPr dirty="0"/>
          </a:p>
        </p:txBody>
      </p:sp>
      <p:sp>
        <p:nvSpPr>
          <p:cNvPr id="251" name="Google Shape;251;p31"/>
          <p:cNvSpPr txBox="1">
            <a:spLocks noGrp="1"/>
          </p:cNvSpPr>
          <p:nvPr>
            <p:ph type="body" idx="1"/>
          </p:nvPr>
        </p:nvSpPr>
        <p:spPr>
          <a:xfrm>
            <a:off x="3789425" y="1305450"/>
            <a:ext cx="4897375" cy="192643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273D40"/>
              </a:buClr>
              <a:buSzPts val="600"/>
              <a:buFont typeface="Arial"/>
              <a:buNone/>
            </a:pPr>
            <a:r>
              <a:rPr lang="en-US" sz="1300" b="1" dirty="0">
                <a:solidFill>
                  <a:schemeClr val="dk1"/>
                </a:solidFill>
              </a:rPr>
              <a:t>N</a:t>
            </a:r>
            <a:r>
              <a:rPr lang="en" sz="1300" b="1" dirty="0"/>
              <a:t>ode.js</a:t>
            </a:r>
            <a:r>
              <a:rPr lang="en" sz="1300" b="1" dirty="0">
                <a:solidFill>
                  <a:schemeClr val="dk1"/>
                </a:solidFill>
              </a:rPr>
              <a:t> </a:t>
            </a:r>
            <a:r>
              <a:rPr lang="en" sz="1300" dirty="0">
                <a:solidFill>
                  <a:schemeClr val="dk1"/>
                </a:solidFill>
              </a:rPr>
              <a:t>– </a:t>
            </a:r>
            <a:r>
              <a:rPr lang="en-US" sz="1300" dirty="0">
                <a:solidFill>
                  <a:schemeClr val="dk1"/>
                </a:solidFill>
              </a:rPr>
              <a:t>is a free, open-source, cross-platform JavaScript runtime environment that lets developers create servers, web apps, command line tools and scripts.</a:t>
            </a:r>
            <a:endParaRPr lang="en" sz="600" dirty="0">
              <a:solidFill>
                <a:schemeClr val="dk1"/>
              </a:solidFill>
            </a:endParaRPr>
          </a:p>
          <a:p>
            <a:pPr marL="0" lvl="0" indent="0" algn="l" rtl="0">
              <a:spcBef>
                <a:spcPts val="0"/>
              </a:spcBef>
              <a:spcAft>
                <a:spcPts val="0"/>
              </a:spcAft>
              <a:buClr>
                <a:srgbClr val="273D40"/>
              </a:buClr>
              <a:buSzPts val="600"/>
              <a:buFont typeface="Arial"/>
              <a:buNone/>
            </a:pPr>
            <a:endParaRPr lang="en-US" sz="1000" i="1" dirty="0">
              <a:solidFill>
                <a:schemeClr val="dk1"/>
              </a:solidFill>
            </a:endParaRPr>
          </a:p>
          <a:p>
            <a:pPr marL="0" lvl="0" indent="0" algn="l" rtl="0">
              <a:spcBef>
                <a:spcPts val="0"/>
              </a:spcBef>
              <a:spcAft>
                <a:spcPts val="0"/>
              </a:spcAft>
              <a:buClr>
                <a:srgbClr val="273D40"/>
              </a:buClr>
              <a:buSzPts val="600"/>
              <a:buFont typeface="Arial"/>
              <a:buNone/>
            </a:pPr>
            <a:r>
              <a:rPr lang="en-US" sz="1300" i="1" dirty="0">
                <a:solidFill>
                  <a:schemeClr val="dk1"/>
                </a:solidFill>
              </a:rPr>
              <a:t>Currently </a:t>
            </a:r>
            <a:r>
              <a:rPr lang="en-US" sz="1300" b="1" i="1" dirty="0"/>
              <a:t>N</a:t>
            </a:r>
            <a:r>
              <a:rPr lang="en-US" sz="1300" b="1" i="1" dirty="0">
                <a:solidFill>
                  <a:schemeClr val="dk1"/>
                </a:solidFill>
              </a:rPr>
              <a:t>ode.js </a:t>
            </a:r>
            <a:r>
              <a:rPr lang="en-US" sz="1300" i="1" dirty="0">
                <a:solidFill>
                  <a:schemeClr val="dk1"/>
                </a:solidFill>
              </a:rPr>
              <a:t>is </a:t>
            </a:r>
            <a:r>
              <a:rPr lang="en-US" sz="1300" i="1" dirty="0"/>
              <a:t>one of the </a:t>
            </a:r>
            <a:r>
              <a:rPr lang="en-US" sz="1300" i="1" dirty="0">
                <a:solidFill>
                  <a:schemeClr val="dk1"/>
                </a:solidFill>
              </a:rPr>
              <a:t> most popular (5</a:t>
            </a:r>
            <a:r>
              <a:rPr lang="en-US" sz="1300" i="1" baseline="30000" dirty="0">
                <a:solidFill>
                  <a:schemeClr val="dk1"/>
                </a:solidFill>
              </a:rPr>
              <a:t>th</a:t>
            </a:r>
            <a:r>
              <a:rPr lang="en-US" sz="1300" i="1" dirty="0">
                <a:solidFill>
                  <a:schemeClr val="dk1"/>
                </a:solidFill>
              </a:rPr>
              <a:t> place) open source web server on the Internet.</a:t>
            </a:r>
          </a:p>
          <a:p>
            <a:pPr marL="0" lvl="0" indent="0" algn="l" rtl="0">
              <a:spcBef>
                <a:spcPts val="0"/>
              </a:spcBef>
              <a:spcAft>
                <a:spcPts val="0"/>
              </a:spcAft>
              <a:buClr>
                <a:srgbClr val="273D40"/>
              </a:buClr>
              <a:buSzPts val="600"/>
              <a:buFont typeface="Arial"/>
              <a:buNone/>
            </a:pPr>
            <a:endParaRPr lang="en-US" sz="1300" dirty="0"/>
          </a:p>
        </p:txBody>
      </p:sp>
      <p:grpSp>
        <p:nvGrpSpPr>
          <p:cNvPr id="252" name="Google Shape;252;p31"/>
          <p:cNvGrpSpPr/>
          <p:nvPr/>
        </p:nvGrpSpPr>
        <p:grpSpPr>
          <a:xfrm>
            <a:off x="511225" y="947025"/>
            <a:ext cx="2971350" cy="265500"/>
            <a:chOff x="511225" y="947025"/>
            <a:chExt cx="2971350" cy="265500"/>
          </a:xfrm>
        </p:grpSpPr>
        <p:pic>
          <p:nvPicPr>
            <p:cNvPr id="253" name="Google Shape;253;p31" title="Sin título-2.png"/>
            <p:cNvPicPr preferRelativeResize="0"/>
            <p:nvPr/>
          </p:nvPicPr>
          <p:blipFill rotWithShape="1">
            <a:blip r:embed="rId4">
              <a:alphaModFix/>
            </a:blip>
            <a:srcRect l="60127"/>
            <a:stretch/>
          </p:blipFill>
          <p:spPr>
            <a:xfrm>
              <a:off x="512775" y="947025"/>
              <a:ext cx="2969800" cy="265500"/>
            </a:xfrm>
            <a:prstGeom prst="rect">
              <a:avLst/>
            </a:prstGeom>
            <a:noFill/>
            <a:ln>
              <a:noFill/>
            </a:ln>
          </p:spPr>
        </p:pic>
        <p:pic>
          <p:nvPicPr>
            <p:cNvPr id="254" name="Google Shape;254;p31" title="Sin título-2.png"/>
            <p:cNvPicPr preferRelativeResize="0"/>
            <p:nvPr/>
          </p:nvPicPr>
          <p:blipFill rotWithShape="1">
            <a:blip r:embed="rId4">
              <a:alphaModFix/>
            </a:blip>
            <a:srcRect l="60127"/>
            <a:stretch/>
          </p:blipFill>
          <p:spPr>
            <a:xfrm>
              <a:off x="511225" y="947025"/>
              <a:ext cx="2969800" cy="265500"/>
            </a:xfrm>
            <a:prstGeom prst="rect">
              <a:avLst/>
            </a:prstGeom>
            <a:noFill/>
            <a:ln>
              <a:noFill/>
            </a:ln>
          </p:spPr>
        </p:pic>
      </p:grpSp>
      <p:pic>
        <p:nvPicPr>
          <p:cNvPr id="3" name="Picture 2">
            <a:extLst>
              <a:ext uri="{FF2B5EF4-FFF2-40B4-BE49-F238E27FC236}">
                <a16:creationId xmlns:a16="http://schemas.microsoft.com/office/drawing/2014/main" id="{BBD5F71B-370C-3A21-DBB2-9E0A75C47164}"/>
              </a:ext>
            </a:extLst>
          </p:cNvPr>
          <p:cNvPicPr>
            <a:picLocks noChangeAspect="1"/>
          </p:cNvPicPr>
          <p:nvPr/>
        </p:nvPicPr>
        <p:blipFill>
          <a:blip r:embed="rId5"/>
          <a:stretch>
            <a:fillRect/>
          </a:stretch>
        </p:blipFill>
        <p:spPr>
          <a:xfrm>
            <a:off x="514361" y="1186986"/>
            <a:ext cx="2969835" cy="3521122"/>
          </a:xfrm>
          <a:prstGeom prst="rect">
            <a:avLst/>
          </a:prstGeom>
        </p:spPr>
      </p:pic>
      <p:sp>
        <p:nvSpPr>
          <p:cNvPr id="4" name="Google Shape;229;p30">
            <a:extLst>
              <a:ext uri="{FF2B5EF4-FFF2-40B4-BE49-F238E27FC236}">
                <a16:creationId xmlns:a16="http://schemas.microsoft.com/office/drawing/2014/main" id="{831971ED-AA09-1D04-FCBA-429E29DAB1C1}"/>
              </a:ext>
            </a:extLst>
          </p:cNvPr>
          <p:cNvSpPr txBox="1">
            <a:spLocks/>
          </p:cNvSpPr>
          <p:nvPr/>
        </p:nvSpPr>
        <p:spPr>
          <a:xfrm>
            <a:off x="3851775" y="4438408"/>
            <a:ext cx="5905871" cy="539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Roboto Mono"/>
              <a:buChar char="●"/>
              <a:defRPr sz="1400" b="0" i="0" u="none" strike="noStrike" cap="none">
                <a:solidFill>
                  <a:schemeClr val="dk1"/>
                </a:solidFill>
                <a:latin typeface="Roboto Mono"/>
                <a:ea typeface="Roboto Mono"/>
                <a:cs typeface="Roboto Mono"/>
                <a:sym typeface="Roboto Mono"/>
              </a:defRPr>
            </a:lvl1pPr>
            <a:lvl2pPr marL="914400" marR="0" lvl="1" indent="-317500" algn="l" rtl="0">
              <a:lnSpc>
                <a:spcPct val="115000"/>
              </a:lnSpc>
              <a:spcBef>
                <a:spcPts val="0"/>
              </a:spcBef>
              <a:spcAft>
                <a:spcPts val="0"/>
              </a:spcAft>
              <a:buClr>
                <a:schemeClr val="dk1"/>
              </a:buClr>
              <a:buSzPts val="1400"/>
              <a:buFont typeface="Roboto Mono"/>
              <a:buChar char="○"/>
              <a:defRPr sz="1400" b="0" i="0" u="none" strike="noStrike" cap="none">
                <a:solidFill>
                  <a:schemeClr val="dk1"/>
                </a:solidFill>
                <a:latin typeface="Roboto Mono"/>
                <a:ea typeface="Roboto Mono"/>
                <a:cs typeface="Roboto Mono"/>
                <a:sym typeface="Roboto Mono"/>
              </a:defRPr>
            </a:lvl2pPr>
            <a:lvl3pPr marL="1371600" marR="0" lvl="2" indent="-317500" algn="l" rtl="0">
              <a:lnSpc>
                <a:spcPct val="115000"/>
              </a:lnSpc>
              <a:spcBef>
                <a:spcPts val="0"/>
              </a:spcBef>
              <a:spcAft>
                <a:spcPts val="0"/>
              </a:spcAft>
              <a:buClr>
                <a:schemeClr val="dk1"/>
              </a:buClr>
              <a:buSzPts val="1400"/>
              <a:buFont typeface="Roboto Mono"/>
              <a:buChar char="■"/>
              <a:defRPr sz="1400" b="0" i="0" u="none" strike="noStrike" cap="none">
                <a:solidFill>
                  <a:schemeClr val="dk1"/>
                </a:solidFill>
                <a:latin typeface="Roboto Mono"/>
                <a:ea typeface="Roboto Mono"/>
                <a:cs typeface="Roboto Mono"/>
                <a:sym typeface="Roboto Mono"/>
              </a:defRPr>
            </a:lvl3pPr>
            <a:lvl4pPr marL="1828800" marR="0" lvl="3" indent="-317500" algn="l" rtl="0">
              <a:lnSpc>
                <a:spcPct val="115000"/>
              </a:lnSpc>
              <a:spcBef>
                <a:spcPts val="0"/>
              </a:spcBef>
              <a:spcAft>
                <a:spcPts val="0"/>
              </a:spcAft>
              <a:buClr>
                <a:schemeClr val="dk1"/>
              </a:buClr>
              <a:buSzPts val="1400"/>
              <a:buFont typeface="Roboto Mono"/>
              <a:buChar char="●"/>
              <a:defRPr sz="1400" b="0" i="0" u="none" strike="noStrike" cap="none">
                <a:solidFill>
                  <a:schemeClr val="dk1"/>
                </a:solidFill>
                <a:latin typeface="Roboto Mono"/>
                <a:ea typeface="Roboto Mono"/>
                <a:cs typeface="Roboto Mono"/>
                <a:sym typeface="Roboto Mono"/>
              </a:defRPr>
            </a:lvl4pPr>
            <a:lvl5pPr marL="2286000" marR="0" lvl="4" indent="-317500" algn="l" rtl="0">
              <a:lnSpc>
                <a:spcPct val="115000"/>
              </a:lnSpc>
              <a:spcBef>
                <a:spcPts val="0"/>
              </a:spcBef>
              <a:spcAft>
                <a:spcPts val="0"/>
              </a:spcAft>
              <a:buClr>
                <a:schemeClr val="dk1"/>
              </a:buClr>
              <a:buSzPts val="1400"/>
              <a:buFont typeface="Roboto Mono"/>
              <a:buChar char="○"/>
              <a:defRPr sz="1400" b="0" i="0" u="none" strike="noStrike" cap="none">
                <a:solidFill>
                  <a:schemeClr val="dk1"/>
                </a:solidFill>
                <a:latin typeface="Roboto Mono"/>
                <a:ea typeface="Roboto Mono"/>
                <a:cs typeface="Roboto Mono"/>
                <a:sym typeface="Roboto Mono"/>
              </a:defRPr>
            </a:lvl5pPr>
            <a:lvl6pPr marL="2743200" marR="0" lvl="5" indent="-317500" algn="l" rtl="0">
              <a:lnSpc>
                <a:spcPct val="115000"/>
              </a:lnSpc>
              <a:spcBef>
                <a:spcPts val="0"/>
              </a:spcBef>
              <a:spcAft>
                <a:spcPts val="0"/>
              </a:spcAft>
              <a:buClr>
                <a:schemeClr val="dk1"/>
              </a:buClr>
              <a:buSzPts val="1400"/>
              <a:buFont typeface="Roboto Mono"/>
              <a:buChar char="■"/>
              <a:defRPr sz="1400" b="0" i="0" u="none" strike="noStrike" cap="none">
                <a:solidFill>
                  <a:schemeClr val="dk1"/>
                </a:solidFill>
                <a:latin typeface="Roboto Mono"/>
                <a:ea typeface="Roboto Mono"/>
                <a:cs typeface="Roboto Mono"/>
                <a:sym typeface="Roboto Mono"/>
              </a:defRPr>
            </a:lvl6pPr>
            <a:lvl7pPr marL="3200400" marR="0" lvl="6" indent="-317500" algn="l" rtl="0">
              <a:lnSpc>
                <a:spcPct val="115000"/>
              </a:lnSpc>
              <a:spcBef>
                <a:spcPts val="0"/>
              </a:spcBef>
              <a:spcAft>
                <a:spcPts val="0"/>
              </a:spcAft>
              <a:buClr>
                <a:schemeClr val="dk1"/>
              </a:buClr>
              <a:buSzPts val="1400"/>
              <a:buFont typeface="Roboto Mono"/>
              <a:buChar char="●"/>
              <a:defRPr sz="1400" b="0" i="0" u="none" strike="noStrike" cap="none">
                <a:solidFill>
                  <a:schemeClr val="dk1"/>
                </a:solidFill>
                <a:latin typeface="Roboto Mono"/>
                <a:ea typeface="Roboto Mono"/>
                <a:cs typeface="Roboto Mono"/>
                <a:sym typeface="Roboto Mono"/>
              </a:defRPr>
            </a:lvl7pPr>
            <a:lvl8pPr marL="3657600" marR="0" lvl="7" indent="-317500" algn="l" rtl="0">
              <a:lnSpc>
                <a:spcPct val="115000"/>
              </a:lnSpc>
              <a:spcBef>
                <a:spcPts val="0"/>
              </a:spcBef>
              <a:spcAft>
                <a:spcPts val="0"/>
              </a:spcAft>
              <a:buClr>
                <a:schemeClr val="dk1"/>
              </a:buClr>
              <a:buSzPts val="1400"/>
              <a:buFont typeface="Roboto Mono"/>
              <a:buChar char="○"/>
              <a:defRPr sz="1400" b="0" i="0" u="none" strike="noStrike" cap="none">
                <a:solidFill>
                  <a:schemeClr val="dk1"/>
                </a:solidFill>
                <a:latin typeface="Roboto Mono"/>
                <a:ea typeface="Roboto Mono"/>
                <a:cs typeface="Roboto Mono"/>
                <a:sym typeface="Roboto Mono"/>
              </a:defRPr>
            </a:lvl8pPr>
            <a:lvl9pPr marL="4114800" marR="0" lvl="8" indent="-317500" algn="l" rtl="0">
              <a:lnSpc>
                <a:spcPct val="115000"/>
              </a:lnSpc>
              <a:spcBef>
                <a:spcPts val="0"/>
              </a:spcBef>
              <a:spcAft>
                <a:spcPts val="0"/>
              </a:spcAft>
              <a:buClr>
                <a:schemeClr val="dk1"/>
              </a:buClr>
              <a:buSzPts val="1400"/>
              <a:buFont typeface="Roboto Mono"/>
              <a:buChar char="■"/>
              <a:defRPr sz="1400" b="0" i="0" u="none" strike="noStrike" cap="none">
                <a:solidFill>
                  <a:schemeClr val="dk1"/>
                </a:solidFill>
                <a:latin typeface="Roboto Mono"/>
                <a:ea typeface="Roboto Mono"/>
                <a:cs typeface="Roboto Mono"/>
                <a:sym typeface="Roboto Mono"/>
              </a:defRPr>
            </a:lvl9pPr>
          </a:lstStyle>
          <a:p>
            <a:pPr marL="0" indent="0">
              <a:buFont typeface="Roboto Mono"/>
              <a:buNone/>
            </a:pPr>
            <a:endParaRPr lang="en-US" dirty="0">
              <a:latin typeface="VT323" panose="020B0604020202020204" charset="0"/>
            </a:endParaRPr>
          </a:p>
        </p:txBody>
      </p:sp>
      <p:sp>
        <p:nvSpPr>
          <p:cNvPr id="5" name="Google Shape;239;p30">
            <a:extLst>
              <a:ext uri="{FF2B5EF4-FFF2-40B4-BE49-F238E27FC236}">
                <a16:creationId xmlns:a16="http://schemas.microsoft.com/office/drawing/2014/main" id="{A448DD75-5CD7-CF22-FE10-B23DF451664A}"/>
              </a:ext>
            </a:extLst>
          </p:cNvPr>
          <p:cNvSpPr txBox="1">
            <a:spLocks/>
          </p:cNvSpPr>
          <p:nvPr/>
        </p:nvSpPr>
        <p:spPr>
          <a:xfrm>
            <a:off x="3810800" y="4438408"/>
            <a:ext cx="4810675" cy="3105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endParaRPr lang="en" dirty="0">
              <a:latin typeface="VT323" panose="020B0604020202020204" charset="0"/>
            </a:endParaRPr>
          </a:p>
          <a:p>
            <a:r>
              <a:rPr lang="en" dirty="0">
                <a:latin typeface="VT323" panose="020B0604020202020204" charset="0"/>
              </a:rPr>
              <a:t>[01] </a:t>
            </a:r>
            <a:r>
              <a:rPr lang="en-US" i="1" dirty="0">
                <a:latin typeface="VT323" panose="020B0604020202020204" charset="0"/>
                <a:hlinkClick r:id="rId6"/>
              </a:rPr>
              <a:t>https://w3techs.com/technologies/overview/web_server</a:t>
            </a:r>
            <a:endParaRPr lang="en-US" i="1" dirty="0">
              <a:latin typeface="VT323" panose="020B0604020202020204" charset="0"/>
            </a:endParaRPr>
          </a:p>
          <a:p>
            <a:r>
              <a:rPr lang="en-US" dirty="0">
                <a:latin typeface="VT323" panose="020B0604020202020204" charset="0"/>
              </a:rPr>
              <a:t>[02] </a:t>
            </a:r>
            <a:r>
              <a:rPr lang="en-US" i="1" u="sng" dirty="0">
                <a:latin typeface="VT323" panose="020B0604020202020204" charset="0"/>
              </a:rPr>
              <a:t>https://nodejs.org/en</a:t>
            </a:r>
          </a:p>
          <a:p>
            <a:pPr algn="ctr"/>
            <a:r>
              <a:rPr lang="en" dirty="0">
                <a:latin typeface="VT323" panose="020B0604020202020204" charset="0"/>
              </a:rPr>
              <a:t> </a:t>
            </a:r>
          </a:p>
        </p:txBody>
      </p:sp>
      <p:sp>
        <p:nvSpPr>
          <p:cNvPr id="10" name="TextBox 9">
            <a:extLst>
              <a:ext uri="{FF2B5EF4-FFF2-40B4-BE49-F238E27FC236}">
                <a16:creationId xmlns:a16="http://schemas.microsoft.com/office/drawing/2014/main" id="{B7F2E9E4-114E-CDDD-5FB9-9469ED8BC0BE}"/>
              </a:ext>
            </a:extLst>
          </p:cNvPr>
          <p:cNvSpPr txBox="1"/>
          <p:nvPr/>
        </p:nvSpPr>
        <p:spPr>
          <a:xfrm>
            <a:off x="3591999" y="2995179"/>
            <a:ext cx="5292225" cy="1492716"/>
          </a:xfrm>
          <a:prstGeom prst="rect">
            <a:avLst/>
          </a:prstGeom>
          <a:noFill/>
        </p:spPr>
        <p:txBody>
          <a:bodyPr wrap="square" rtlCol="0">
            <a:spAutoFit/>
          </a:bodyPr>
          <a:lstStyle/>
          <a:p>
            <a:pPr marL="285750" lvl="0" indent="-180000" algn="l" rtl="0">
              <a:spcBef>
                <a:spcPts val="0"/>
              </a:spcBef>
              <a:spcAft>
                <a:spcPts val="0"/>
              </a:spcAft>
              <a:buClr>
                <a:srgbClr val="273D40"/>
              </a:buClr>
              <a:buSzPct val="110000"/>
              <a:buFont typeface="Arial" panose="020B0604020202020204" pitchFamily="34" charset="0"/>
              <a:buChar char="•"/>
            </a:pPr>
            <a:r>
              <a:rPr lang="en" sz="1300" dirty="0">
                <a:solidFill>
                  <a:schemeClr val="dk1"/>
                </a:solidFill>
                <a:latin typeface="Roboto Mono" panose="00000009000000000000" pitchFamily="49" charset="0"/>
                <a:ea typeface="Roboto Mono" panose="00000009000000000000" pitchFamily="49" charset="0"/>
              </a:rPr>
              <a:t>One language for frontend and backend (C/S)</a:t>
            </a:r>
          </a:p>
          <a:p>
            <a:pPr marL="285750" lvl="0" indent="-180000" algn="l" rtl="0">
              <a:spcBef>
                <a:spcPts val="0"/>
              </a:spcBef>
              <a:spcAft>
                <a:spcPts val="0"/>
              </a:spcAft>
              <a:buClr>
                <a:srgbClr val="273D40"/>
              </a:buClr>
              <a:buSzPct val="110000"/>
              <a:buFont typeface="Arial" panose="020B0604020202020204" pitchFamily="34" charset="0"/>
              <a:buChar char="•"/>
            </a:pPr>
            <a:r>
              <a:rPr lang="en-US" sz="1300" dirty="0">
                <a:solidFill>
                  <a:schemeClr val="dk1"/>
                </a:solidFill>
                <a:latin typeface="Roboto Mono" panose="00000009000000000000" pitchFamily="49" charset="0"/>
                <a:ea typeface="Roboto Mono" panose="00000009000000000000" pitchFamily="49" charset="0"/>
              </a:rPr>
              <a:t>Overcoming Blocking I/O Limitations (Apache </a:t>
            </a:r>
            <a:r>
              <a:rPr lang="en-US" sz="1300" dirty="0">
                <a:solidFill>
                  <a:schemeClr val="dk1"/>
                </a:solidFill>
                <a:latin typeface="Roboto Mono" panose="00000009000000000000" pitchFamily="49" charset="0"/>
                <a:ea typeface="Roboto Mono" panose="00000009000000000000" pitchFamily="49" charset="0"/>
                <a:sym typeface="Wingdings" panose="05000000000000000000" pitchFamily="2" charset="2"/>
              </a:rPr>
              <a:t></a:t>
            </a:r>
            <a:r>
              <a:rPr lang="en-US" sz="1300" dirty="0">
                <a:solidFill>
                  <a:schemeClr val="dk1"/>
                </a:solidFill>
                <a:latin typeface="Roboto Mono" panose="00000009000000000000" pitchFamily="49" charset="0"/>
                <a:ea typeface="Roboto Mono" panose="00000009000000000000" pitchFamily="49" charset="0"/>
              </a:rPr>
              <a:t>)</a:t>
            </a:r>
          </a:p>
          <a:p>
            <a:pPr marL="285750" lvl="0" indent="-180000" algn="l" rtl="0">
              <a:spcBef>
                <a:spcPts val="0"/>
              </a:spcBef>
              <a:spcAft>
                <a:spcPts val="0"/>
              </a:spcAft>
              <a:buClr>
                <a:srgbClr val="273D40"/>
              </a:buClr>
              <a:buSzPct val="110000"/>
              <a:buFont typeface="Arial" panose="020B0604020202020204" pitchFamily="34" charset="0"/>
              <a:buChar char="•"/>
            </a:pPr>
            <a:r>
              <a:rPr lang="en" sz="1300" dirty="0">
                <a:solidFill>
                  <a:schemeClr val="dk1"/>
                </a:solidFill>
                <a:latin typeface="Roboto Mono" panose="00000009000000000000" pitchFamily="49" charset="0"/>
                <a:ea typeface="Roboto Mono" panose="00000009000000000000" pitchFamily="49" charset="0"/>
              </a:rPr>
              <a:t>High concurrency (</a:t>
            </a:r>
            <a:r>
              <a:rPr lang="en-US" sz="1300" dirty="0">
                <a:solidFill>
                  <a:schemeClr val="dk1"/>
                </a:solidFill>
                <a:latin typeface="Roboto Mono" panose="00000009000000000000" pitchFamily="49" charset="0"/>
                <a:ea typeface="Roboto Mono" panose="00000009000000000000" pitchFamily="49" charset="0"/>
              </a:rPr>
              <a:t>C10k → C100k</a:t>
            </a:r>
            <a:r>
              <a:rPr lang="en" sz="1300" dirty="0">
                <a:solidFill>
                  <a:schemeClr val="dk1"/>
                </a:solidFill>
                <a:latin typeface="Roboto Mono" panose="00000009000000000000" pitchFamily="49" charset="0"/>
                <a:ea typeface="Roboto Mono" panose="00000009000000000000" pitchFamily="49" charset="0"/>
              </a:rPr>
              <a:t>)</a:t>
            </a:r>
          </a:p>
          <a:p>
            <a:pPr marL="285750" lvl="0" indent="-180000" algn="l" rtl="0">
              <a:spcBef>
                <a:spcPts val="0"/>
              </a:spcBef>
              <a:spcAft>
                <a:spcPts val="0"/>
              </a:spcAft>
              <a:buClr>
                <a:srgbClr val="273D40"/>
              </a:buClr>
              <a:buSzPct val="110000"/>
              <a:buFont typeface="Arial" panose="020B0604020202020204" pitchFamily="34" charset="0"/>
              <a:buChar char="•"/>
            </a:pPr>
            <a:r>
              <a:rPr lang="en" sz="1300" dirty="0">
                <a:solidFill>
                  <a:schemeClr val="dk1"/>
                </a:solidFill>
                <a:latin typeface="Roboto Mono" panose="00000009000000000000" pitchFamily="49" charset="0"/>
                <a:ea typeface="Roboto Mono" panose="00000009000000000000" pitchFamily="49" charset="0"/>
              </a:rPr>
              <a:t>V8 JS engine appeared</a:t>
            </a:r>
          </a:p>
          <a:p>
            <a:pPr marL="285750" lvl="0" indent="-180000" algn="l" rtl="0">
              <a:spcBef>
                <a:spcPts val="0"/>
              </a:spcBef>
              <a:spcAft>
                <a:spcPts val="0"/>
              </a:spcAft>
              <a:buClr>
                <a:srgbClr val="273D40"/>
              </a:buClr>
              <a:buSzPct val="110000"/>
              <a:buFont typeface="Arial" panose="020B0604020202020204" pitchFamily="34" charset="0"/>
              <a:buChar char="•"/>
            </a:pPr>
            <a:r>
              <a:rPr lang="en-US" sz="1200" i="1" dirty="0">
                <a:solidFill>
                  <a:schemeClr val="dk1"/>
                </a:solidFill>
                <a:latin typeface="Roboto Mono" panose="00000009000000000000" pitchFamily="49" charset="0"/>
                <a:ea typeface="Roboto Mono" panose="00000009000000000000" pitchFamily="49" charset="0"/>
              </a:rPr>
              <a:t>real use cases — edge, IoT, API gateways, streaming — that need efficient, well-engineered JS runtimes on Unix.</a:t>
            </a:r>
            <a:endParaRPr lang="en" sz="1200" i="1" dirty="0">
              <a:solidFill>
                <a:schemeClr val="dk1"/>
              </a:solidFill>
              <a:latin typeface="Roboto Mono" panose="00000009000000000000" pitchFamily="49" charset="0"/>
              <a:ea typeface="Roboto Mono" panose="00000009000000000000" pitchFamily="49" charset="0"/>
            </a:endParaRPr>
          </a:p>
        </p:txBody>
      </p:sp>
      <p:sp>
        <p:nvSpPr>
          <p:cNvPr id="11" name="Google Shape;182;p28">
            <a:extLst>
              <a:ext uri="{FF2B5EF4-FFF2-40B4-BE49-F238E27FC236}">
                <a16:creationId xmlns:a16="http://schemas.microsoft.com/office/drawing/2014/main" id="{6ED7CB17-4BCD-9EBA-6AB3-D2C981FA461D}"/>
              </a:ext>
            </a:extLst>
          </p:cNvPr>
          <p:cNvSpPr txBox="1"/>
          <p:nvPr/>
        </p:nvSpPr>
        <p:spPr>
          <a:xfrm>
            <a:off x="1358420" y="210808"/>
            <a:ext cx="4475400" cy="265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dirty="0">
                <a:solidFill>
                  <a:schemeClr val="bg1">
                    <a:lumMod val="10000"/>
                  </a:schemeClr>
                </a:solidFill>
                <a:latin typeface="VT323"/>
                <a:ea typeface="VT323"/>
                <a:cs typeface="VT323"/>
                <a:sym typeface="VT323"/>
              </a:rPr>
              <a:t>Introduction</a:t>
            </a:r>
            <a:endParaRPr sz="1600" dirty="0">
              <a:solidFill>
                <a:schemeClr val="bg1">
                  <a:lumMod val="10000"/>
                </a:schemeClr>
              </a:solidFill>
              <a:latin typeface="VT323"/>
              <a:ea typeface="VT323"/>
              <a:cs typeface="VT323"/>
              <a:sym typeface="VT323"/>
            </a:endParaRPr>
          </a:p>
        </p:txBody>
      </p:sp>
      <p:pic>
        <p:nvPicPr>
          <p:cNvPr id="1028" name="Picture 4">
            <a:extLst>
              <a:ext uri="{FF2B5EF4-FFF2-40B4-BE49-F238E27FC236}">
                <a16:creationId xmlns:a16="http://schemas.microsoft.com/office/drawing/2014/main" id="{53C97110-1D05-915B-F4BA-CEAD7F52212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79925" y="779817"/>
            <a:ext cx="457200" cy="4572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Node.js logo vector (eps, svg) free download - Brandlogos.net">
            <a:extLst>
              <a:ext uri="{FF2B5EF4-FFF2-40B4-BE49-F238E27FC236}">
                <a16:creationId xmlns:a16="http://schemas.microsoft.com/office/drawing/2014/main" id="{1CB34320-9F99-23CB-B7D0-CF11105F70E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2391" y="187112"/>
            <a:ext cx="928654" cy="277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4151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38"/>
          <p:cNvSpPr txBox="1">
            <a:spLocks noGrp="1"/>
          </p:cNvSpPr>
          <p:nvPr>
            <p:ph type="title"/>
          </p:nvPr>
        </p:nvSpPr>
        <p:spPr>
          <a:xfrm>
            <a:off x="341850" y="689750"/>
            <a:ext cx="8460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Evolution of Node.js</a:t>
            </a:r>
            <a:endParaRPr dirty="0"/>
          </a:p>
        </p:txBody>
      </p:sp>
      <p:sp>
        <p:nvSpPr>
          <p:cNvPr id="321" name="Google Shape;321;p38"/>
          <p:cNvSpPr txBox="1"/>
          <p:nvPr/>
        </p:nvSpPr>
        <p:spPr>
          <a:xfrm>
            <a:off x="341212" y="2293025"/>
            <a:ext cx="1844400" cy="533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300" dirty="0">
                <a:solidFill>
                  <a:schemeClr val="dk2"/>
                </a:solidFill>
                <a:latin typeface="VT323"/>
                <a:ea typeface="VT323"/>
                <a:cs typeface="VT323"/>
                <a:sym typeface="VT323"/>
              </a:rPr>
              <a:t>2009</a:t>
            </a:r>
            <a:endParaRPr sz="2300" dirty="0">
              <a:solidFill>
                <a:schemeClr val="dk2"/>
              </a:solidFill>
              <a:latin typeface="VT323"/>
              <a:ea typeface="VT323"/>
              <a:cs typeface="VT323"/>
              <a:sym typeface="VT323"/>
            </a:endParaRPr>
          </a:p>
        </p:txBody>
      </p:sp>
      <p:sp>
        <p:nvSpPr>
          <p:cNvPr id="322" name="Google Shape;322;p38"/>
          <p:cNvSpPr txBox="1"/>
          <p:nvPr/>
        </p:nvSpPr>
        <p:spPr>
          <a:xfrm>
            <a:off x="333023" y="2826702"/>
            <a:ext cx="1844400" cy="107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b="1" dirty="0">
                <a:solidFill>
                  <a:schemeClr val="dk1"/>
                </a:solidFill>
                <a:latin typeface="Open Sans"/>
                <a:ea typeface="Open Sans"/>
                <a:cs typeface="Open Sans"/>
                <a:sym typeface="Open Sans"/>
              </a:rPr>
              <a:t>Ryan Dahl </a:t>
            </a:r>
            <a:r>
              <a:rPr lang="en-US" sz="1200" dirty="0">
                <a:solidFill>
                  <a:schemeClr val="dk1"/>
                </a:solidFill>
                <a:latin typeface="Open Sans"/>
                <a:ea typeface="Open Sans"/>
                <a:cs typeface="Open Sans"/>
                <a:sym typeface="Open Sans"/>
              </a:rPr>
              <a:t>creates Node.js at </a:t>
            </a:r>
            <a:r>
              <a:rPr lang="en-US" sz="1200" b="1" dirty="0" err="1">
                <a:solidFill>
                  <a:schemeClr val="dk1"/>
                </a:solidFill>
                <a:latin typeface="Open Sans"/>
                <a:ea typeface="Open Sans"/>
                <a:cs typeface="Open Sans"/>
                <a:sym typeface="Open Sans"/>
              </a:rPr>
              <a:t>Joyent</a:t>
            </a:r>
            <a:r>
              <a:rPr lang="en-US" sz="1200" dirty="0">
                <a:solidFill>
                  <a:schemeClr val="dk1"/>
                </a:solidFill>
                <a:latin typeface="Open Sans"/>
                <a:ea typeface="Open Sans"/>
                <a:cs typeface="Open Sans"/>
                <a:sym typeface="Open Sans"/>
              </a:rPr>
              <a:t>, focusing on event-driven I/O for Unix centric runtime for creating web-servers</a:t>
            </a:r>
          </a:p>
        </p:txBody>
      </p:sp>
      <p:sp>
        <p:nvSpPr>
          <p:cNvPr id="323" name="Google Shape;323;p38"/>
          <p:cNvSpPr txBox="1"/>
          <p:nvPr/>
        </p:nvSpPr>
        <p:spPr>
          <a:xfrm>
            <a:off x="2405740" y="2293024"/>
            <a:ext cx="1844400" cy="533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300" dirty="0">
                <a:solidFill>
                  <a:schemeClr val="dk2"/>
                </a:solidFill>
                <a:latin typeface="VT323"/>
                <a:ea typeface="VT323"/>
                <a:cs typeface="VT323"/>
                <a:sym typeface="VT323"/>
              </a:rPr>
              <a:t>2010-2014</a:t>
            </a:r>
            <a:endParaRPr sz="2300" dirty="0">
              <a:solidFill>
                <a:schemeClr val="dk2"/>
              </a:solidFill>
              <a:latin typeface="VT323"/>
              <a:ea typeface="VT323"/>
              <a:cs typeface="VT323"/>
              <a:sym typeface="VT323"/>
            </a:endParaRPr>
          </a:p>
        </p:txBody>
      </p:sp>
      <p:sp>
        <p:nvSpPr>
          <p:cNvPr id="324" name="Google Shape;324;p38"/>
          <p:cNvSpPr txBox="1"/>
          <p:nvPr/>
        </p:nvSpPr>
        <p:spPr>
          <a:xfrm>
            <a:off x="2405740" y="2826710"/>
            <a:ext cx="1844400" cy="107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solidFill>
                  <a:schemeClr val="dk1"/>
                </a:solidFill>
                <a:latin typeface="Open Sans"/>
                <a:ea typeface="Open Sans"/>
                <a:cs typeface="Open Sans"/>
                <a:sym typeface="Open Sans"/>
              </a:rPr>
              <a:t>Early adoption for </a:t>
            </a:r>
            <a:r>
              <a:rPr lang="en-US" sz="1200" b="1" dirty="0">
                <a:solidFill>
                  <a:schemeClr val="dk1"/>
                </a:solidFill>
                <a:latin typeface="Open Sans"/>
                <a:ea typeface="Open Sans"/>
                <a:cs typeface="Open Sans"/>
                <a:sym typeface="Open Sans"/>
              </a:rPr>
              <a:t>high-performance net</a:t>
            </a:r>
            <a:r>
              <a:rPr lang="en-US" sz="1200" dirty="0">
                <a:solidFill>
                  <a:schemeClr val="dk1"/>
                </a:solidFill>
                <a:latin typeface="Open Sans"/>
                <a:ea typeface="Open Sans"/>
                <a:cs typeface="Open Sans"/>
                <a:sym typeface="Open Sans"/>
              </a:rPr>
              <a:t>works;</a:t>
            </a:r>
          </a:p>
          <a:p>
            <a:pPr marL="0" lvl="0" indent="0" algn="l" rtl="0">
              <a:spcBef>
                <a:spcPts val="0"/>
              </a:spcBef>
              <a:spcAft>
                <a:spcPts val="0"/>
              </a:spcAft>
              <a:buNone/>
            </a:pPr>
            <a:r>
              <a:rPr lang="en-US" sz="1200" b="1" dirty="0">
                <a:solidFill>
                  <a:schemeClr val="dk1"/>
                </a:solidFill>
                <a:latin typeface="Open Sans"/>
                <a:ea typeface="Open Sans"/>
                <a:cs typeface="Open Sans"/>
                <a:sym typeface="Open Sans"/>
              </a:rPr>
              <a:t>Foundation</a:t>
            </a:r>
            <a:r>
              <a:rPr lang="en-US" sz="1200" dirty="0">
                <a:solidFill>
                  <a:schemeClr val="dk1"/>
                </a:solidFill>
                <a:latin typeface="Open Sans"/>
                <a:ea typeface="Open Sans"/>
                <a:cs typeface="Open Sans"/>
                <a:sym typeface="Open Sans"/>
              </a:rPr>
              <a:t> formed for </a:t>
            </a:r>
            <a:r>
              <a:rPr lang="en-US" sz="1200" b="1" dirty="0">
                <a:solidFill>
                  <a:schemeClr val="dk1"/>
                </a:solidFill>
                <a:latin typeface="Open Sans"/>
                <a:ea typeface="Open Sans"/>
                <a:cs typeface="Open Sans"/>
                <a:sym typeface="Open Sans"/>
              </a:rPr>
              <a:t>governance</a:t>
            </a:r>
            <a:endParaRPr lang="ru-RU" sz="1200" b="1" dirty="0">
              <a:solidFill>
                <a:schemeClr val="dk1"/>
              </a:solidFill>
              <a:latin typeface="Open Sans"/>
              <a:ea typeface="Open Sans"/>
              <a:cs typeface="Open Sans"/>
              <a:sym typeface="Open Sans"/>
            </a:endParaRPr>
          </a:p>
        </p:txBody>
      </p:sp>
      <p:sp>
        <p:nvSpPr>
          <p:cNvPr id="325" name="Google Shape;325;p38"/>
          <p:cNvSpPr txBox="1"/>
          <p:nvPr/>
        </p:nvSpPr>
        <p:spPr>
          <a:xfrm>
            <a:off x="6551177" y="2293025"/>
            <a:ext cx="1844400" cy="533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300" dirty="0">
                <a:solidFill>
                  <a:schemeClr val="dk2"/>
                </a:solidFill>
                <a:latin typeface="VT323"/>
                <a:ea typeface="VT323"/>
                <a:cs typeface="VT323"/>
                <a:sym typeface="VT323"/>
              </a:rPr>
              <a:t>2020s</a:t>
            </a:r>
            <a:endParaRPr sz="2300" dirty="0">
              <a:solidFill>
                <a:schemeClr val="dk2"/>
              </a:solidFill>
              <a:latin typeface="VT323"/>
              <a:ea typeface="VT323"/>
              <a:cs typeface="VT323"/>
              <a:sym typeface="VT323"/>
            </a:endParaRPr>
          </a:p>
        </p:txBody>
      </p:sp>
      <p:sp>
        <p:nvSpPr>
          <p:cNvPr id="326" name="Google Shape;326;p38"/>
          <p:cNvSpPr txBox="1"/>
          <p:nvPr/>
        </p:nvSpPr>
        <p:spPr>
          <a:xfrm>
            <a:off x="6551175" y="2826425"/>
            <a:ext cx="1844400" cy="107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b="1" dirty="0">
                <a:solidFill>
                  <a:schemeClr val="dk1"/>
                </a:solidFill>
                <a:latin typeface="Open Sans"/>
                <a:ea typeface="Open Sans"/>
                <a:cs typeface="Open Sans"/>
                <a:sym typeface="Open Sans"/>
              </a:rPr>
              <a:t>V8/JIT</a:t>
            </a:r>
            <a:r>
              <a:rPr lang="en-US" sz="1200" dirty="0">
                <a:solidFill>
                  <a:schemeClr val="dk1"/>
                </a:solidFill>
                <a:latin typeface="Open Sans"/>
                <a:ea typeface="Open Sans"/>
                <a:cs typeface="Open Sans"/>
                <a:sym typeface="Open Sans"/>
              </a:rPr>
              <a:t> improvements, worker threads, </a:t>
            </a:r>
            <a:r>
              <a:rPr lang="en-US" sz="1200" b="1" dirty="0">
                <a:solidFill>
                  <a:schemeClr val="dk1"/>
                </a:solidFill>
                <a:latin typeface="Open Sans"/>
                <a:ea typeface="Open Sans"/>
                <a:cs typeface="Open Sans"/>
                <a:sym typeface="Open Sans"/>
              </a:rPr>
              <a:t>ESM</a:t>
            </a:r>
            <a:r>
              <a:rPr lang="en-US" sz="1200" dirty="0">
                <a:solidFill>
                  <a:schemeClr val="dk1"/>
                </a:solidFill>
                <a:latin typeface="Open Sans"/>
                <a:ea typeface="Open Sans"/>
                <a:cs typeface="Open Sans"/>
                <a:sym typeface="Open Sans"/>
              </a:rPr>
              <a:t> maturation, ecosystem </a:t>
            </a:r>
            <a:r>
              <a:rPr lang="en-US" sz="1200" b="1" dirty="0">
                <a:solidFill>
                  <a:schemeClr val="dk1"/>
                </a:solidFill>
                <a:latin typeface="Open Sans"/>
                <a:ea typeface="Open Sans"/>
                <a:cs typeface="Open Sans"/>
                <a:sym typeface="Open Sans"/>
              </a:rPr>
              <a:t>growth</a:t>
            </a:r>
          </a:p>
        </p:txBody>
      </p:sp>
      <p:sp>
        <p:nvSpPr>
          <p:cNvPr id="327" name="Google Shape;327;p38"/>
          <p:cNvSpPr txBox="1"/>
          <p:nvPr/>
        </p:nvSpPr>
        <p:spPr>
          <a:xfrm>
            <a:off x="4478467" y="2293025"/>
            <a:ext cx="1844400" cy="533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300" dirty="0">
                <a:solidFill>
                  <a:schemeClr val="dk2"/>
                </a:solidFill>
                <a:latin typeface="VT323"/>
                <a:ea typeface="VT323"/>
                <a:cs typeface="VT323"/>
                <a:sym typeface="VT323"/>
              </a:rPr>
              <a:t>2019</a:t>
            </a:r>
            <a:endParaRPr sz="2300" dirty="0">
              <a:solidFill>
                <a:schemeClr val="dk2"/>
              </a:solidFill>
              <a:latin typeface="VT323"/>
              <a:ea typeface="VT323"/>
              <a:cs typeface="VT323"/>
              <a:sym typeface="VT323"/>
            </a:endParaRPr>
          </a:p>
        </p:txBody>
      </p:sp>
      <p:sp>
        <p:nvSpPr>
          <p:cNvPr id="328" name="Google Shape;328;p38"/>
          <p:cNvSpPr txBox="1"/>
          <p:nvPr/>
        </p:nvSpPr>
        <p:spPr>
          <a:xfrm>
            <a:off x="4478458" y="2826424"/>
            <a:ext cx="1844400" cy="107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b="1" dirty="0">
                <a:solidFill>
                  <a:schemeClr val="dk1"/>
                </a:solidFill>
                <a:latin typeface="Open Sans"/>
                <a:ea typeface="Open Sans"/>
                <a:cs typeface="Open Sans"/>
                <a:sym typeface="Open Sans"/>
              </a:rPr>
              <a:t>Merges</a:t>
            </a:r>
            <a:r>
              <a:rPr lang="en-US" sz="1200" dirty="0">
                <a:solidFill>
                  <a:schemeClr val="dk1"/>
                </a:solidFill>
                <a:latin typeface="Open Sans"/>
                <a:ea typeface="Open Sans"/>
                <a:cs typeface="Open Sans"/>
                <a:sym typeface="Open Sans"/>
              </a:rPr>
              <a:t> into </a:t>
            </a:r>
            <a:r>
              <a:rPr lang="en-US" sz="1200" b="1" dirty="0" err="1">
                <a:solidFill>
                  <a:schemeClr val="dk1"/>
                </a:solidFill>
                <a:latin typeface="Open Sans"/>
                <a:ea typeface="Open Sans"/>
                <a:cs typeface="Open Sans"/>
                <a:sym typeface="Open Sans"/>
              </a:rPr>
              <a:t>OpenJS</a:t>
            </a:r>
            <a:r>
              <a:rPr lang="en-US" sz="1200" dirty="0">
                <a:solidFill>
                  <a:schemeClr val="dk1"/>
                </a:solidFill>
                <a:latin typeface="Open Sans"/>
                <a:ea typeface="Open Sans"/>
                <a:cs typeface="Open Sans"/>
                <a:sym typeface="Open Sans"/>
              </a:rPr>
              <a:t> Foundation for </a:t>
            </a:r>
            <a:r>
              <a:rPr lang="en-US" sz="1200" b="1" dirty="0">
                <a:solidFill>
                  <a:schemeClr val="dk1"/>
                </a:solidFill>
                <a:latin typeface="Open Sans"/>
                <a:ea typeface="Open Sans"/>
                <a:cs typeface="Open Sans"/>
                <a:sym typeface="Open Sans"/>
              </a:rPr>
              <a:t>open-source </a:t>
            </a:r>
            <a:r>
              <a:rPr lang="en-US" sz="1200" dirty="0">
                <a:solidFill>
                  <a:schemeClr val="dk1"/>
                </a:solidFill>
                <a:latin typeface="Open Sans"/>
                <a:ea typeface="Open Sans"/>
                <a:cs typeface="Open Sans"/>
                <a:sym typeface="Open Sans"/>
              </a:rPr>
              <a:t>collaboration</a:t>
            </a:r>
            <a:endParaRPr lang="ru-RU" sz="1200" dirty="0">
              <a:solidFill>
                <a:schemeClr val="dk1"/>
              </a:solidFill>
              <a:latin typeface="Open Sans"/>
              <a:ea typeface="Open Sans"/>
              <a:cs typeface="Open Sans"/>
              <a:sym typeface="Open Sans"/>
            </a:endParaRPr>
          </a:p>
        </p:txBody>
      </p:sp>
      <p:grpSp>
        <p:nvGrpSpPr>
          <p:cNvPr id="329" name="Google Shape;329;p38"/>
          <p:cNvGrpSpPr/>
          <p:nvPr/>
        </p:nvGrpSpPr>
        <p:grpSpPr>
          <a:xfrm>
            <a:off x="448839" y="1959034"/>
            <a:ext cx="257270" cy="265503"/>
            <a:chOff x="3526100" y="1307775"/>
            <a:chExt cx="318285" cy="328470"/>
          </a:xfrm>
        </p:grpSpPr>
        <p:sp>
          <p:nvSpPr>
            <p:cNvPr id="330" name="Google Shape;330;p38"/>
            <p:cNvSpPr/>
            <p:nvPr/>
          </p:nvSpPr>
          <p:spPr>
            <a:xfrm>
              <a:off x="3536285" y="1328145"/>
              <a:ext cx="308100" cy="308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Mono"/>
                <a:ea typeface="Roboto Mono"/>
                <a:cs typeface="Roboto Mono"/>
                <a:sym typeface="Roboto Mono"/>
              </a:endParaRPr>
            </a:p>
          </p:txBody>
        </p:sp>
        <p:sp>
          <p:nvSpPr>
            <p:cNvPr id="331" name="Google Shape;331;p38"/>
            <p:cNvSpPr/>
            <p:nvPr/>
          </p:nvSpPr>
          <p:spPr>
            <a:xfrm>
              <a:off x="3526100" y="1307775"/>
              <a:ext cx="308100" cy="308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Mono"/>
                <a:ea typeface="Roboto Mono"/>
                <a:cs typeface="Roboto Mono"/>
                <a:sym typeface="Roboto Mono"/>
              </a:endParaRPr>
            </a:p>
          </p:txBody>
        </p:sp>
      </p:grpSp>
      <p:grpSp>
        <p:nvGrpSpPr>
          <p:cNvPr id="332" name="Google Shape;332;p38"/>
          <p:cNvGrpSpPr/>
          <p:nvPr/>
        </p:nvGrpSpPr>
        <p:grpSpPr>
          <a:xfrm>
            <a:off x="2522609" y="1959034"/>
            <a:ext cx="257270" cy="265503"/>
            <a:chOff x="3526100" y="1307775"/>
            <a:chExt cx="318285" cy="328470"/>
          </a:xfrm>
        </p:grpSpPr>
        <p:sp>
          <p:nvSpPr>
            <p:cNvPr id="333" name="Google Shape;333;p38"/>
            <p:cNvSpPr/>
            <p:nvPr/>
          </p:nvSpPr>
          <p:spPr>
            <a:xfrm>
              <a:off x="3536285" y="1328145"/>
              <a:ext cx="308100" cy="308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Mono"/>
                <a:ea typeface="Roboto Mono"/>
                <a:cs typeface="Roboto Mono"/>
                <a:sym typeface="Roboto Mono"/>
              </a:endParaRPr>
            </a:p>
          </p:txBody>
        </p:sp>
        <p:sp>
          <p:nvSpPr>
            <p:cNvPr id="334" name="Google Shape;334;p38"/>
            <p:cNvSpPr/>
            <p:nvPr/>
          </p:nvSpPr>
          <p:spPr>
            <a:xfrm>
              <a:off x="3526100" y="1307775"/>
              <a:ext cx="308100" cy="308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Mono"/>
                <a:ea typeface="Roboto Mono"/>
                <a:cs typeface="Roboto Mono"/>
                <a:sym typeface="Roboto Mono"/>
              </a:endParaRPr>
            </a:p>
          </p:txBody>
        </p:sp>
      </p:grpSp>
      <p:grpSp>
        <p:nvGrpSpPr>
          <p:cNvPr id="335" name="Google Shape;335;p38"/>
          <p:cNvGrpSpPr/>
          <p:nvPr/>
        </p:nvGrpSpPr>
        <p:grpSpPr>
          <a:xfrm>
            <a:off x="4588009" y="1959034"/>
            <a:ext cx="257270" cy="265503"/>
            <a:chOff x="3526100" y="1307775"/>
            <a:chExt cx="318285" cy="328470"/>
          </a:xfrm>
        </p:grpSpPr>
        <p:sp>
          <p:nvSpPr>
            <p:cNvPr id="336" name="Google Shape;336;p38"/>
            <p:cNvSpPr/>
            <p:nvPr/>
          </p:nvSpPr>
          <p:spPr>
            <a:xfrm>
              <a:off x="3536285" y="1328145"/>
              <a:ext cx="308100" cy="308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Mono"/>
                <a:ea typeface="Roboto Mono"/>
                <a:cs typeface="Roboto Mono"/>
                <a:sym typeface="Roboto Mono"/>
              </a:endParaRPr>
            </a:p>
          </p:txBody>
        </p:sp>
        <p:sp>
          <p:nvSpPr>
            <p:cNvPr id="337" name="Google Shape;337;p38"/>
            <p:cNvSpPr/>
            <p:nvPr/>
          </p:nvSpPr>
          <p:spPr>
            <a:xfrm>
              <a:off x="3526100" y="1307775"/>
              <a:ext cx="308100" cy="308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Mono"/>
                <a:ea typeface="Roboto Mono"/>
                <a:cs typeface="Roboto Mono"/>
                <a:sym typeface="Roboto Mono"/>
              </a:endParaRPr>
            </a:p>
          </p:txBody>
        </p:sp>
      </p:grpSp>
      <p:grpSp>
        <p:nvGrpSpPr>
          <p:cNvPr id="338" name="Google Shape;338;p38"/>
          <p:cNvGrpSpPr/>
          <p:nvPr/>
        </p:nvGrpSpPr>
        <p:grpSpPr>
          <a:xfrm>
            <a:off x="6653409" y="1959034"/>
            <a:ext cx="257270" cy="265503"/>
            <a:chOff x="3526100" y="1307775"/>
            <a:chExt cx="318285" cy="328470"/>
          </a:xfrm>
        </p:grpSpPr>
        <p:sp>
          <p:nvSpPr>
            <p:cNvPr id="339" name="Google Shape;339;p38"/>
            <p:cNvSpPr/>
            <p:nvPr/>
          </p:nvSpPr>
          <p:spPr>
            <a:xfrm>
              <a:off x="3536285" y="1328145"/>
              <a:ext cx="308100" cy="308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Mono"/>
                <a:ea typeface="Roboto Mono"/>
                <a:cs typeface="Roboto Mono"/>
                <a:sym typeface="Roboto Mono"/>
              </a:endParaRPr>
            </a:p>
          </p:txBody>
        </p:sp>
        <p:sp>
          <p:nvSpPr>
            <p:cNvPr id="340" name="Google Shape;340;p38"/>
            <p:cNvSpPr/>
            <p:nvPr/>
          </p:nvSpPr>
          <p:spPr>
            <a:xfrm>
              <a:off x="3526100" y="1307775"/>
              <a:ext cx="308100" cy="308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Mono"/>
                <a:ea typeface="Roboto Mono"/>
                <a:cs typeface="Roboto Mono"/>
                <a:sym typeface="Roboto Mono"/>
              </a:endParaRPr>
            </a:p>
          </p:txBody>
        </p:sp>
      </p:grpSp>
      <p:cxnSp>
        <p:nvCxnSpPr>
          <p:cNvPr id="341" name="Google Shape;341;p38"/>
          <p:cNvCxnSpPr>
            <a:endCxn id="334" idx="1"/>
          </p:cNvCxnSpPr>
          <p:nvPr/>
        </p:nvCxnSpPr>
        <p:spPr>
          <a:xfrm>
            <a:off x="706109" y="2083552"/>
            <a:ext cx="1816500" cy="0"/>
          </a:xfrm>
          <a:prstGeom prst="straightConnector1">
            <a:avLst/>
          </a:prstGeom>
          <a:noFill/>
          <a:ln w="19050" cap="flat" cmpd="sng">
            <a:solidFill>
              <a:schemeClr val="dk2"/>
            </a:solidFill>
            <a:prstDash val="solid"/>
            <a:round/>
            <a:headEnd type="none" w="med" len="med"/>
            <a:tailEnd type="none" w="med" len="med"/>
          </a:ln>
        </p:spPr>
      </p:cxnSp>
      <p:cxnSp>
        <p:nvCxnSpPr>
          <p:cNvPr id="342" name="Google Shape;342;p38"/>
          <p:cNvCxnSpPr>
            <a:stCxn id="334" idx="3"/>
            <a:endCxn id="337" idx="1"/>
          </p:cNvCxnSpPr>
          <p:nvPr/>
        </p:nvCxnSpPr>
        <p:spPr>
          <a:xfrm>
            <a:off x="2771646" y="2083552"/>
            <a:ext cx="1816500" cy="0"/>
          </a:xfrm>
          <a:prstGeom prst="straightConnector1">
            <a:avLst/>
          </a:prstGeom>
          <a:noFill/>
          <a:ln w="19050" cap="flat" cmpd="sng">
            <a:solidFill>
              <a:schemeClr val="dk2"/>
            </a:solidFill>
            <a:prstDash val="solid"/>
            <a:round/>
            <a:headEnd type="none" w="med" len="med"/>
            <a:tailEnd type="none" w="med" len="med"/>
          </a:ln>
        </p:spPr>
      </p:cxnSp>
      <p:cxnSp>
        <p:nvCxnSpPr>
          <p:cNvPr id="343" name="Google Shape;343;p38"/>
          <p:cNvCxnSpPr>
            <a:stCxn id="337" idx="3"/>
            <a:endCxn id="340" idx="1"/>
          </p:cNvCxnSpPr>
          <p:nvPr/>
        </p:nvCxnSpPr>
        <p:spPr>
          <a:xfrm>
            <a:off x="4837046" y="2083552"/>
            <a:ext cx="1816500" cy="0"/>
          </a:xfrm>
          <a:prstGeom prst="straightConnector1">
            <a:avLst/>
          </a:prstGeom>
          <a:noFill/>
          <a:ln w="19050" cap="flat" cmpd="sng">
            <a:solidFill>
              <a:schemeClr val="dk2"/>
            </a:solidFill>
            <a:prstDash val="solid"/>
            <a:round/>
            <a:headEnd type="none" w="med" len="med"/>
            <a:tailEnd type="none" w="med" len="med"/>
          </a:ln>
        </p:spPr>
      </p:cxnSp>
      <p:sp>
        <p:nvSpPr>
          <p:cNvPr id="3" name="Google Shape;182;p28">
            <a:extLst>
              <a:ext uri="{FF2B5EF4-FFF2-40B4-BE49-F238E27FC236}">
                <a16:creationId xmlns:a16="http://schemas.microsoft.com/office/drawing/2014/main" id="{AC18B493-D579-B044-8034-1D804B5A097B}"/>
              </a:ext>
            </a:extLst>
          </p:cNvPr>
          <p:cNvSpPr txBox="1"/>
          <p:nvPr/>
        </p:nvSpPr>
        <p:spPr>
          <a:xfrm>
            <a:off x="1358420" y="210808"/>
            <a:ext cx="4475400" cy="265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dirty="0">
                <a:solidFill>
                  <a:schemeClr val="bg1">
                    <a:lumMod val="10000"/>
                  </a:schemeClr>
                </a:solidFill>
                <a:latin typeface="VT323"/>
                <a:ea typeface="VT323"/>
                <a:cs typeface="VT323"/>
                <a:sym typeface="VT323"/>
              </a:rPr>
              <a:t>Evolution. Timeline.</a:t>
            </a:r>
            <a:endParaRPr sz="1600" dirty="0">
              <a:solidFill>
                <a:schemeClr val="bg1">
                  <a:lumMod val="10000"/>
                </a:schemeClr>
              </a:solidFill>
              <a:latin typeface="VT323"/>
              <a:ea typeface="VT323"/>
              <a:cs typeface="VT323"/>
              <a:sym typeface="VT323"/>
            </a:endParaRPr>
          </a:p>
        </p:txBody>
      </p:sp>
      <p:pic>
        <p:nvPicPr>
          <p:cNvPr id="5122" name="Picture 2">
            <a:extLst>
              <a:ext uri="{FF2B5EF4-FFF2-40B4-BE49-F238E27FC236}">
                <a16:creationId xmlns:a16="http://schemas.microsoft.com/office/drawing/2014/main" id="{AD0D95A0-5D56-428A-E42D-C13AA1EB5D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2940" y="805250"/>
            <a:ext cx="457200" cy="4572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Node.js logo vector (eps, svg) free download - Brandlogos.net">
            <a:extLst>
              <a:ext uri="{FF2B5EF4-FFF2-40B4-BE49-F238E27FC236}">
                <a16:creationId xmlns:a16="http://schemas.microsoft.com/office/drawing/2014/main" id="{4AEF7386-BC24-1EA7-1174-AAEE0BCDF9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391" y="187112"/>
            <a:ext cx="928654" cy="2771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pic>
        <p:nvPicPr>
          <p:cNvPr id="3" name="Picture 2" descr="Node.js logo vector (eps, svg) free download - Brandlogos.net">
            <a:extLst>
              <a:ext uri="{FF2B5EF4-FFF2-40B4-BE49-F238E27FC236}">
                <a16:creationId xmlns:a16="http://schemas.microsoft.com/office/drawing/2014/main" id="{446564C7-CCDC-33F2-405B-80D6672BDE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391" y="187112"/>
            <a:ext cx="928654" cy="277145"/>
          </a:xfrm>
          <a:prstGeom prst="rect">
            <a:avLst/>
          </a:prstGeom>
          <a:noFill/>
          <a:extLst>
            <a:ext uri="{909E8E84-426E-40DD-AFC4-6F175D3DCCD1}">
              <a14:hiddenFill xmlns:a14="http://schemas.microsoft.com/office/drawing/2010/main">
                <a:solidFill>
                  <a:srgbClr val="FFFFFF"/>
                </a:solidFill>
              </a14:hiddenFill>
            </a:ext>
          </a:extLst>
        </p:spPr>
      </p:pic>
      <p:sp>
        <p:nvSpPr>
          <p:cNvPr id="314" name="Google Shape;314;p37"/>
          <p:cNvSpPr txBox="1">
            <a:spLocks noGrp="1"/>
          </p:cNvSpPr>
          <p:nvPr>
            <p:ph type="title"/>
          </p:nvPr>
        </p:nvSpPr>
        <p:spPr>
          <a:xfrm>
            <a:off x="1358420" y="3449765"/>
            <a:ext cx="2301625" cy="720476"/>
          </a:xfrm>
          <a:prstGeom prst="rect">
            <a:avLst/>
          </a:prstGeom>
          <a:solidFill>
            <a:srgbClr val="FFC000"/>
          </a:solidFill>
        </p:spPr>
        <p:txBody>
          <a:bodyPr spcFirstLastPara="1" wrap="square" lIns="91425" tIns="91425" rIns="91425" bIns="91425" anchor="t" anchorCtr="0">
            <a:noAutofit/>
          </a:bodyPr>
          <a:lstStyle/>
          <a:p>
            <a:pPr marL="0" lvl="0" indent="0" algn="ctr" rtl="0">
              <a:spcBef>
                <a:spcPts val="0"/>
              </a:spcBef>
              <a:spcAft>
                <a:spcPts val="0"/>
              </a:spcAft>
              <a:buNone/>
            </a:pPr>
            <a:r>
              <a:rPr lang="en" dirty="0"/>
              <a:t>Figures. </a:t>
            </a:r>
            <a:r>
              <a:rPr lang="en-US" dirty="0"/>
              <a:t>Diagrams of  node.js architecture</a:t>
            </a:r>
            <a:br>
              <a:rPr lang="en-US" dirty="0"/>
            </a:br>
            <a:endParaRPr dirty="0">
              <a:latin typeface="Roboto Mono" panose="00000009000000000000" pitchFamily="49" charset="0"/>
              <a:ea typeface="Roboto Mono" panose="00000009000000000000" pitchFamily="49" charset="0"/>
            </a:endParaRPr>
          </a:p>
        </p:txBody>
      </p:sp>
      <p:sp>
        <p:nvSpPr>
          <p:cNvPr id="8" name="Google Shape;182;p28">
            <a:extLst>
              <a:ext uri="{FF2B5EF4-FFF2-40B4-BE49-F238E27FC236}">
                <a16:creationId xmlns:a16="http://schemas.microsoft.com/office/drawing/2014/main" id="{A2536791-A227-EDCC-2095-896F79DA61D7}"/>
              </a:ext>
            </a:extLst>
          </p:cNvPr>
          <p:cNvSpPr txBox="1"/>
          <p:nvPr/>
        </p:nvSpPr>
        <p:spPr>
          <a:xfrm>
            <a:off x="1358420" y="210808"/>
            <a:ext cx="4475400" cy="265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dirty="0">
                <a:solidFill>
                  <a:schemeClr val="bg1">
                    <a:lumMod val="10000"/>
                  </a:schemeClr>
                </a:solidFill>
                <a:latin typeface="VT323"/>
                <a:ea typeface="VT323"/>
                <a:cs typeface="VT323"/>
                <a:sym typeface="VT323"/>
              </a:rPr>
              <a:t>High-level Process Model</a:t>
            </a:r>
          </a:p>
        </p:txBody>
      </p:sp>
      <p:grpSp>
        <p:nvGrpSpPr>
          <p:cNvPr id="11" name="Group 10">
            <a:extLst>
              <a:ext uri="{FF2B5EF4-FFF2-40B4-BE49-F238E27FC236}">
                <a16:creationId xmlns:a16="http://schemas.microsoft.com/office/drawing/2014/main" id="{A2C7FB39-E3B6-1014-8FED-548EF58C85E5}"/>
              </a:ext>
            </a:extLst>
          </p:cNvPr>
          <p:cNvGrpSpPr/>
          <p:nvPr/>
        </p:nvGrpSpPr>
        <p:grpSpPr>
          <a:xfrm>
            <a:off x="4691494" y="1968949"/>
            <a:ext cx="4496404" cy="3212651"/>
            <a:chOff x="3846328" y="1424940"/>
            <a:chExt cx="4850508" cy="3373595"/>
          </a:xfrm>
        </p:grpSpPr>
        <p:pic>
          <p:nvPicPr>
            <p:cNvPr id="10" name="Google Shape;362;p40" title="7746071.png">
              <a:extLst>
                <a:ext uri="{FF2B5EF4-FFF2-40B4-BE49-F238E27FC236}">
                  <a16:creationId xmlns:a16="http://schemas.microsoft.com/office/drawing/2014/main" id="{4D0F0626-F4D2-2590-8E8D-77560891F631}"/>
                </a:ext>
              </a:extLst>
            </p:cNvPr>
            <p:cNvPicPr preferRelativeResize="0">
              <a:picLocks/>
            </p:cNvPicPr>
            <p:nvPr/>
          </p:nvPicPr>
          <p:blipFill rotWithShape="1">
            <a:blip r:embed="rId4">
              <a:alphaModFix/>
            </a:blip>
            <a:srcRect l="6145" t="10808" r="11691" b="37477"/>
            <a:stretch/>
          </p:blipFill>
          <p:spPr>
            <a:xfrm>
              <a:off x="3846328" y="1424940"/>
              <a:ext cx="4850508" cy="3373595"/>
            </a:xfrm>
            <a:prstGeom prst="rect">
              <a:avLst/>
            </a:prstGeom>
            <a:noFill/>
            <a:ln>
              <a:noFill/>
            </a:ln>
          </p:spPr>
        </p:pic>
        <p:pic>
          <p:nvPicPr>
            <p:cNvPr id="13314" name="Picture 2">
              <a:extLst>
                <a:ext uri="{FF2B5EF4-FFF2-40B4-BE49-F238E27FC236}">
                  <a16:creationId xmlns:a16="http://schemas.microsoft.com/office/drawing/2014/main" id="{6CBBD309-7D6B-F2FC-4E91-6F76CAD52CC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20506"/>
            <a:stretch/>
          </p:blipFill>
          <p:spPr bwMode="auto">
            <a:xfrm>
              <a:off x="3983831" y="2003218"/>
              <a:ext cx="4569773" cy="199915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9" name="Group 18">
            <a:extLst>
              <a:ext uri="{FF2B5EF4-FFF2-40B4-BE49-F238E27FC236}">
                <a16:creationId xmlns:a16="http://schemas.microsoft.com/office/drawing/2014/main" id="{27CE8AF0-B88A-95C7-181B-ECF30DD53074}"/>
              </a:ext>
            </a:extLst>
          </p:cNvPr>
          <p:cNvGrpSpPr/>
          <p:nvPr/>
        </p:nvGrpSpPr>
        <p:grpSpPr>
          <a:xfrm>
            <a:off x="332280" y="741017"/>
            <a:ext cx="5231812" cy="1983386"/>
            <a:chOff x="259904" y="1002072"/>
            <a:chExt cx="5696285" cy="2240159"/>
          </a:xfrm>
        </p:grpSpPr>
        <p:grpSp>
          <p:nvGrpSpPr>
            <p:cNvPr id="15" name="Google Shape;252;p31">
              <a:extLst>
                <a:ext uri="{FF2B5EF4-FFF2-40B4-BE49-F238E27FC236}">
                  <a16:creationId xmlns:a16="http://schemas.microsoft.com/office/drawing/2014/main" id="{1EB0A1B9-DCFA-C208-8852-0F0161DA27C3}"/>
                </a:ext>
              </a:extLst>
            </p:cNvPr>
            <p:cNvGrpSpPr/>
            <p:nvPr/>
          </p:nvGrpSpPr>
          <p:grpSpPr>
            <a:xfrm>
              <a:off x="259904" y="1002072"/>
              <a:ext cx="3771075" cy="265500"/>
              <a:chOff x="511225" y="947025"/>
              <a:chExt cx="2971350" cy="265500"/>
            </a:xfrm>
          </p:grpSpPr>
          <p:pic>
            <p:nvPicPr>
              <p:cNvPr id="16" name="Google Shape;253;p31" title="Sin título-2.png">
                <a:extLst>
                  <a:ext uri="{FF2B5EF4-FFF2-40B4-BE49-F238E27FC236}">
                    <a16:creationId xmlns:a16="http://schemas.microsoft.com/office/drawing/2014/main" id="{7753B0F7-FF5D-AF99-15DA-A0280E01A210}"/>
                  </a:ext>
                </a:extLst>
              </p:cNvPr>
              <p:cNvPicPr preferRelativeResize="0"/>
              <p:nvPr/>
            </p:nvPicPr>
            <p:blipFill rotWithShape="1">
              <a:blip r:embed="rId6">
                <a:alphaModFix/>
              </a:blip>
              <a:srcRect l="60127"/>
              <a:stretch/>
            </p:blipFill>
            <p:spPr>
              <a:xfrm>
                <a:off x="512775" y="947025"/>
                <a:ext cx="2969800" cy="265500"/>
              </a:xfrm>
              <a:prstGeom prst="rect">
                <a:avLst/>
              </a:prstGeom>
              <a:noFill/>
              <a:ln>
                <a:noFill/>
              </a:ln>
            </p:spPr>
          </p:pic>
          <p:pic>
            <p:nvPicPr>
              <p:cNvPr id="17" name="Google Shape;254;p31" title="Sin título-2.png">
                <a:extLst>
                  <a:ext uri="{FF2B5EF4-FFF2-40B4-BE49-F238E27FC236}">
                    <a16:creationId xmlns:a16="http://schemas.microsoft.com/office/drawing/2014/main" id="{1F2CD6F7-C272-D296-3870-6E8162A09721}"/>
                  </a:ext>
                </a:extLst>
              </p:cNvPr>
              <p:cNvPicPr preferRelativeResize="0"/>
              <p:nvPr/>
            </p:nvPicPr>
            <p:blipFill rotWithShape="1">
              <a:blip r:embed="rId6">
                <a:alphaModFix/>
              </a:blip>
              <a:srcRect l="60127"/>
              <a:stretch/>
            </p:blipFill>
            <p:spPr>
              <a:xfrm>
                <a:off x="511225" y="947025"/>
                <a:ext cx="2969800" cy="265500"/>
              </a:xfrm>
              <a:prstGeom prst="rect">
                <a:avLst/>
              </a:prstGeom>
              <a:noFill/>
              <a:ln>
                <a:noFill/>
              </a:ln>
            </p:spPr>
          </p:pic>
        </p:grpSp>
        <p:pic>
          <p:nvPicPr>
            <p:cNvPr id="6" name="Picture 5">
              <a:extLst>
                <a:ext uri="{FF2B5EF4-FFF2-40B4-BE49-F238E27FC236}">
                  <a16:creationId xmlns:a16="http://schemas.microsoft.com/office/drawing/2014/main" id="{30B952FC-A032-F7C8-8B21-EF66B3BB2F36}"/>
                </a:ext>
              </a:extLst>
            </p:cNvPr>
            <p:cNvPicPr>
              <a:picLocks noChangeAspect="1"/>
            </p:cNvPicPr>
            <p:nvPr/>
          </p:nvPicPr>
          <p:blipFill>
            <a:blip r:embed="rId7"/>
            <a:stretch>
              <a:fillRect/>
            </a:stretch>
          </p:blipFill>
          <p:spPr>
            <a:xfrm>
              <a:off x="259905" y="1264380"/>
              <a:ext cx="5695509" cy="1977851"/>
            </a:xfrm>
            <a:prstGeom prst="rect">
              <a:avLst/>
            </a:prstGeom>
          </p:spPr>
        </p:pic>
        <p:grpSp>
          <p:nvGrpSpPr>
            <p:cNvPr id="12" name="Google Shape;252;p31">
              <a:extLst>
                <a:ext uri="{FF2B5EF4-FFF2-40B4-BE49-F238E27FC236}">
                  <a16:creationId xmlns:a16="http://schemas.microsoft.com/office/drawing/2014/main" id="{F1983166-7794-A8FB-3572-74C8FD1372BD}"/>
                </a:ext>
              </a:extLst>
            </p:cNvPr>
            <p:cNvGrpSpPr/>
            <p:nvPr/>
          </p:nvGrpSpPr>
          <p:grpSpPr>
            <a:xfrm>
              <a:off x="2984839" y="1002072"/>
              <a:ext cx="2971350" cy="265500"/>
              <a:chOff x="511225" y="947025"/>
              <a:chExt cx="2971350" cy="265500"/>
            </a:xfrm>
          </p:grpSpPr>
          <p:pic>
            <p:nvPicPr>
              <p:cNvPr id="13" name="Google Shape;253;p31" title="Sin título-2.png">
                <a:extLst>
                  <a:ext uri="{FF2B5EF4-FFF2-40B4-BE49-F238E27FC236}">
                    <a16:creationId xmlns:a16="http://schemas.microsoft.com/office/drawing/2014/main" id="{F86C2242-2ECF-4071-B24F-B188898B99C7}"/>
                  </a:ext>
                </a:extLst>
              </p:cNvPr>
              <p:cNvPicPr preferRelativeResize="0"/>
              <p:nvPr/>
            </p:nvPicPr>
            <p:blipFill rotWithShape="1">
              <a:blip r:embed="rId6">
                <a:alphaModFix/>
              </a:blip>
              <a:srcRect l="60127"/>
              <a:stretch/>
            </p:blipFill>
            <p:spPr>
              <a:xfrm>
                <a:off x="512775" y="947025"/>
                <a:ext cx="2969800" cy="265500"/>
              </a:xfrm>
              <a:prstGeom prst="rect">
                <a:avLst/>
              </a:prstGeom>
              <a:noFill/>
              <a:ln>
                <a:noFill/>
              </a:ln>
            </p:spPr>
          </p:pic>
          <p:pic>
            <p:nvPicPr>
              <p:cNvPr id="14" name="Google Shape;254;p31" title="Sin título-2.png">
                <a:extLst>
                  <a:ext uri="{FF2B5EF4-FFF2-40B4-BE49-F238E27FC236}">
                    <a16:creationId xmlns:a16="http://schemas.microsoft.com/office/drawing/2014/main" id="{E2C6EB67-81B4-53F2-0C15-00ACC2AC1632}"/>
                  </a:ext>
                </a:extLst>
              </p:cNvPr>
              <p:cNvPicPr preferRelativeResize="0"/>
              <p:nvPr/>
            </p:nvPicPr>
            <p:blipFill rotWithShape="1">
              <a:blip r:embed="rId6">
                <a:alphaModFix/>
              </a:blip>
              <a:srcRect l="60127"/>
              <a:stretch/>
            </p:blipFill>
            <p:spPr>
              <a:xfrm>
                <a:off x="511225" y="947025"/>
                <a:ext cx="2969800" cy="265500"/>
              </a:xfrm>
              <a:prstGeom prst="rect">
                <a:avLst/>
              </a:prstGeom>
              <a:noFill/>
              <a:ln>
                <a:noFill/>
              </a:ln>
            </p:spPr>
          </p:pic>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5"/>
          <p:cNvSpPr txBox="1">
            <a:spLocks noGrp="1"/>
          </p:cNvSpPr>
          <p:nvPr>
            <p:ph type="title" idx="6"/>
          </p:nvPr>
        </p:nvSpPr>
        <p:spPr>
          <a:xfrm>
            <a:off x="341850" y="654800"/>
            <a:ext cx="8249700" cy="60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High-level Process Model</a:t>
            </a:r>
          </a:p>
        </p:txBody>
      </p:sp>
      <p:sp>
        <p:nvSpPr>
          <p:cNvPr id="286" name="Google Shape;286;p35"/>
          <p:cNvSpPr txBox="1">
            <a:spLocks noGrp="1"/>
          </p:cNvSpPr>
          <p:nvPr>
            <p:ph type="subTitle" idx="1"/>
          </p:nvPr>
        </p:nvSpPr>
        <p:spPr>
          <a:xfrm>
            <a:off x="3145041" y="2207845"/>
            <a:ext cx="2599200" cy="2010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Handles callbacks, timers, pending I/O</a:t>
            </a:r>
          </a:p>
        </p:txBody>
      </p:sp>
      <p:sp>
        <p:nvSpPr>
          <p:cNvPr id="287" name="Google Shape;287;p35"/>
          <p:cNvSpPr txBox="1">
            <a:spLocks noGrp="1"/>
          </p:cNvSpPr>
          <p:nvPr>
            <p:ph type="subTitle" idx="2"/>
          </p:nvPr>
        </p:nvSpPr>
        <p:spPr>
          <a:xfrm>
            <a:off x="340715" y="2050581"/>
            <a:ext cx="2599200" cy="2010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Single-threaded event loop for I/O operations</a:t>
            </a:r>
          </a:p>
        </p:txBody>
      </p:sp>
      <p:sp>
        <p:nvSpPr>
          <p:cNvPr id="288" name="Google Shape;288;p35"/>
          <p:cNvSpPr txBox="1">
            <a:spLocks noGrp="1"/>
          </p:cNvSpPr>
          <p:nvPr>
            <p:ph type="subTitle" idx="3"/>
          </p:nvPr>
        </p:nvSpPr>
        <p:spPr>
          <a:xfrm>
            <a:off x="5948232" y="2028795"/>
            <a:ext cx="2599200" cy="2010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Master process spawns workers for multi-core utilization</a:t>
            </a:r>
          </a:p>
        </p:txBody>
      </p:sp>
      <p:sp>
        <p:nvSpPr>
          <p:cNvPr id="289" name="Google Shape;289;p35"/>
          <p:cNvSpPr txBox="1">
            <a:spLocks noGrp="1"/>
          </p:cNvSpPr>
          <p:nvPr>
            <p:ph type="title"/>
          </p:nvPr>
        </p:nvSpPr>
        <p:spPr>
          <a:xfrm>
            <a:off x="3144431" y="1706300"/>
            <a:ext cx="2404313" cy="31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chemeClr val="bg1">
                    <a:lumMod val="10000"/>
                  </a:schemeClr>
                </a:solidFill>
              </a:rPr>
              <a:t>Event loop integration</a:t>
            </a:r>
            <a:endParaRPr dirty="0">
              <a:solidFill>
                <a:schemeClr val="bg1">
                  <a:lumMod val="10000"/>
                </a:schemeClr>
              </a:solidFill>
            </a:endParaRPr>
          </a:p>
        </p:txBody>
      </p:sp>
      <p:sp>
        <p:nvSpPr>
          <p:cNvPr id="290" name="Google Shape;290;p35"/>
          <p:cNvSpPr txBox="1">
            <a:spLocks noGrp="1"/>
          </p:cNvSpPr>
          <p:nvPr>
            <p:ph type="title" idx="4"/>
          </p:nvPr>
        </p:nvSpPr>
        <p:spPr>
          <a:xfrm>
            <a:off x="341854" y="1706450"/>
            <a:ext cx="2993628" cy="310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chemeClr val="bg1">
                    <a:lumMod val="10000"/>
                  </a:schemeClr>
                </a:solidFill>
              </a:rPr>
              <a:t>Main process</a:t>
            </a:r>
            <a:endParaRPr dirty="0">
              <a:solidFill>
                <a:schemeClr val="bg1">
                  <a:lumMod val="10000"/>
                </a:schemeClr>
              </a:solidFill>
            </a:endParaRPr>
          </a:p>
        </p:txBody>
      </p:sp>
      <p:sp>
        <p:nvSpPr>
          <p:cNvPr id="291" name="Google Shape;291;p35"/>
          <p:cNvSpPr txBox="1">
            <a:spLocks noGrp="1"/>
          </p:cNvSpPr>
          <p:nvPr>
            <p:ph type="title" idx="5"/>
          </p:nvPr>
        </p:nvSpPr>
        <p:spPr>
          <a:xfrm>
            <a:off x="5948295" y="1706300"/>
            <a:ext cx="1772150" cy="31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chemeClr val="bg1">
                    <a:lumMod val="10000"/>
                  </a:schemeClr>
                </a:solidFill>
              </a:rPr>
              <a:t>Clustering</a:t>
            </a:r>
            <a:endParaRPr dirty="0">
              <a:solidFill>
                <a:schemeClr val="bg1">
                  <a:lumMod val="10000"/>
                </a:schemeClr>
              </a:solidFill>
            </a:endParaRPr>
          </a:p>
        </p:txBody>
      </p:sp>
      <p:sp>
        <p:nvSpPr>
          <p:cNvPr id="2" name="Google Shape;291;p35">
            <a:extLst>
              <a:ext uri="{FF2B5EF4-FFF2-40B4-BE49-F238E27FC236}">
                <a16:creationId xmlns:a16="http://schemas.microsoft.com/office/drawing/2014/main" id="{5504EBEA-440C-A460-2C54-AA51EB5B50D2}"/>
              </a:ext>
            </a:extLst>
          </p:cNvPr>
          <p:cNvSpPr txBox="1">
            <a:spLocks/>
          </p:cNvSpPr>
          <p:nvPr/>
        </p:nvSpPr>
        <p:spPr>
          <a:xfrm>
            <a:off x="3165965" y="2900181"/>
            <a:ext cx="1772150" cy="310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T323"/>
              <a:buNone/>
              <a:defRPr sz="2300" b="0" i="0" u="none" strike="noStrike" cap="none">
                <a:solidFill>
                  <a:schemeClr val="dk2"/>
                </a:solidFill>
                <a:latin typeface="VT323"/>
                <a:ea typeface="VT323"/>
                <a:cs typeface="VT323"/>
                <a:sym typeface="VT323"/>
              </a:defRPr>
            </a:lvl1pPr>
            <a:lvl2pPr marR="0" lvl="1" algn="ctr" rtl="0">
              <a:lnSpc>
                <a:spcPct val="100000"/>
              </a:lnSpc>
              <a:spcBef>
                <a:spcPts val="0"/>
              </a:spcBef>
              <a:spcAft>
                <a:spcPts val="0"/>
              </a:spcAft>
              <a:buClr>
                <a:schemeClr val="dk1"/>
              </a:buClr>
              <a:buSzPts val="6200"/>
              <a:buFont typeface="VT323"/>
              <a:buNone/>
              <a:defRPr sz="6200" b="0" i="0" u="none" strike="noStrike" cap="none">
                <a:solidFill>
                  <a:schemeClr val="dk1"/>
                </a:solidFill>
                <a:latin typeface="VT323"/>
                <a:ea typeface="VT323"/>
                <a:cs typeface="VT323"/>
                <a:sym typeface="VT323"/>
              </a:defRPr>
            </a:lvl2pPr>
            <a:lvl3pPr marR="0" lvl="2" algn="ctr" rtl="0">
              <a:lnSpc>
                <a:spcPct val="100000"/>
              </a:lnSpc>
              <a:spcBef>
                <a:spcPts val="0"/>
              </a:spcBef>
              <a:spcAft>
                <a:spcPts val="0"/>
              </a:spcAft>
              <a:buClr>
                <a:schemeClr val="dk1"/>
              </a:buClr>
              <a:buSzPts val="6200"/>
              <a:buFont typeface="VT323"/>
              <a:buNone/>
              <a:defRPr sz="6200" b="0" i="0" u="none" strike="noStrike" cap="none">
                <a:solidFill>
                  <a:schemeClr val="dk1"/>
                </a:solidFill>
                <a:latin typeface="VT323"/>
                <a:ea typeface="VT323"/>
                <a:cs typeface="VT323"/>
                <a:sym typeface="VT323"/>
              </a:defRPr>
            </a:lvl3pPr>
            <a:lvl4pPr marR="0" lvl="3" algn="ctr" rtl="0">
              <a:lnSpc>
                <a:spcPct val="100000"/>
              </a:lnSpc>
              <a:spcBef>
                <a:spcPts val="0"/>
              </a:spcBef>
              <a:spcAft>
                <a:spcPts val="0"/>
              </a:spcAft>
              <a:buClr>
                <a:schemeClr val="dk1"/>
              </a:buClr>
              <a:buSzPts val="6200"/>
              <a:buFont typeface="VT323"/>
              <a:buNone/>
              <a:defRPr sz="6200" b="0" i="0" u="none" strike="noStrike" cap="none">
                <a:solidFill>
                  <a:schemeClr val="dk1"/>
                </a:solidFill>
                <a:latin typeface="VT323"/>
                <a:ea typeface="VT323"/>
                <a:cs typeface="VT323"/>
                <a:sym typeface="VT323"/>
              </a:defRPr>
            </a:lvl4pPr>
            <a:lvl5pPr marR="0" lvl="4" algn="ctr" rtl="0">
              <a:lnSpc>
                <a:spcPct val="100000"/>
              </a:lnSpc>
              <a:spcBef>
                <a:spcPts val="0"/>
              </a:spcBef>
              <a:spcAft>
                <a:spcPts val="0"/>
              </a:spcAft>
              <a:buClr>
                <a:schemeClr val="dk1"/>
              </a:buClr>
              <a:buSzPts val="6200"/>
              <a:buFont typeface="VT323"/>
              <a:buNone/>
              <a:defRPr sz="6200" b="0" i="0" u="none" strike="noStrike" cap="none">
                <a:solidFill>
                  <a:schemeClr val="dk1"/>
                </a:solidFill>
                <a:latin typeface="VT323"/>
                <a:ea typeface="VT323"/>
                <a:cs typeface="VT323"/>
                <a:sym typeface="VT323"/>
              </a:defRPr>
            </a:lvl5pPr>
            <a:lvl6pPr marR="0" lvl="5" algn="ctr" rtl="0">
              <a:lnSpc>
                <a:spcPct val="100000"/>
              </a:lnSpc>
              <a:spcBef>
                <a:spcPts val="0"/>
              </a:spcBef>
              <a:spcAft>
                <a:spcPts val="0"/>
              </a:spcAft>
              <a:buClr>
                <a:schemeClr val="dk1"/>
              </a:buClr>
              <a:buSzPts val="6200"/>
              <a:buFont typeface="VT323"/>
              <a:buNone/>
              <a:defRPr sz="6200" b="0" i="0" u="none" strike="noStrike" cap="none">
                <a:solidFill>
                  <a:schemeClr val="dk1"/>
                </a:solidFill>
                <a:latin typeface="VT323"/>
                <a:ea typeface="VT323"/>
                <a:cs typeface="VT323"/>
                <a:sym typeface="VT323"/>
              </a:defRPr>
            </a:lvl6pPr>
            <a:lvl7pPr marR="0" lvl="6" algn="ctr" rtl="0">
              <a:lnSpc>
                <a:spcPct val="100000"/>
              </a:lnSpc>
              <a:spcBef>
                <a:spcPts val="0"/>
              </a:spcBef>
              <a:spcAft>
                <a:spcPts val="0"/>
              </a:spcAft>
              <a:buClr>
                <a:schemeClr val="dk1"/>
              </a:buClr>
              <a:buSzPts val="6200"/>
              <a:buFont typeface="VT323"/>
              <a:buNone/>
              <a:defRPr sz="6200" b="0" i="0" u="none" strike="noStrike" cap="none">
                <a:solidFill>
                  <a:schemeClr val="dk1"/>
                </a:solidFill>
                <a:latin typeface="VT323"/>
                <a:ea typeface="VT323"/>
                <a:cs typeface="VT323"/>
                <a:sym typeface="VT323"/>
              </a:defRPr>
            </a:lvl7pPr>
            <a:lvl8pPr marR="0" lvl="7" algn="ctr" rtl="0">
              <a:lnSpc>
                <a:spcPct val="100000"/>
              </a:lnSpc>
              <a:spcBef>
                <a:spcPts val="0"/>
              </a:spcBef>
              <a:spcAft>
                <a:spcPts val="0"/>
              </a:spcAft>
              <a:buClr>
                <a:schemeClr val="dk1"/>
              </a:buClr>
              <a:buSzPts val="6200"/>
              <a:buFont typeface="VT323"/>
              <a:buNone/>
              <a:defRPr sz="6200" b="0" i="0" u="none" strike="noStrike" cap="none">
                <a:solidFill>
                  <a:schemeClr val="dk1"/>
                </a:solidFill>
                <a:latin typeface="VT323"/>
                <a:ea typeface="VT323"/>
                <a:cs typeface="VT323"/>
                <a:sym typeface="VT323"/>
              </a:defRPr>
            </a:lvl8pPr>
            <a:lvl9pPr marR="0" lvl="8" algn="ctr" rtl="0">
              <a:lnSpc>
                <a:spcPct val="100000"/>
              </a:lnSpc>
              <a:spcBef>
                <a:spcPts val="0"/>
              </a:spcBef>
              <a:spcAft>
                <a:spcPts val="0"/>
              </a:spcAft>
              <a:buClr>
                <a:schemeClr val="dk1"/>
              </a:buClr>
              <a:buSzPts val="6200"/>
              <a:buFont typeface="VT323"/>
              <a:buNone/>
              <a:defRPr sz="6200" b="0" i="0" u="none" strike="noStrike" cap="none">
                <a:solidFill>
                  <a:schemeClr val="dk1"/>
                </a:solidFill>
                <a:latin typeface="VT323"/>
                <a:ea typeface="VT323"/>
                <a:cs typeface="VT323"/>
                <a:sym typeface="VT323"/>
              </a:defRPr>
            </a:lvl9pPr>
          </a:lstStyle>
          <a:p>
            <a:r>
              <a:rPr lang="en-US" dirty="0">
                <a:solidFill>
                  <a:schemeClr val="bg1">
                    <a:lumMod val="10000"/>
                  </a:schemeClr>
                </a:solidFill>
              </a:rPr>
              <a:t>Hot reloading</a:t>
            </a:r>
          </a:p>
        </p:txBody>
      </p:sp>
      <p:sp>
        <p:nvSpPr>
          <p:cNvPr id="3" name="Google Shape;291;p35">
            <a:extLst>
              <a:ext uri="{FF2B5EF4-FFF2-40B4-BE49-F238E27FC236}">
                <a16:creationId xmlns:a16="http://schemas.microsoft.com/office/drawing/2014/main" id="{E275F0D8-2E2B-E108-AD03-33D1476DEAC4}"/>
              </a:ext>
            </a:extLst>
          </p:cNvPr>
          <p:cNvSpPr txBox="1">
            <a:spLocks/>
          </p:cNvSpPr>
          <p:nvPr/>
        </p:nvSpPr>
        <p:spPr>
          <a:xfrm>
            <a:off x="319791" y="2878395"/>
            <a:ext cx="3251699" cy="310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T323"/>
              <a:buNone/>
              <a:defRPr sz="2300" b="0" i="0" u="none" strike="noStrike" cap="none">
                <a:solidFill>
                  <a:schemeClr val="dk2"/>
                </a:solidFill>
                <a:latin typeface="VT323"/>
                <a:ea typeface="VT323"/>
                <a:cs typeface="VT323"/>
                <a:sym typeface="VT323"/>
              </a:defRPr>
            </a:lvl1pPr>
            <a:lvl2pPr marR="0" lvl="1" algn="ctr" rtl="0">
              <a:lnSpc>
                <a:spcPct val="100000"/>
              </a:lnSpc>
              <a:spcBef>
                <a:spcPts val="0"/>
              </a:spcBef>
              <a:spcAft>
                <a:spcPts val="0"/>
              </a:spcAft>
              <a:buClr>
                <a:schemeClr val="dk1"/>
              </a:buClr>
              <a:buSzPts val="6200"/>
              <a:buFont typeface="VT323"/>
              <a:buNone/>
              <a:defRPr sz="6200" b="0" i="0" u="none" strike="noStrike" cap="none">
                <a:solidFill>
                  <a:schemeClr val="dk1"/>
                </a:solidFill>
                <a:latin typeface="VT323"/>
                <a:ea typeface="VT323"/>
                <a:cs typeface="VT323"/>
                <a:sym typeface="VT323"/>
              </a:defRPr>
            </a:lvl2pPr>
            <a:lvl3pPr marR="0" lvl="2" algn="ctr" rtl="0">
              <a:lnSpc>
                <a:spcPct val="100000"/>
              </a:lnSpc>
              <a:spcBef>
                <a:spcPts val="0"/>
              </a:spcBef>
              <a:spcAft>
                <a:spcPts val="0"/>
              </a:spcAft>
              <a:buClr>
                <a:schemeClr val="dk1"/>
              </a:buClr>
              <a:buSzPts val="6200"/>
              <a:buFont typeface="VT323"/>
              <a:buNone/>
              <a:defRPr sz="6200" b="0" i="0" u="none" strike="noStrike" cap="none">
                <a:solidFill>
                  <a:schemeClr val="dk1"/>
                </a:solidFill>
                <a:latin typeface="VT323"/>
                <a:ea typeface="VT323"/>
                <a:cs typeface="VT323"/>
                <a:sym typeface="VT323"/>
              </a:defRPr>
            </a:lvl3pPr>
            <a:lvl4pPr marR="0" lvl="3" algn="ctr" rtl="0">
              <a:lnSpc>
                <a:spcPct val="100000"/>
              </a:lnSpc>
              <a:spcBef>
                <a:spcPts val="0"/>
              </a:spcBef>
              <a:spcAft>
                <a:spcPts val="0"/>
              </a:spcAft>
              <a:buClr>
                <a:schemeClr val="dk1"/>
              </a:buClr>
              <a:buSzPts val="6200"/>
              <a:buFont typeface="VT323"/>
              <a:buNone/>
              <a:defRPr sz="6200" b="0" i="0" u="none" strike="noStrike" cap="none">
                <a:solidFill>
                  <a:schemeClr val="dk1"/>
                </a:solidFill>
                <a:latin typeface="VT323"/>
                <a:ea typeface="VT323"/>
                <a:cs typeface="VT323"/>
                <a:sym typeface="VT323"/>
              </a:defRPr>
            </a:lvl4pPr>
            <a:lvl5pPr marR="0" lvl="4" algn="ctr" rtl="0">
              <a:lnSpc>
                <a:spcPct val="100000"/>
              </a:lnSpc>
              <a:spcBef>
                <a:spcPts val="0"/>
              </a:spcBef>
              <a:spcAft>
                <a:spcPts val="0"/>
              </a:spcAft>
              <a:buClr>
                <a:schemeClr val="dk1"/>
              </a:buClr>
              <a:buSzPts val="6200"/>
              <a:buFont typeface="VT323"/>
              <a:buNone/>
              <a:defRPr sz="6200" b="0" i="0" u="none" strike="noStrike" cap="none">
                <a:solidFill>
                  <a:schemeClr val="dk1"/>
                </a:solidFill>
                <a:latin typeface="VT323"/>
                <a:ea typeface="VT323"/>
                <a:cs typeface="VT323"/>
                <a:sym typeface="VT323"/>
              </a:defRPr>
            </a:lvl5pPr>
            <a:lvl6pPr marR="0" lvl="5" algn="ctr" rtl="0">
              <a:lnSpc>
                <a:spcPct val="100000"/>
              </a:lnSpc>
              <a:spcBef>
                <a:spcPts val="0"/>
              </a:spcBef>
              <a:spcAft>
                <a:spcPts val="0"/>
              </a:spcAft>
              <a:buClr>
                <a:schemeClr val="dk1"/>
              </a:buClr>
              <a:buSzPts val="6200"/>
              <a:buFont typeface="VT323"/>
              <a:buNone/>
              <a:defRPr sz="6200" b="0" i="0" u="none" strike="noStrike" cap="none">
                <a:solidFill>
                  <a:schemeClr val="dk1"/>
                </a:solidFill>
                <a:latin typeface="VT323"/>
                <a:ea typeface="VT323"/>
                <a:cs typeface="VT323"/>
                <a:sym typeface="VT323"/>
              </a:defRPr>
            </a:lvl6pPr>
            <a:lvl7pPr marR="0" lvl="6" algn="ctr" rtl="0">
              <a:lnSpc>
                <a:spcPct val="100000"/>
              </a:lnSpc>
              <a:spcBef>
                <a:spcPts val="0"/>
              </a:spcBef>
              <a:spcAft>
                <a:spcPts val="0"/>
              </a:spcAft>
              <a:buClr>
                <a:schemeClr val="dk1"/>
              </a:buClr>
              <a:buSzPts val="6200"/>
              <a:buFont typeface="VT323"/>
              <a:buNone/>
              <a:defRPr sz="6200" b="0" i="0" u="none" strike="noStrike" cap="none">
                <a:solidFill>
                  <a:schemeClr val="dk1"/>
                </a:solidFill>
                <a:latin typeface="VT323"/>
                <a:ea typeface="VT323"/>
                <a:cs typeface="VT323"/>
                <a:sym typeface="VT323"/>
              </a:defRPr>
            </a:lvl7pPr>
            <a:lvl8pPr marR="0" lvl="7" algn="ctr" rtl="0">
              <a:lnSpc>
                <a:spcPct val="100000"/>
              </a:lnSpc>
              <a:spcBef>
                <a:spcPts val="0"/>
              </a:spcBef>
              <a:spcAft>
                <a:spcPts val="0"/>
              </a:spcAft>
              <a:buClr>
                <a:schemeClr val="dk1"/>
              </a:buClr>
              <a:buSzPts val="6200"/>
              <a:buFont typeface="VT323"/>
              <a:buNone/>
              <a:defRPr sz="6200" b="0" i="0" u="none" strike="noStrike" cap="none">
                <a:solidFill>
                  <a:schemeClr val="dk1"/>
                </a:solidFill>
                <a:latin typeface="VT323"/>
                <a:ea typeface="VT323"/>
                <a:cs typeface="VT323"/>
                <a:sym typeface="VT323"/>
              </a:defRPr>
            </a:lvl8pPr>
            <a:lvl9pPr marR="0" lvl="8" algn="ctr" rtl="0">
              <a:lnSpc>
                <a:spcPct val="100000"/>
              </a:lnSpc>
              <a:spcBef>
                <a:spcPts val="0"/>
              </a:spcBef>
              <a:spcAft>
                <a:spcPts val="0"/>
              </a:spcAft>
              <a:buClr>
                <a:schemeClr val="dk1"/>
              </a:buClr>
              <a:buSzPts val="6200"/>
              <a:buFont typeface="VT323"/>
              <a:buNone/>
              <a:defRPr sz="6200" b="0" i="0" u="none" strike="noStrike" cap="none">
                <a:solidFill>
                  <a:schemeClr val="dk1"/>
                </a:solidFill>
                <a:latin typeface="VT323"/>
                <a:ea typeface="VT323"/>
                <a:cs typeface="VT323"/>
                <a:sym typeface="VT323"/>
              </a:defRPr>
            </a:lvl9pPr>
          </a:lstStyle>
          <a:p>
            <a:r>
              <a:rPr lang="en-US" dirty="0">
                <a:solidFill>
                  <a:schemeClr val="bg1">
                    <a:lumMod val="10000"/>
                  </a:schemeClr>
                </a:solidFill>
              </a:rPr>
              <a:t>Privilege separation</a:t>
            </a:r>
          </a:p>
        </p:txBody>
      </p:sp>
      <p:sp>
        <p:nvSpPr>
          <p:cNvPr id="4" name="Google Shape;287;p35">
            <a:extLst>
              <a:ext uri="{FF2B5EF4-FFF2-40B4-BE49-F238E27FC236}">
                <a16:creationId xmlns:a16="http://schemas.microsoft.com/office/drawing/2014/main" id="{2E465675-CEBC-D7A9-9A55-6247AADC10DE}"/>
              </a:ext>
            </a:extLst>
          </p:cNvPr>
          <p:cNvSpPr txBox="1">
            <a:spLocks/>
          </p:cNvSpPr>
          <p:nvPr/>
        </p:nvSpPr>
        <p:spPr>
          <a:xfrm>
            <a:off x="319791" y="3274257"/>
            <a:ext cx="2599200" cy="201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Roboto Mono"/>
              <a:buNone/>
              <a:defRPr sz="1200" b="0" i="0" u="none" strike="noStrike" cap="none">
                <a:solidFill>
                  <a:schemeClr val="dk1"/>
                </a:solidFill>
                <a:latin typeface="Roboto Mono"/>
                <a:ea typeface="Roboto Mono"/>
                <a:cs typeface="Roboto Mono"/>
                <a:sym typeface="Roboto Mono"/>
              </a:defRPr>
            </a:lvl1pPr>
            <a:lvl2pPr marL="914400" marR="0" lvl="1"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2pPr>
            <a:lvl3pPr marL="1371600" marR="0" lvl="2"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3pPr>
            <a:lvl4pPr marL="1828800" marR="0" lvl="3"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4pPr>
            <a:lvl5pPr marL="2286000" marR="0" lvl="4"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5pPr>
            <a:lvl6pPr marL="2743200" marR="0" lvl="5"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6pPr>
            <a:lvl7pPr marL="3200400" marR="0" lvl="6"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7pPr>
            <a:lvl8pPr marL="3657600" marR="0" lvl="7"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8pPr>
            <a:lvl9pPr marL="4114800" marR="0" lvl="8"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9pPr>
          </a:lstStyle>
          <a:p>
            <a:pPr marL="0" indent="0"/>
            <a:r>
              <a:rPr lang="en-US" dirty="0"/>
              <a:t>Workers run with limited privileges</a:t>
            </a:r>
          </a:p>
        </p:txBody>
      </p:sp>
      <p:sp>
        <p:nvSpPr>
          <p:cNvPr id="5" name="Google Shape;287;p35">
            <a:extLst>
              <a:ext uri="{FF2B5EF4-FFF2-40B4-BE49-F238E27FC236}">
                <a16:creationId xmlns:a16="http://schemas.microsoft.com/office/drawing/2014/main" id="{F84CE693-7B47-AA0C-ABD0-38D9BCF8979A}"/>
              </a:ext>
            </a:extLst>
          </p:cNvPr>
          <p:cNvSpPr txBox="1">
            <a:spLocks/>
          </p:cNvSpPr>
          <p:nvPr/>
        </p:nvSpPr>
        <p:spPr>
          <a:xfrm>
            <a:off x="3145041" y="3334612"/>
            <a:ext cx="2599200" cy="201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Roboto Mono"/>
              <a:buNone/>
              <a:defRPr sz="1200" b="0" i="0" u="none" strike="noStrike" cap="none">
                <a:solidFill>
                  <a:schemeClr val="dk1"/>
                </a:solidFill>
                <a:latin typeface="Roboto Mono"/>
                <a:ea typeface="Roboto Mono"/>
                <a:cs typeface="Roboto Mono"/>
                <a:sym typeface="Roboto Mono"/>
              </a:defRPr>
            </a:lvl1pPr>
            <a:lvl2pPr marL="914400" marR="0" lvl="1"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2pPr>
            <a:lvl3pPr marL="1371600" marR="0" lvl="2"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3pPr>
            <a:lvl4pPr marL="1828800" marR="0" lvl="3"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4pPr>
            <a:lvl5pPr marL="2286000" marR="0" lvl="4"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5pPr>
            <a:lvl6pPr marL="2743200" marR="0" lvl="5"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6pPr>
            <a:lvl7pPr marL="3200400" marR="0" lvl="6"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7pPr>
            <a:lvl8pPr marL="3657600" marR="0" lvl="7"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8pPr>
            <a:lvl9pPr marL="4114800" marR="0" lvl="8" indent="-317500" algn="ctr" rtl="0">
              <a:lnSpc>
                <a:spcPct val="100000"/>
              </a:lnSpc>
              <a:spcBef>
                <a:spcPts val="0"/>
              </a:spcBef>
              <a:spcAft>
                <a:spcPts val="0"/>
              </a:spcAft>
              <a:buClr>
                <a:schemeClr val="dk1"/>
              </a:buClr>
              <a:buSzPts val="1400"/>
              <a:buFont typeface="Roboto Mono"/>
              <a:buNone/>
              <a:defRPr sz="1400" b="0" i="0" u="none" strike="noStrike" cap="none">
                <a:solidFill>
                  <a:schemeClr val="dk1"/>
                </a:solidFill>
                <a:latin typeface="Roboto Mono"/>
                <a:ea typeface="Roboto Mono"/>
                <a:cs typeface="Roboto Mono"/>
                <a:sym typeface="Roboto Mono"/>
              </a:defRPr>
            </a:lvl9pPr>
          </a:lstStyle>
          <a:p>
            <a:pPr marL="0" indent="0"/>
            <a:r>
              <a:rPr lang="en-US" dirty="0"/>
              <a:t>Dynamic updates via cluster restart mechanisms</a:t>
            </a:r>
          </a:p>
        </p:txBody>
      </p:sp>
      <p:sp>
        <p:nvSpPr>
          <p:cNvPr id="6" name="Google Shape;182;p28">
            <a:extLst>
              <a:ext uri="{FF2B5EF4-FFF2-40B4-BE49-F238E27FC236}">
                <a16:creationId xmlns:a16="http://schemas.microsoft.com/office/drawing/2014/main" id="{8A68C1F3-8587-ED38-D6D3-15D42EDDB24E}"/>
              </a:ext>
            </a:extLst>
          </p:cNvPr>
          <p:cNvSpPr txBox="1"/>
          <p:nvPr/>
        </p:nvSpPr>
        <p:spPr>
          <a:xfrm>
            <a:off x="1358420" y="210808"/>
            <a:ext cx="4475400" cy="265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dirty="0">
                <a:solidFill>
                  <a:schemeClr val="bg1">
                    <a:lumMod val="10000"/>
                  </a:schemeClr>
                </a:solidFill>
                <a:latin typeface="VT323"/>
                <a:ea typeface="VT323"/>
                <a:cs typeface="VT323"/>
                <a:sym typeface="VT323"/>
              </a:rPr>
              <a:t>High-level Process Model</a:t>
            </a:r>
          </a:p>
        </p:txBody>
      </p:sp>
      <p:pic>
        <p:nvPicPr>
          <p:cNvPr id="7" name="Picture 6" descr="Node.js logo vector (eps, svg) free download - Brandlogos.net">
            <a:extLst>
              <a:ext uri="{FF2B5EF4-FFF2-40B4-BE49-F238E27FC236}">
                <a16:creationId xmlns:a16="http://schemas.microsoft.com/office/drawing/2014/main" id="{178AE492-DFC9-4C25-94DD-F2ACC2271D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391" y="187112"/>
            <a:ext cx="928654" cy="2771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pic>
        <p:nvPicPr>
          <p:cNvPr id="17" name="Google Shape;254;p31" title="Sin título-2.png">
            <a:extLst>
              <a:ext uri="{FF2B5EF4-FFF2-40B4-BE49-F238E27FC236}">
                <a16:creationId xmlns:a16="http://schemas.microsoft.com/office/drawing/2014/main" id="{B6E37BEA-EB49-E656-9C74-170D328F76E0}"/>
              </a:ext>
            </a:extLst>
          </p:cNvPr>
          <p:cNvPicPr preferRelativeResize="0"/>
          <p:nvPr/>
        </p:nvPicPr>
        <p:blipFill rotWithShape="1">
          <a:blip r:embed="rId3">
            <a:alphaModFix/>
          </a:blip>
          <a:srcRect l="60127"/>
          <a:stretch/>
        </p:blipFill>
        <p:spPr>
          <a:xfrm>
            <a:off x="5201813" y="722701"/>
            <a:ext cx="2727643" cy="2554022"/>
          </a:xfrm>
          <a:prstGeom prst="rect">
            <a:avLst/>
          </a:prstGeom>
          <a:noFill/>
          <a:ln>
            <a:noFill/>
          </a:ln>
        </p:spPr>
      </p:pic>
      <p:sp>
        <p:nvSpPr>
          <p:cNvPr id="5" name="Google Shape;182;p28">
            <a:extLst>
              <a:ext uri="{FF2B5EF4-FFF2-40B4-BE49-F238E27FC236}">
                <a16:creationId xmlns:a16="http://schemas.microsoft.com/office/drawing/2014/main" id="{0FDB1BE7-0459-368D-33D2-706E84B5BE70}"/>
              </a:ext>
            </a:extLst>
          </p:cNvPr>
          <p:cNvSpPr txBox="1"/>
          <p:nvPr/>
        </p:nvSpPr>
        <p:spPr>
          <a:xfrm>
            <a:off x="1358420" y="210808"/>
            <a:ext cx="4475400" cy="265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dirty="0">
                <a:solidFill>
                  <a:schemeClr val="bg1">
                    <a:lumMod val="10000"/>
                  </a:schemeClr>
                </a:solidFill>
                <a:latin typeface="VT323" panose="020B0604020202020204" charset="0"/>
                <a:ea typeface="VT323"/>
                <a:cs typeface="VT323"/>
                <a:sym typeface="VT323"/>
              </a:rPr>
              <a:t>Event-driven Architecture Deep Dive – Part 1</a:t>
            </a:r>
          </a:p>
        </p:txBody>
      </p:sp>
      <p:pic>
        <p:nvPicPr>
          <p:cNvPr id="3" name="Picture 2" descr="Node.js logo vector (eps, svg) free download - Brandlogos.net">
            <a:extLst>
              <a:ext uri="{FF2B5EF4-FFF2-40B4-BE49-F238E27FC236}">
                <a16:creationId xmlns:a16="http://schemas.microsoft.com/office/drawing/2014/main" id="{446564C7-CCDC-33F2-405B-80D6672BDE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391" y="187112"/>
            <a:ext cx="928654" cy="277145"/>
          </a:xfrm>
          <a:prstGeom prst="rect">
            <a:avLst/>
          </a:prstGeom>
          <a:noFill/>
          <a:extLst>
            <a:ext uri="{909E8E84-426E-40DD-AFC4-6F175D3DCCD1}">
              <a14:hiddenFill xmlns:a14="http://schemas.microsoft.com/office/drawing/2010/main">
                <a:solidFill>
                  <a:srgbClr val="FFFFFF"/>
                </a:solidFill>
              </a14:hiddenFill>
            </a:ext>
          </a:extLst>
        </p:spPr>
      </p:pic>
      <p:sp>
        <p:nvSpPr>
          <p:cNvPr id="314" name="Google Shape;314;p37"/>
          <p:cNvSpPr txBox="1">
            <a:spLocks noGrp="1"/>
          </p:cNvSpPr>
          <p:nvPr>
            <p:ph type="title"/>
          </p:nvPr>
        </p:nvSpPr>
        <p:spPr>
          <a:xfrm>
            <a:off x="1358420" y="2827815"/>
            <a:ext cx="2165020" cy="717714"/>
          </a:xfrm>
          <a:prstGeom prst="rect">
            <a:avLst/>
          </a:prstGeom>
          <a:solidFill>
            <a:srgbClr val="FFC000"/>
          </a:solidFill>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VT323" panose="020B0604020202020204" charset="0"/>
              </a:rPr>
              <a:t>Figure 1. </a:t>
            </a:r>
            <a:r>
              <a:rPr lang="en-US" dirty="0">
                <a:latin typeface="VT323" panose="020B0604020202020204" charset="0"/>
              </a:rPr>
              <a:t>Of </a:t>
            </a:r>
            <a:r>
              <a:rPr lang="en-US" dirty="0" err="1">
                <a:latin typeface="VT323" panose="020B0604020202020204" charset="0"/>
              </a:rPr>
              <a:t>libuv</a:t>
            </a:r>
            <a:r>
              <a:rPr lang="en-US" dirty="0">
                <a:latin typeface="VT323" panose="020B0604020202020204" charset="0"/>
              </a:rPr>
              <a:t> architecture</a:t>
            </a:r>
            <a:br>
              <a:rPr lang="en-US" dirty="0">
                <a:latin typeface="VT323" panose="020B0604020202020204" charset="0"/>
              </a:rPr>
            </a:br>
            <a:endParaRPr dirty="0">
              <a:latin typeface="VT323" panose="020B0604020202020204" charset="0"/>
              <a:ea typeface="Roboto Mono" panose="00000009000000000000" pitchFamily="49" charset="0"/>
            </a:endParaRPr>
          </a:p>
        </p:txBody>
      </p:sp>
      <p:sp>
        <p:nvSpPr>
          <p:cNvPr id="286" name="Google Shape;286;p35"/>
          <p:cNvSpPr txBox="1">
            <a:spLocks/>
          </p:cNvSpPr>
          <p:nvPr/>
        </p:nvSpPr>
        <p:spPr>
          <a:xfrm>
            <a:off x="3441099" y="4206277"/>
            <a:ext cx="2501756" cy="60226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latin typeface="VT323" panose="020B0604020202020204" charset="0"/>
              </a:rPr>
              <a:t>Non-blocking reads/writes using Unix callbacks</a:t>
            </a:r>
          </a:p>
        </p:txBody>
      </p:sp>
      <p:sp>
        <p:nvSpPr>
          <p:cNvPr id="11" name="Google Shape;287;p35"/>
          <p:cNvSpPr txBox="1">
            <a:spLocks/>
          </p:cNvSpPr>
          <p:nvPr/>
        </p:nvSpPr>
        <p:spPr>
          <a:xfrm>
            <a:off x="494444" y="4206277"/>
            <a:ext cx="2599200" cy="717714"/>
          </a:xfrm>
          <a:prstGeom prst="rect">
            <a:avLst/>
          </a:prstGeom>
          <a:noFill/>
          <a:ln>
            <a:noFill/>
          </a:ln>
        </p:spPr>
        <p:txBody>
          <a:bodyPr spcFirstLastPara="1" wrap="square" lIns="91425" tIns="91425" rIns="91425" bIns="91425" anchor="t" anchorCtr="0">
            <a:noAutofit/>
          </a:bodyPr>
          <a:lstStyle/>
          <a:p>
            <a:pPr algn="l" rtl="0">
              <a:buClrTx/>
              <a:buFontTx/>
            </a:pPr>
            <a:r>
              <a:rPr lang="en-US" dirty="0">
                <a:solidFill>
                  <a:sysClr val="windowText" lastClr="000000"/>
                </a:solidFill>
                <a:latin typeface="VT323" panose="020B0604020202020204" charset="0"/>
              </a:rPr>
              <a:t>Cross-platform abstraction for asynchronous I/O</a:t>
            </a:r>
          </a:p>
        </p:txBody>
      </p:sp>
      <p:sp>
        <p:nvSpPr>
          <p:cNvPr id="288" name="Google Shape;288;p35"/>
          <p:cNvSpPr txBox="1">
            <a:spLocks/>
          </p:cNvSpPr>
          <p:nvPr/>
        </p:nvSpPr>
        <p:spPr>
          <a:xfrm>
            <a:off x="6261788" y="4152783"/>
            <a:ext cx="2599200" cy="60226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latin typeface="VT323" panose="020B0604020202020204" charset="0"/>
              </a:rPr>
              <a:t>Avoids thread blocking for scalability</a:t>
            </a:r>
          </a:p>
        </p:txBody>
      </p:sp>
      <p:sp>
        <p:nvSpPr>
          <p:cNvPr id="289" name="Google Shape;289;p35"/>
          <p:cNvSpPr txBox="1">
            <a:spLocks/>
          </p:cNvSpPr>
          <p:nvPr/>
        </p:nvSpPr>
        <p:spPr>
          <a:xfrm>
            <a:off x="3510020" y="3876723"/>
            <a:ext cx="2404313" cy="310800"/>
          </a:xfrm>
          <a:prstGeom prst="rect">
            <a:avLst/>
          </a:prstGeom>
          <a:solidFill>
            <a:srgbClr val="FFEEB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200"/>
              <a:buFont typeface="VT323"/>
              <a:buNone/>
              <a:defRPr sz="1500" b="0" i="0" u="none" strike="noStrike" cap="none">
                <a:solidFill>
                  <a:schemeClr val="dk1"/>
                </a:solidFill>
                <a:latin typeface="VT323"/>
                <a:ea typeface="VT323"/>
                <a:cs typeface="VT323"/>
                <a:sym typeface="VT323"/>
              </a:defRPr>
            </a:lvl1pPr>
            <a:lvl2pPr marR="0" lvl="1"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2pPr>
            <a:lvl3pPr marR="0" lvl="2"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3pPr>
            <a:lvl4pPr marR="0" lvl="3"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4pPr>
            <a:lvl5pPr marR="0" lvl="4"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5pPr>
            <a:lvl6pPr marR="0" lvl="5"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6pPr>
            <a:lvl7pPr marR="0" lvl="6"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7pPr>
            <a:lvl8pPr marR="0" lvl="7"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8pPr>
            <a:lvl9pPr marR="0" lvl="8"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9pPr>
          </a:lstStyle>
          <a:p>
            <a:r>
              <a:rPr lang="en-US" sz="1800" dirty="0">
                <a:latin typeface="VT323" panose="020B0604020202020204" charset="0"/>
              </a:rPr>
              <a:t>Asynchronous I/O</a:t>
            </a:r>
          </a:p>
        </p:txBody>
      </p:sp>
      <p:sp>
        <p:nvSpPr>
          <p:cNvPr id="290" name="Google Shape;290;p35"/>
          <p:cNvSpPr txBox="1">
            <a:spLocks/>
          </p:cNvSpPr>
          <p:nvPr/>
        </p:nvSpPr>
        <p:spPr>
          <a:xfrm>
            <a:off x="2482381" y="3639159"/>
            <a:ext cx="2993628" cy="3105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dirty="0">
              <a:latin typeface="VT323" panose="020B0604020202020204" charset="0"/>
            </a:endParaRPr>
          </a:p>
        </p:txBody>
      </p:sp>
      <p:sp>
        <p:nvSpPr>
          <p:cNvPr id="291" name="Google Shape;291;p35"/>
          <p:cNvSpPr txBox="1">
            <a:spLocks/>
          </p:cNvSpPr>
          <p:nvPr/>
        </p:nvSpPr>
        <p:spPr>
          <a:xfrm>
            <a:off x="6316634" y="2434032"/>
            <a:ext cx="1772150" cy="310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dirty="0">
              <a:latin typeface="VT323" panose="020B0604020202020204" charset="0"/>
            </a:endParaRPr>
          </a:p>
        </p:txBody>
      </p:sp>
      <p:sp>
        <p:nvSpPr>
          <p:cNvPr id="12" name="Google Shape;289;p35">
            <a:extLst>
              <a:ext uri="{FF2B5EF4-FFF2-40B4-BE49-F238E27FC236}">
                <a16:creationId xmlns:a16="http://schemas.microsoft.com/office/drawing/2014/main" id="{F5B4ADF8-D440-2F49-00A0-1F1CDE5BF3F6}"/>
              </a:ext>
            </a:extLst>
          </p:cNvPr>
          <p:cNvSpPr txBox="1">
            <a:spLocks/>
          </p:cNvSpPr>
          <p:nvPr/>
        </p:nvSpPr>
        <p:spPr>
          <a:xfrm>
            <a:off x="6261789" y="3851605"/>
            <a:ext cx="2404313" cy="310800"/>
          </a:xfrm>
          <a:prstGeom prst="rect">
            <a:avLst/>
          </a:prstGeom>
          <a:solidFill>
            <a:srgbClr val="FFEEB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200"/>
              <a:buFont typeface="VT323"/>
              <a:buNone/>
              <a:defRPr sz="1500" b="0" i="0" u="none" strike="noStrike" cap="none">
                <a:solidFill>
                  <a:schemeClr val="dk1"/>
                </a:solidFill>
                <a:latin typeface="VT323"/>
                <a:ea typeface="VT323"/>
                <a:cs typeface="VT323"/>
                <a:sym typeface="VT323"/>
              </a:defRPr>
            </a:lvl1pPr>
            <a:lvl2pPr marR="0" lvl="1"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2pPr>
            <a:lvl3pPr marR="0" lvl="2"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3pPr>
            <a:lvl4pPr marR="0" lvl="3"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4pPr>
            <a:lvl5pPr marR="0" lvl="4"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5pPr>
            <a:lvl6pPr marR="0" lvl="5"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6pPr>
            <a:lvl7pPr marR="0" lvl="6"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7pPr>
            <a:lvl8pPr marR="0" lvl="7"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8pPr>
            <a:lvl9pPr marR="0" lvl="8"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9pPr>
          </a:lstStyle>
          <a:p>
            <a:r>
              <a:rPr lang="en-US" sz="1800" dirty="0">
                <a:latin typeface="VT323" panose="020B0604020202020204" charset="0"/>
              </a:rPr>
              <a:t>Non-blocking everywhere</a:t>
            </a:r>
          </a:p>
        </p:txBody>
      </p:sp>
      <p:sp>
        <p:nvSpPr>
          <p:cNvPr id="13" name="Google Shape;289;p35">
            <a:extLst>
              <a:ext uri="{FF2B5EF4-FFF2-40B4-BE49-F238E27FC236}">
                <a16:creationId xmlns:a16="http://schemas.microsoft.com/office/drawing/2014/main" id="{28D9FAA4-1C70-2BAC-166A-7BF6DC150FF1}"/>
              </a:ext>
            </a:extLst>
          </p:cNvPr>
          <p:cNvSpPr txBox="1">
            <a:spLocks/>
          </p:cNvSpPr>
          <p:nvPr/>
        </p:nvSpPr>
        <p:spPr>
          <a:xfrm>
            <a:off x="494444" y="3876723"/>
            <a:ext cx="2404313" cy="310800"/>
          </a:xfrm>
          <a:prstGeom prst="rect">
            <a:avLst/>
          </a:prstGeom>
          <a:solidFill>
            <a:srgbClr val="FFEEB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200"/>
              <a:buFont typeface="VT323"/>
              <a:buNone/>
              <a:defRPr sz="1500" b="0" i="0" u="none" strike="noStrike" cap="none">
                <a:solidFill>
                  <a:schemeClr val="dk1"/>
                </a:solidFill>
                <a:latin typeface="VT323"/>
                <a:ea typeface="VT323"/>
                <a:cs typeface="VT323"/>
                <a:sym typeface="VT323"/>
              </a:defRPr>
            </a:lvl1pPr>
            <a:lvl2pPr marR="0" lvl="1"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2pPr>
            <a:lvl3pPr marR="0" lvl="2"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3pPr>
            <a:lvl4pPr marR="0" lvl="3"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4pPr>
            <a:lvl5pPr marR="0" lvl="4"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5pPr>
            <a:lvl6pPr marR="0" lvl="5"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6pPr>
            <a:lvl7pPr marR="0" lvl="6"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7pPr>
            <a:lvl8pPr marR="0" lvl="7"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8pPr>
            <a:lvl9pPr marR="0" lvl="8"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9pPr>
          </a:lstStyle>
          <a:p>
            <a:r>
              <a:rPr lang="en-US" sz="2000" dirty="0" err="1">
                <a:latin typeface="VT323" panose="020B0604020202020204" charset="0"/>
              </a:rPr>
              <a:t>libuv</a:t>
            </a:r>
            <a:endParaRPr lang="en-US" sz="2000" dirty="0">
              <a:latin typeface="VT323" panose="020B0604020202020204" charset="0"/>
            </a:endParaRPr>
          </a:p>
        </p:txBody>
      </p:sp>
      <p:pic>
        <p:nvPicPr>
          <p:cNvPr id="13318" name="Picture 6" descr="Design overview - libuv documentation">
            <a:extLst>
              <a:ext uri="{FF2B5EF4-FFF2-40B4-BE49-F238E27FC236}">
                <a16:creationId xmlns:a16="http://schemas.microsoft.com/office/drawing/2014/main" id="{33E6E761-AFCE-84F3-C9F3-F8DA3E6B7DE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0133" y="714172"/>
            <a:ext cx="4179338" cy="2020013"/>
          </a:xfrm>
          <a:prstGeom prst="rect">
            <a:avLst/>
          </a:prstGeom>
          <a:noFill/>
          <a:extLst>
            <a:ext uri="{909E8E84-426E-40DD-AFC4-6F175D3DCCD1}">
              <a14:hiddenFill xmlns:a14="http://schemas.microsoft.com/office/drawing/2010/main">
                <a:solidFill>
                  <a:srgbClr val="FFFFFF"/>
                </a:solidFill>
              </a14:hiddenFill>
            </a:ext>
          </a:extLst>
        </p:spPr>
      </p:pic>
      <p:pic>
        <p:nvPicPr>
          <p:cNvPr id="13320" name="Picture 8" descr="How Node.js event loop model scales well - Stack Overflow">
            <a:extLst>
              <a:ext uri="{FF2B5EF4-FFF2-40B4-BE49-F238E27FC236}">
                <a16:creationId xmlns:a16="http://schemas.microsoft.com/office/drawing/2014/main" id="{F7A05DED-4446-F575-5236-D5B570FEC02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9749"/>
          <a:stretch/>
        </p:blipFill>
        <p:spPr bwMode="auto">
          <a:xfrm>
            <a:off x="5185632" y="827786"/>
            <a:ext cx="3589748" cy="2429823"/>
          </a:xfrm>
          <a:prstGeom prst="rect">
            <a:avLst/>
          </a:prstGeom>
          <a:noFill/>
          <a:extLst>
            <a:ext uri="{909E8E84-426E-40DD-AFC4-6F175D3DCCD1}">
              <a14:hiddenFill xmlns:a14="http://schemas.microsoft.com/office/drawing/2010/main">
                <a:solidFill>
                  <a:srgbClr val="FFFFFF"/>
                </a:solidFill>
              </a14:hiddenFill>
            </a:ext>
          </a:extLst>
        </p:spPr>
      </p:pic>
      <p:sp>
        <p:nvSpPr>
          <p:cNvPr id="14" name="Google Shape;314;p37">
            <a:extLst>
              <a:ext uri="{FF2B5EF4-FFF2-40B4-BE49-F238E27FC236}">
                <a16:creationId xmlns:a16="http://schemas.microsoft.com/office/drawing/2014/main" id="{85BAB037-E848-F270-F962-2E00E9291327}"/>
              </a:ext>
            </a:extLst>
          </p:cNvPr>
          <p:cNvSpPr txBox="1">
            <a:spLocks/>
          </p:cNvSpPr>
          <p:nvPr/>
        </p:nvSpPr>
        <p:spPr>
          <a:xfrm>
            <a:off x="6842824" y="2838811"/>
            <a:ext cx="1932555" cy="608607"/>
          </a:xfrm>
          <a:prstGeom prst="rect">
            <a:avLst/>
          </a:prstGeom>
          <a:solidFill>
            <a:srgbClr val="FFC000"/>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200"/>
              <a:buFont typeface="VT323"/>
              <a:buNone/>
              <a:defRPr sz="1500" b="0" i="0" u="none" strike="noStrike" cap="none">
                <a:solidFill>
                  <a:schemeClr val="dk1"/>
                </a:solidFill>
                <a:latin typeface="VT323"/>
                <a:ea typeface="VT323"/>
                <a:cs typeface="VT323"/>
                <a:sym typeface="VT323"/>
              </a:defRPr>
            </a:lvl1pPr>
            <a:lvl2pPr marR="0" lvl="1"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2pPr>
            <a:lvl3pPr marR="0" lvl="2"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3pPr>
            <a:lvl4pPr marR="0" lvl="3"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4pPr>
            <a:lvl5pPr marR="0" lvl="4"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5pPr>
            <a:lvl6pPr marR="0" lvl="5"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6pPr>
            <a:lvl7pPr marR="0" lvl="6"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7pPr>
            <a:lvl8pPr marR="0" lvl="7"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8pPr>
            <a:lvl9pPr marR="0" lvl="8"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9pPr>
          </a:lstStyle>
          <a:p>
            <a:r>
              <a:rPr lang="en-US" dirty="0">
                <a:latin typeface="VT323" panose="020B0604020202020204" charset="0"/>
              </a:rPr>
              <a:t>Figure 2. Of </a:t>
            </a:r>
            <a:r>
              <a:rPr lang="en-US" dirty="0" err="1">
                <a:latin typeface="VT323" panose="020B0604020202020204" charset="0"/>
              </a:rPr>
              <a:t>libuv</a:t>
            </a:r>
            <a:r>
              <a:rPr lang="en-US" dirty="0">
                <a:latin typeface="VT323" panose="020B0604020202020204" charset="0"/>
              </a:rPr>
              <a:t> event loop</a:t>
            </a:r>
            <a:endParaRPr lang="en-US" dirty="0">
              <a:latin typeface="VT323" panose="020B0604020202020204" charset="0"/>
              <a:ea typeface="Roboto Mono" panose="00000009000000000000" pitchFamily="49" charset="0"/>
            </a:endParaRPr>
          </a:p>
        </p:txBody>
      </p:sp>
      <p:pic>
        <p:nvPicPr>
          <p:cNvPr id="15" name="Google Shape;254;p31" title="Sin título-2.png">
            <a:extLst>
              <a:ext uri="{FF2B5EF4-FFF2-40B4-BE49-F238E27FC236}">
                <a16:creationId xmlns:a16="http://schemas.microsoft.com/office/drawing/2014/main" id="{6A24DA16-B409-8165-3AC6-6AAA19FED402}"/>
              </a:ext>
            </a:extLst>
          </p:cNvPr>
          <p:cNvPicPr preferRelativeResize="0"/>
          <p:nvPr/>
        </p:nvPicPr>
        <p:blipFill rotWithShape="1">
          <a:blip r:embed="rId3">
            <a:alphaModFix/>
          </a:blip>
          <a:srcRect l="60127"/>
          <a:stretch/>
        </p:blipFill>
        <p:spPr>
          <a:xfrm>
            <a:off x="470133" y="541529"/>
            <a:ext cx="2727643" cy="235068"/>
          </a:xfrm>
          <a:prstGeom prst="rect">
            <a:avLst/>
          </a:prstGeom>
          <a:noFill/>
          <a:ln>
            <a:noFill/>
          </a:ln>
        </p:spPr>
      </p:pic>
      <p:pic>
        <p:nvPicPr>
          <p:cNvPr id="16" name="Google Shape;254;p31" title="Sin título-2.png">
            <a:extLst>
              <a:ext uri="{FF2B5EF4-FFF2-40B4-BE49-F238E27FC236}">
                <a16:creationId xmlns:a16="http://schemas.microsoft.com/office/drawing/2014/main" id="{642F2D1D-A24E-68EA-8D91-5B8186E15567}"/>
              </a:ext>
            </a:extLst>
          </p:cNvPr>
          <p:cNvPicPr preferRelativeResize="0"/>
          <p:nvPr/>
        </p:nvPicPr>
        <p:blipFill rotWithShape="1">
          <a:blip r:embed="rId3">
            <a:alphaModFix/>
          </a:blip>
          <a:srcRect l="60127"/>
          <a:stretch/>
        </p:blipFill>
        <p:spPr>
          <a:xfrm>
            <a:off x="1902778" y="541529"/>
            <a:ext cx="2727643" cy="235068"/>
          </a:xfrm>
          <a:prstGeom prst="rect">
            <a:avLst/>
          </a:prstGeom>
          <a:noFill/>
          <a:ln>
            <a:noFill/>
          </a:ln>
        </p:spPr>
      </p:pic>
      <p:pic>
        <p:nvPicPr>
          <p:cNvPr id="19" name="Google Shape;254;p31" title="Sin título-2.png">
            <a:extLst>
              <a:ext uri="{FF2B5EF4-FFF2-40B4-BE49-F238E27FC236}">
                <a16:creationId xmlns:a16="http://schemas.microsoft.com/office/drawing/2014/main" id="{8F2E8CBF-2BB0-989C-829E-A52917E6E6A7}"/>
              </a:ext>
            </a:extLst>
          </p:cNvPr>
          <p:cNvPicPr preferRelativeResize="0"/>
          <p:nvPr/>
        </p:nvPicPr>
        <p:blipFill rotWithShape="1">
          <a:blip r:embed="rId3">
            <a:alphaModFix/>
          </a:blip>
          <a:srcRect l="60127"/>
          <a:stretch/>
        </p:blipFill>
        <p:spPr>
          <a:xfrm>
            <a:off x="5166582" y="643715"/>
            <a:ext cx="2727643" cy="235068"/>
          </a:xfrm>
          <a:prstGeom prst="rect">
            <a:avLst/>
          </a:prstGeom>
          <a:noFill/>
          <a:ln>
            <a:noFill/>
          </a:ln>
        </p:spPr>
      </p:pic>
      <p:pic>
        <p:nvPicPr>
          <p:cNvPr id="18" name="Google Shape;254;p31" title="Sin título-2.png">
            <a:extLst>
              <a:ext uri="{FF2B5EF4-FFF2-40B4-BE49-F238E27FC236}">
                <a16:creationId xmlns:a16="http://schemas.microsoft.com/office/drawing/2014/main" id="{E040C525-B6CB-EF54-8699-69325D752985}"/>
              </a:ext>
            </a:extLst>
          </p:cNvPr>
          <p:cNvPicPr preferRelativeResize="0"/>
          <p:nvPr/>
        </p:nvPicPr>
        <p:blipFill rotWithShape="1">
          <a:blip r:embed="rId3">
            <a:alphaModFix/>
          </a:blip>
          <a:srcRect l="60127"/>
          <a:stretch/>
        </p:blipFill>
        <p:spPr>
          <a:xfrm>
            <a:off x="6031690" y="645653"/>
            <a:ext cx="2727643" cy="235068"/>
          </a:xfrm>
          <a:prstGeom prst="rect">
            <a:avLst/>
          </a:prstGeom>
          <a:noFill/>
          <a:ln>
            <a:noFill/>
          </a:ln>
        </p:spPr>
      </p:pic>
    </p:spTree>
    <p:extLst>
      <p:ext uri="{BB962C8B-B14F-4D97-AF65-F5344CB8AC3E}">
        <p14:creationId xmlns:p14="http://schemas.microsoft.com/office/powerpoint/2010/main" val="3784089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8CC955F-9BE0-9069-2576-E300F1C90CCD}"/>
              </a:ext>
            </a:extLst>
          </p:cNvPr>
          <p:cNvSpPr>
            <a:spLocks noGrp="1"/>
          </p:cNvSpPr>
          <p:nvPr>
            <p:ph type="title"/>
          </p:nvPr>
        </p:nvSpPr>
        <p:spPr>
          <a:xfrm>
            <a:off x="5129285" y="1281476"/>
            <a:ext cx="2976067" cy="703699"/>
          </a:xfrm>
        </p:spPr>
        <p:txBody>
          <a:bodyPr/>
          <a:lstStyle/>
          <a:p>
            <a:r>
              <a:rPr lang="en-US" sz="1300" dirty="0">
                <a:latin typeface="Roboto Mono" panose="00000009000000000000" pitchFamily="49" charset="0"/>
                <a:ea typeface="Roboto Mono" panose="00000009000000000000" pitchFamily="49" charset="0"/>
              </a:rPr>
              <a:t>Minimizes data copying with </a:t>
            </a:r>
            <a:r>
              <a:rPr lang="en-US" sz="1300" dirty="0" err="1">
                <a:latin typeface="Roboto Mono" panose="00000009000000000000" pitchFamily="49" charset="0"/>
                <a:ea typeface="Roboto Mono" panose="00000009000000000000" pitchFamily="49" charset="0"/>
              </a:rPr>
              <a:t>sendfile</a:t>
            </a:r>
            <a:endParaRPr lang="ru-RU" sz="1300" dirty="0">
              <a:latin typeface="Roboto Mono" panose="00000009000000000000" pitchFamily="49" charset="0"/>
              <a:ea typeface="Roboto Mono" panose="00000009000000000000" pitchFamily="49" charset="0"/>
            </a:endParaRPr>
          </a:p>
        </p:txBody>
      </p:sp>
      <p:sp>
        <p:nvSpPr>
          <p:cNvPr id="12" name="Google Shape;271;p33">
            <a:extLst>
              <a:ext uri="{FF2B5EF4-FFF2-40B4-BE49-F238E27FC236}">
                <a16:creationId xmlns:a16="http://schemas.microsoft.com/office/drawing/2014/main" id="{A585B079-6F3B-648C-700E-CDDAADB490CB}"/>
              </a:ext>
            </a:extLst>
          </p:cNvPr>
          <p:cNvSpPr txBox="1">
            <a:spLocks/>
          </p:cNvSpPr>
          <p:nvPr/>
        </p:nvSpPr>
        <p:spPr>
          <a:xfrm>
            <a:off x="136820" y="533875"/>
            <a:ext cx="6918600" cy="2538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dirty="0"/>
          </a:p>
        </p:txBody>
      </p:sp>
      <p:sp>
        <p:nvSpPr>
          <p:cNvPr id="14" name="Title 2">
            <a:extLst>
              <a:ext uri="{FF2B5EF4-FFF2-40B4-BE49-F238E27FC236}">
                <a16:creationId xmlns:a16="http://schemas.microsoft.com/office/drawing/2014/main" id="{E35BD9D8-5603-1AEA-8E31-E54977A4C5C4}"/>
              </a:ext>
            </a:extLst>
          </p:cNvPr>
          <p:cNvSpPr txBox="1">
            <a:spLocks/>
          </p:cNvSpPr>
          <p:nvPr/>
        </p:nvSpPr>
        <p:spPr>
          <a:xfrm>
            <a:off x="1224642" y="2693063"/>
            <a:ext cx="2379008" cy="735204"/>
          </a:xfrm>
          <a:prstGeom prst="rect">
            <a:avLst/>
          </a:prstGeom>
          <a:solidFill>
            <a:schemeClr val="lt1"/>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200"/>
              <a:buFont typeface="VT323"/>
              <a:buNone/>
              <a:defRPr sz="1500" b="0" i="0" u="none" strike="noStrike" cap="none">
                <a:solidFill>
                  <a:schemeClr val="dk1"/>
                </a:solidFill>
                <a:latin typeface="VT323"/>
                <a:ea typeface="VT323"/>
                <a:cs typeface="VT323"/>
                <a:sym typeface="VT323"/>
              </a:defRPr>
            </a:lvl1pPr>
            <a:lvl2pPr marR="0" lvl="1"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2pPr>
            <a:lvl3pPr marR="0" lvl="2"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3pPr>
            <a:lvl4pPr marR="0" lvl="3"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4pPr>
            <a:lvl5pPr marR="0" lvl="4"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5pPr>
            <a:lvl6pPr marR="0" lvl="5"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6pPr>
            <a:lvl7pPr marR="0" lvl="6"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7pPr>
            <a:lvl8pPr marR="0" lvl="7"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8pPr>
            <a:lvl9pPr marR="0" lvl="8"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9pPr>
          </a:lstStyle>
          <a:p>
            <a:r>
              <a:rPr lang="en-US" sz="1300" dirty="0">
                <a:latin typeface="Roboto Mono" panose="00000009000000000000" pitchFamily="49" charset="0"/>
                <a:ea typeface="Roboto Mono" panose="00000009000000000000" pitchFamily="49" charset="0"/>
              </a:rPr>
              <a:t>Microtask queue for immediate execution</a:t>
            </a:r>
            <a:endParaRPr lang="ru-RU" sz="1300" dirty="0">
              <a:latin typeface="Roboto Mono" panose="00000009000000000000" pitchFamily="49" charset="0"/>
              <a:ea typeface="Roboto Mono" panose="00000009000000000000" pitchFamily="49" charset="0"/>
            </a:endParaRPr>
          </a:p>
        </p:txBody>
      </p:sp>
      <p:sp>
        <p:nvSpPr>
          <p:cNvPr id="16" name="Title 2">
            <a:extLst>
              <a:ext uri="{FF2B5EF4-FFF2-40B4-BE49-F238E27FC236}">
                <a16:creationId xmlns:a16="http://schemas.microsoft.com/office/drawing/2014/main" id="{D0B99E47-BDF5-BE1D-3808-2BCF52A4678A}"/>
              </a:ext>
            </a:extLst>
          </p:cNvPr>
          <p:cNvSpPr txBox="1">
            <a:spLocks/>
          </p:cNvSpPr>
          <p:nvPr/>
        </p:nvSpPr>
        <p:spPr>
          <a:xfrm>
            <a:off x="931678" y="1300545"/>
            <a:ext cx="2912329" cy="795255"/>
          </a:xfrm>
          <a:prstGeom prst="rect">
            <a:avLst/>
          </a:prstGeom>
          <a:solidFill>
            <a:schemeClr val="lt1"/>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200"/>
              <a:buFont typeface="VT323"/>
              <a:buNone/>
              <a:defRPr sz="1500" b="0" i="0" u="none" strike="noStrike" cap="none">
                <a:solidFill>
                  <a:schemeClr val="dk1"/>
                </a:solidFill>
                <a:latin typeface="VT323"/>
                <a:ea typeface="VT323"/>
                <a:cs typeface="VT323"/>
                <a:sym typeface="VT323"/>
              </a:defRPr>
            </a:lvl1pPr>
            <a:lvl2pPr marR="0" lvl="1"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2pPr>
            <a:lvl3pPr marR="0" lvl="2"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3pPr>
            <a:lvl4pPr marR="0" lvl="3"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4pPr>
            <a:lvl5pPr marR="0" lvl="4"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5pPr>
            <a:lvl6pPr marR="0" lvl="5"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6pPr>
            <a:lvl7pPr marR="0" lvl="6"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7pPr>
            <a:lvl8pPr marR="0" lvl="7"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8pPr>
            <a:lvl9pPr marR="0" lvl="8"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9pPr>
          </a:lstStyle>
          <a:p>
            <a:r>
              <a:rPr lang="en-US" sz="1300" dirty="0" err="1">
                <a:latin typeface="Roboto Mono" panose="00000009000000000000" pitchFamily="49" charset="0"/>
                <a:ea typeface="Roboto Mono" panose="00000009000000000000" pitchFamily="49" charset="0"/>
              </a:rPr>
              <a:t>epoll</a:t>
            </a:r>
            <a:r>
              <a:rPr lang="en-US" sz="1300" dirty="0">
                <a:latin typeface="Roboto Mono" panose="00000009000000000000" pitchFamily="49" charset="0"/>
                <a:ea typeface="Roboto Mono" panose="00000009000000000000" pitchFamily="49" charset="0"/>
              </a:rPr>
              <a:t> (Linux), </a:t>
            </a:r>
            <a:r>
              <a:rPr lang="en-US" sz="1300" dirty="0" err="1">
                <a:latin typeface="Roboto Mono" panose="00000009000000000000" pitchFamily="49" charset="0"/>
                <a:ea typeface="Roboto Mono" panose="00000009000000000000" pitchFamily="49" charset="0"/>
              </a:rPr>
              <a:t>kqueue</a:t>
            </a:r>
            <a:r>
              <a:rPr lang="en-US" sz="1300" dirty="0">
                <a:latin typeface="Roboto Mono" panose="00000009000000000000" pitchFamily="49" charset="0"/>
                <a:ea typeface="Roboto Mono" panose="00000009000000000000" pitchFamily="49" charset="0"/>
              </a:rPr>
              <a:t> (BSD) for efficient event notification</a:t>
            </a:r>
            <a:endParaRPr lang="ru-RU" sz="1300" dirty="0">
              <a:latin typeface="Roboto Mono" panose="00000009000000000000" pitchFamily="49" charset="0"/>
              <a:ea typeface="Roboto Mono" panose="00000009000000000000" pitchFamily="49" charset="0"/>
            </a:endParaRPr>
          </a:p>
        </p:txBody>
      </p:sp>
      <p:sp>
        <p:nvSpPr>
          <p:cNvPr id="18" name="Title 2">
            <a:extLst>
              <a:ext uri="{FF2B5EF4-FFF2-40B4-BE49-F238E27FC236}">
                <a16:creationId xmlns:a16="http://schemas.microsoft.com/office/drawing/2014/main" id="{C9CF4555-6876-C160-BBFE-772C80B8EC60}"/>
              </a:ext>
            </a:extLst>
          </p:cNvPr>
          <p:cNvSpPr txBox="1">
            <a:spLocks/>
          </p:cNvSpPr>
          <p:nvPr/>
        </p:nvSpPr>
        <p:spPr>
          <a:xfrm>
            <a:off x="5414963" y="2660608"/>
            <a:ext cx="2551750" cy="735205"/>
          </a:xfrm>
          <a:prstGeom prst="rect">
            <a:avLst/>
          </a:prstGeom>
          <a:solidFill>
            <a:schemeClr val="lt1"/>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200"/>
              <a:buFont typeface="VT323"/>
              <a:buNone/>
              <a:defRPr sz="1500" b="0" i="0" u="none" strike="noStrike" cap="none">
                <a:solidFill>
                  <a:schemeClr val="dk1"/>
                </a:solidFill>
                <a:latin typeface="VT323"/>
                <a:ea typeface="VT323"/>
                <a:cs typeface="VT323"/>
                <a:sym typeface="VT323"/>
              </a:defRPr>
            </a:lvl1pPr>
            <a:lvl2pPr marR="0" lvl="1"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2pPr>
            <a:lvl3pPr marR="0" lvl="2"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3pPr>
            <a:lvl4pPr marR="0" lvl="3"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4pPr>
            <a:lvl5pPr marR="0" lvl="4"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5pPr>
            <a:lvl6pPr marR="0" lvl="5"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6pPr>
            <a:lvl7pPr marR="0" lvl="6"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7pPr>
            <a:lvl8pPr marR="0" lvl="7"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8pPr>
            <a:lvl9pPr marR="0" lvl="8"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9pPr>
          </a:lstStyle>
          <a:p>
            <a:r>
              <a:rPr lang="en-US" sz="1300" dirty="0">
                <a:latin typeface="Roboto Mono" panose="00000009000000000000" pitchFamily="49" charset="0"/>
                <a:ea typeface="Roboto Mono" panose="00000009000000000000" pitchFamily="49" charset="0"/>
              </a:rPr>
              <a:t>IPC for shared memory, load balancing</a:t>
            </a:r>
            <a:endParaRPr lang="ru-RU" sz="1300" dirty="0">
              <a:latin typeface="Roboto Mono" panose="00000009000000000000" pitchFamily="49" charset="0"/>
              <a:ea typeface="Roboto Mono" panose="00000009000000000000" pitchFamily="49" charset="0"/>
            </a:endParaRPr>
          </a:p>
        </p:txBody>
      </p:sp>
      <p:sp>
        <p:nvSpPr>
          <p:cNvPr id="2" name="Google Shape;182;p28">
            <a:extLst>
              <a:ext uri="{FF2B5EF4-FFF2-40B4-BE49-F238E27FC236}">
                <a16:creationId xmlns:a16="http://schemas.microsoft.com/office/drawing/2014/main" id="{68F70C62-B2D4-B1B0-9D0E-A547E15F864F}"/>
              </a:ext>
            </a:extLst>
          </p:cNvPr>
          <p:cNvSpPr txBox="1"/>
          <p:nvPr/>
        </p:nvSpPr>
        <p:spPr>
          <a:xfrm>
            <a:off x="1358420" y="210808"/>
            <a:ext cx="4475400" cy="265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dirty="0">
                <a:solidFill>
                  <a:schemeClr val="bg1">
                    <a:lumMod val="10000"/>
                  </a:schemeClr>
                </a:solidFill>
                <a:latin typeface="VT323"/>
                <a:ea typeface="VT323"/>
                <a:cs typeface="VT323"/>
                <a:sym typeface="VT323"/>
              </a:rPr>
              <a:t>Event-driven Architecture Deep Dive – Part 2</a:t>
            </a:r>
          </a:p>
        </p:txBody>
      </p:sp>
      <p:sp>
        <p:nvSpPr>
          <p:cNvPr id="4" name="TextBox 3">
            <a:extLst>
              <a:ext uri="{FF2B5EF4-FFF2-40B4-BE49-F238E27FC236}">
                <a16:creationId xmlns:a16="http://schemas.microsoft.com/office/drawing/2014/main" id="{975A5744-6377-F544-75DC-7F60CFB2D00D}"/>
              </a:ext>
            </a:extLst>
          </p:cNvPr>
          <p:cNvSpPr txBox="1"/>
          <p:nvPr/>
        </p:nvSpPr>
        <p:spPr>
          <a:xfrm>
            <a:off x="1357752" y="821470"/>
            <a:ext cx="2060179" cy="523220"/>
          </a:xfrm>
          <a:prstGeom prst="rect">
            <a:avLst/>
          </a:prstGeom>
          <a:noFill/>
        </p:spPr>
        <p:txBody>
          <a:bodyPr wrap="none" rtlCol="0">
            <a:spAutoFit/>
          </a:bodyPr>
          <a:lstStyle/>
          <a:p>
            <a:r>
              <a:rPr lang="en-US" sz="2800" b="1" dirty="0">
                <a:solidFill>
                  <a:srgbClr val="FFC000"/>
                </a:solidFill>
                <a:latin typeface="VT323" panose="020B0604020202020204" charset="0"/>
              </a:rPr>
              <a:t>Unix </a:t>
            </a:r>
            <a:r>
              <a:rPr lang="en-US" sz="2800" b="1" dirty="0" err="1">
                <a:solidFill>
                  <a:srgbClr val="FFC000"/>
                </a:solidFill>
                <a:latin typeface="VT323" panose="020B0604020202020204" charset="0"/>
              </a:rPr>
              <a:t>syscalls</a:t>
            </a:r>
            <a:endParaRPr lang="ru-RU" sz="2800" b="1" dirty="0">
              <a:solidFill>
                <a:srgbClr val="FFC000"/>
              </a:solidFill>
            </a:endParaRPr>
          </a:p>
        </p:txBody>
      </p:sp>
      <p:sp>
        <p:nvSpPr>
          <p:cNvPr id="5" name="TextBox 4">
            <a:extLst>
              <a:ext uri="{FF2B5EF4-FFF2-40B4-BE49-F238E27FC236}">
                <a16:creationId xmlns:a16="http://schemas.microsoft.com/office/drawing/2014/main" id="{2DF20346-0F05-0042-FB56-CD75F79CA34C}"/>
              </a:ext>
            </a:extLst>
          </p:cNvPr>
          <p:cNvSpPr txBox="1"/>
          <p:nvPr/>
        </p:nvSpPr>
        <p:spPr>
          <a:xfrm>
            <a:off x="5493609" y="2095800"/>
            <a:ext cx="2204450" cy="523220"/>
          </a:xfrm>
          <a:prstGeom prst="rect">
            <a:avLst/>
          </a:prstGeom>
          <a:noFill/>
        </p:spPr>
        <p:txBody>
          <a:bodyPr wrap="none" rtlCol="0">
            <a:spAutoFit/>
          </a:bodyPr>
          <a:lstStyle/>
          <a:p>
            <a:r>
              <a:rPr lang="en-US" sz="2800" b="1" dirty="0">
                <a:solidFill>
                  <a:srgbClr val="FFC000"/>
                </a:solidFill>
                <a:latin typeface="VT323" panose="020B0604020202020204" charset="0"/>
              </a:rPr>
              <a:t>Cluster module</a:t>
            </a:r>
            <a:endParaRPr lang="ru-RU" sz="2800" b="1" dirty="0">
              <a:solidFill>
                <a:srgbClr val="FFC000"/>
              </a:solidFill>
            </a:endParaRPr>
          </a:p>
        </p:txBody>
      </p:sp>
      <p:sp>
        <p:nvSpPr>
          <p:cNvPr id="7" name="TextBox 6">
            <a:extLst>
              <a:ext uri="{FF2B5EF4-FFF2-40B4-BE49-F238E27FC236}">
                <a16:creationId xmlns:a16="http://schemas.microsoft.com/office/drawing/2014/main" id="{2A9C68A3-AB05-F513-3742-48408395739A}"/>
              </a:ext>
            </a:extLst>
          </p:cNvPr>
          <p:cNvSpPr txBox="1"/>
          <p:nvPr/>
        </p:nvSpPr>
        <p:spPr>
          <a:xfrm>
            <a:off x="5660749" y="815879"/>
            <a:ext cx="2060179" cy="523220"/>
          </a:xfrm>
          <a:prstGeom prst="rect">
            <a:avLst/>
          </a:prstGeom>
          <a:noFill/>
        </p:spPr>
        <p:txBody>
          <a:bodyPr wrap="none" rtlCol="0">
            <a:spAutoFit/>
          </a:bodyPr>
          <a:lstStyle/>
          <a:p>
            <a:r>
              <a:rPr lang="en-US" sz="2800" b="1" dirty="0">
                <a:solidFill>
                  <a:srgbClr val="FFC000"/>
                </a:solidFill>
                <a:latin typeface="VT323" panose="020B0604020202020204" charset="0"/>
              </a:rPr>
              <a:t>Zero-copy I/O</a:t>
            </a:r>
            <a:endParaRPr lang="ru-RU" sz="2800" b="1" dirty="0">
              <a:solidFill>
                <a:srgbClr val="FFC000"/>
              </a:solidFill>
            </a:endParaRPr>
          </a:p>
        </p:txBody>
      </p:sp>
      <p:sp>
        <p:nvSpPr>
          <p:cNvPr id="8" name="TextBox 7">
            <a:extLst>
              <a:ext uri="{FF2B5EF4-FFF2-40B4-BE49-F238E27FC236}">
                <a16:creationId xmlns:a16="http://schemas.microsoft.com/office/drawing/2014/main" id="{672E2648-FB87-9E4D-4851-6F849979D8D1}"/>
              </a:ext>
            </a:extLst>
          </p:cNvPr>
          <p:cNvSpPr txBox="1"/>
          <p:nvPr/>
        </p:nvSpPr>
        <p:spPr>
          <a:xfrm>
            <a:off x="1167651" y="2102744"/>
            <a:ext cx="2492990" cy="523220"/>
          </a:xfrm>
          <a:prstGeom prst="rect">
            <a:avLst/>
          </a:prstGeom>
          <a:noFill/>
        </p:spPr>
        <p:txBody>
          <a:bodyPr wrap="none" rtlCol="0">
            <a:spAutoFit/>
          </a:bodyPr>
          <a:lstStyle/>
          <a:p>
            <a:r>
              <a:rPr lang="en-US" sz="2800" b="1" dirty="0" err="1">
                <a:solidFill>
                  <a:srgbClr val="FFC000"/>
                </a:solidFill>
                <a:latin typeface="VT323" panose="020B0604020202020204" charset="0"/>
              </a:rPr>
              <a:t>process.nextTick</a:t>
            </a:r>
            <a:endParaRPr lang="ru-RU" sz="2800" b="1" dirty="0">
              <a:solidFill>
                <a:srgbClr val="FFC000"/>
              </a:solidFill>
            </a:endParaRPr>
          </a:p>
        </p:txBody>
      </p:sp>
      <p:pic>
        <p:nvPicPr>
          <p:cNvPr id="6" name="Picture 2" descr="Node.js logo vector (eps, svg) free download - Brandlogos.net">
            <a:extLst>
              <a:ext uri="{FF2B5EF4-FFF2-40B4-BE49-F238E27FC236}">
                <a16:creationId xmlns:a16="http://schemas.microsoft.com/office/drawing/2014/main" id="{B373C227-071C-21E0-D4AE-FD09991FFC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391" y="187112"/>
            <a:ext cx="928654" cy="277145"/>
          </a:xfrm>
          <a:prstGeom prst="rect">
            <a:avLst/>
          </a:prstGeom>
          <a:noFill/>
          <a:extLst>
            <a:ext uri="{909E8E84-426E-40DD-AFC4-6F175D3DCCD1}">
              <a14:hiddenFill xmlns:a14="http://schemas.microsoft.com/office/drawing/2010/main">
                <a:solidFill>
                  <a:srgbClr val="FFFFFF"/>
                </a:solidFill>
              </a14:hiddenFill>
            </a:ext>
          </a:extLst>
        </p:spPr>
      </p:pic>
      <p:sp>
        <p:nvSpPr>
          <p:cNvPr id="9" name="Title 2">
            <a:extLst>
              <a:ext uri="{FF2B5EF4-FFF2-40B4-BE49-F238E27FC236}">
                <a16:creationId xmlns:a16="http://schemas.microsoft.com/office/drawing/2014/main" id="{EB31B84E-8060-AD4F-CFA0-0B4CD44D659E}"/>
              </a:ext>
            </a:extLst>
          </p:cNvPr>
          <p:cNvSpPr txBox="1">
            <a:spLocks/>
          </p:cNvSpPr>
          <p:nvPr/>
        </p:nvSpPr>
        <p:spPr>
          <a:xfrm>
            <a:off x="3382496" y="3878185"/>
            <a:ext cx="2379008" cy="782599"/>
          </a:xfrm>
          <a:prstGeom prst="rect">
            <a:avLst/>
          </a:prstGeom>
          <a:solidFill>
            <a:schemeClr val="lt1"/>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200"/>
              <a:buFont typeface="VT323"/>
              <a:buNone/>
              <a:defRPr sz="1500" b="0" i="0" u="none" strike="noStrike" cap="none">
                <a:solidFill>
                  <a:schemeClr val="dk1"/>
                </a:solidFill>
                <a:latin typeface="VT323"/>
                <a:ea typeface="VT323"/>
                <a:cs typeface="VT323"/>
                <a:sym typeface="VT323"/>
              </a:defRPr>
            </a:lvl1pPr>
            <a:lvl2pPr marR="0" lvl="1"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2pPr>
            <a:lvl3pPr marR="0" lvl="2"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3pPr>
            <a:lvl4pPr marR="0" lvl="3"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4pPr>
            <a:lvl5pPr marR="0" lvl="4"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5pPr>
            <a:lvl6pPr marR="0" lvl="5"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6pPr>
            <a:lvl7pPr marR="0" lvl="6"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7pPr>
            <a:lvl8pPr marR="0" lvl="7"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8pPr>
            <a:lvl9pPr marR="0" lvl="8"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9pPr>
          </a:lstStyle>
          <a:p>
            <a:r>
              <a:rPr lang="en-US" sz="1300" dirty="0" err="1">
                <a:latin typeface="Roboto Mono" panose="00000009000000000000" pitchFamily="49" charset="0"/>
                <a:ea typeface="Roboto Mono" panose="00000009000000000000" pitchFamily="49" charset="0"/>
              </a:rPr>
              <a:t>SharedArrayBuffer</a:t>
            </a:r>
            <a:r>
              <a:rPr lang="en-US" sz="1300" dirty="0">
                <a:latin typeface="Roboto Mono" panose="00000009000000000000" pitchFamily="49" charset="0"/>
                <a:ea typeface="Roboto Mono" panose="00000009000000000000" pitchFamily="49" charset="0"/>
              </a:rPr>
              <a:t> for inter-worker communication</a:t>
            </a:r>
            <a:endParaRPr lang="ru-RU" sz="1300" dirty="0">
              <a:latin typeface="Roboto Mono" panose="00000009000000000000" pitchFamily="49" charset="0"/>
              <a:ea typeface="Roboto Mono" panose="00000009000000000000" pitchFamily="49" charset="0"/>
            </a:endParaRPr>
          </a:p>
        </p:txBody>
      </p:sp>
      <p:sp>
        <p:nvSpPr>
          <p:cNvPr id="10" name="TextBox 9">
            <a:extLst>
              <a:ext uri="{FF2B5EF4-FFF2-40B4-BE49-F238E27FC236}">
                <a16:creationId xmlns:a16="http://schemas.microsoft.com/office/drawing/2014/main" id="{74FF712F-D7EC-C9EA-FD41-6FFCA2B6DCA4}"/>
              </a:ext>
            </a:extLst>
          </p:cNvPr>
          <p:cNvSpPr txBox="1"/>
          <p:nvPr/>
        </p:nvSpPr>
        <p:spPr>
          <a:xfrm>
            <a:off x="3526477" y="3354965"/>
            <a:ext cx="2060179" cy="523220"/>
          </a:xfrm>
          <a:prstGeom prst="rect">
            <a:avLst/>
          </a:prstGeom>
          <a:noFill/>
        </p:spPr>
        <p:txBody>
          <a:bodyPr wrap="none" rtlCol="0">
            <a:spAutoFit/>
          </a:bodyPr>
          <a:lstStyle/>
          <a:p>
            <a:r>
              <a:rPr lang="en-US" sz="2800" b="1" dirty="0">
                <a:solidFill>
                  <a:srgbClr val="FFC000"/>
                </a:solidFill>
                <a:latin typeface="VT323" panose="020B0604020202020204" charset="0"/>
              </a:rPr>
              <a:t>Optimizations</a:t>
            </a:r>
            <a:endParaRPr lang="ru-RU" sz="2800" b="1" dirty="0">
              <a:solidFill>
                <a:srgbClr val="FFC000"/>
              </a:solidFill>
            </a:endParaRPr>
          </a:p>
        </p:txBody>
      </p:sp>
    </p:spTree>
    <p:extLst>
      <p:ext uri="{BB962C8B-B14F-4D97-AF65-F5344CB8AC3E}">
        <p14:creationId xmlns:p14="http://schemas.microsoft.com/office/powerpoint/2010/main" val="3886377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8CC955F-9BE0-9069-2576-E300F1C90CCD}"/>
              </a:ext>
            </a:extLst>
          </p:cNvPr>
          <p:cNvSpPr>
            <a:spLocks noGrp="1"/>
          </p:cNvSpPr>
          <p:nvPr>
            <p:ph type="title"/>
          </p:nvPr>
        </p:nvSpPr>
        <p:spPr>
          <a:xfrm>
            <a:off x="931678" y="2836220"/>
            <a:ext cx="2976066" cy="1541864"/>
          </a:xfrm>
        </p:spPr>
        <p:txBody>
          <a:bodyPr/>
          <a:lstStyle/>
          <a:p>
            <a:r>
              <a:rPr lang="en-US" sz="1100" dirty="0">
                <a:effectLst/>
                <a:latin typeface="Roboto Mono" panose="00000009000000000000" pitchFamily="49" charset="0"/>
                <a:ea typeface="Roboto Mono" panose="00000009000000000000" pitchFamily="49" charset="0"/>
              </a:rPr>
              <a:t>Node.js keeps latency steady and predictable—even when overloaded—while pushing high throughput. In contrast, threaded systems can spike in wait times or crash. This is huge for real-world apps like e-commerce sites during sales</a:t>
            </a:r>
            <a:br>
              <a:rPr lang="en-US" sz="1100" dirty="0">
                <a:effectLst/>
                <a:latin typeface="Roboto Mono" panose="00000009000000000000" pitchFamily="49" charset="0"/>
                <a:ea typeface="Roboto Mono" panose="00000009000000000000" pitchFamily="49" charset="0"/>
              </a:rPr>
            </a:br>
            <a:endParaRPr lang="ru-RU" sz="1100" dirty="0">
              <a:latin typeface="Roboto Mono" panose="00000009000000000000" pitchFamily="49" charset="0"/>
              <a:ea typeface="Roboto Mono" panose="00000009000000000000" pitchFamily="49" charset="0"/>
            </a:endParaRPr>
          </a:p>
        </p:txBody>
      </p:sp>
      <p:sp>
        <p:nvSpPr>
          <p:cNvPr id="12" name="Google Shape;271;p33">
            <a:extLst>
              <a:ext uri="{FF2B5EF4-FFF2-40B4-BE49-F238E27FC236}">
                <a16:creationId xmlns:a16="http://schemas.microsoft.com/office/drawing/2014/main" id="{A585B079-6F3B-648C-700E-CDDAADB490CB}"/>
              </a:ext>
            </a:extLst>
          </p:cNvPr>
          <p:cNvSpPr txBox="1">
            <a:spLocks/>
          </p:cNvSpPr>
          <p:nvPr/>
        </p:nvSpPr>
        <p:spPr>
          <a:xfrm>
            <a:off x="136820" y="533875"/>
            <a:ext cx="6918600" cy="2538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dirty="0"/>
          </a:p>
        </p:txBody>
      </p:sp>
      <p:sp>
        <p:nvSpPr>
          <p:cNvPr id="14" name="Title 2">
            <a:extLst>
              <a:ext uri="{FF2B5EF4-FFF2-40B4-BE49-F238E27FC236}">
                <a16:creationId xmlns:a16="http://schemas.microsoft.com/office/drawing/2014/main" id="{E35BD9D8-5603-1AEA-8E31-E54977A4C5C4}"/>
              </a:ext>
            </a:extLst>
          </p:cNvPr>
          <p:cNvSpPr txBox="1">
            <a:spLocks/>
          </p:cNvSpPr>
          <p:nvPr/>
        </p:nvSpPr>
        <p:spPr>
          <a:xfrm>
            <a:off x="5236257" y="2927982"/>
            <a:ext cx="2645009" cy="1679124"/>
          </a:xfrm>
          <a:prstGeom prst="rect">
            <a:avLst/>
          </a:prstGeom>
          <a:solidFill>
            <a:schemeClr val="lt1"/>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200"/>
              <a:buFont typeface="VT323"/>
              <a:buNone/>
              <a:defRPr sz="1500" b="0" i="0" u="none" strike="noStrike" cap="none">
                <a:solidFill>
                  <a:schemeClr val="dk1"/>
                </a:solidFill>
                <a:latin typeface="VT323"/>
                <a:ea typeface="VT323"/>
                <a:cs typeface="VT323"/>
                <a:sym typeface="VT323"/>
              </a:defRPr>
            </a:lvl1pPr>
            <a:lvl2pPr marR="0" lvl="1"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2pPr>
            <a:lvl3pPr marR="0" lvl="2"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3pPr>
            <a:lvl4pPr marR="0" lvl="3"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4pPr>
            <a:lvl5pPr marR="0" lvl="4"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5pPr>
            <a:lvl6pPr marR="0" lvl="5"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6pPr>
            <a:lvl7pPr marR="0" lvl="6"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7pPr>
            <a:lvl8pPr marR="0" lvl="7"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8pPr>
            <a:lvl9pPr marR="0" lvl="8"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9pPr>
          </a:lstStyle>
          <a:p>
            <a:r>
              <a:rPr lang="en-US" sz="1050" dirty="0">
                <a:effectLst/>
                <a:latin typeface="Roboto Mono" panose="00000009000000000000" pitchFamily="49" charset="0"/>
                <a:ea typeface="Roboto Mono" panose="00000009000000000000" pitchFamily="49" charset="0"/>
              </a:rPr>
              <a:t>"clustering"—creating a team of worker processes that share the load. It's like one boss (master process) delegating to helpers on Unix, extending the perks of being lightweight while handling more work without the mess of full threading</a:t>
            </a:r>
          </a:p>
        </p:txBody>
      </p:sp>
      <p:sp>
        <p:nvSpPr>
          <p:cNvPr id="16" name="Title 2">
            <a:extLst>
              <a:ext uri="{FF2B5EF4-FFF2-40B4-BE49-F238E27FC236}">
                <a16:creationId xmlns:a16="http://schemas.microsoft.com/office/drawing/2014/main" id="{D0B99E47-BDF5-BE1D-3808-2BCF52A4678A}"/>
              </a:ext>
            </a:extLst>
          </p:cNvPr>
          <p:cNvSpPr txBox="1">
            <a:spLocks/>
          </p:cNvSpPr>
          <p:nvPr/>
        </p:nvSpPr>
        <p:spPr>
          <a:xfrm>
            <a:off x="915414" y="1175417"/>
            <a:ext cx="2912329" cy="707869"/>
          </a:xfrm>
          <a:prstGeom prst="rect">
            <a:avLst/>
          </a:prstGeom>
          <a:solidFill>
            <a:schemeClr val="lt1"/>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200"/>
              <a:buFont typeface="VT323"/>
              <a:buNone/>
              <a:defRPr sz="1500" b="0" i="0" u="none" strike="noStrike" cap="none">
                <a:solidFill>
                  <a:schemeClr val="dk1"/>
                </a:solidFill>
                <a:latin typeface="VT323"/>
                <a:ea typeface="VT323"/>
                <a:cs typeface="VT323"/>
                <a:sym typeface="VT323"/>
              </a:defRPr>
            </a:lvl1pPr>
            <a:lvl2pPr marR="0" lvl="1"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2pPr>
            <a:lvl3pPr marR="0" lvl="2"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3pPr>
            <a:lvl4pPr marR="0" lvl="3"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4pPr>
            <a:lvl5pPr marR="0" lvl="4"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5pPr>
            <a:lvl6pPr marR="0" lvl="5"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6pPr>
            <a:lvl7pPr marR="0" lvl="6"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7pPr>
            <a:lvl8pPr marR="0" lvl="7"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8pPr>
            <a:lvl9pPr marR="0" lvl="8"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9pPr>
          </a:lstStyle>
          <a:p>
            <a:r>
              <a:rPr lang="en-US" sz="1300" dirty="0">
                <a:latin typeface="Roboto Mono" panose="00000009000000000000" pitchFamily="49" charset="0"/>
                <a:ea typeface="Roboto Mono" panose="00000009000000000000" pitchFamily="49" charset="0"/>
              </a:rPr>
              <a:t>can handle tens of thousands of clients on modest hardware</a:t>
            </a:r>
            <a:endParaRPr lang="ru-RU" sz="1300" dirty="0">
              <a:latin typeface="Roboto Mono" panose="00000009000000000000" pitchFamily="49" charset="0"/>
              <a:ea typeface="Roboto Mono" panose="00000009000000000000" pitchFamily="49" charset="0"/>
            </a:endParaRPr>
          </a:p>
        </p:txBody>
      </p:sp>
      <p:sp>
        <p:nvSpPr>
          <p:cNvPr id="18" name="Title 2">
            <a:extLst>
              <a:ext uri="{FF2B5EF4-FFF2-40B4-BE49-F238E27FC236}">
                <a16:creationId xmlns:a16="http://schemas.microsoft.com/office/drawing/2014/main" id="{C9CF4555-6876-C160-BBFE-772C80B8EC60}"/>
              </a:ext>
            </a:extLst>
          </p:cNvPr>
          <p:cNvSpPr txBox="1">
            <a:spLocks/>
          </p:cNvSpPr>
          <p:nvPr/>
        </p:nvSpPr>
        <p:spPr>
          <a:xfrm>
            <a:off x="5288844" y="1070184"/>
            <a:ext cx="2592422" cy="1272965"/>
          </a:xfrm>
          <a:prstGeom prst="rect">
            <a:avLst/>
          </a:prstGeom>
          <a:solidFill>
            <a:schemeClr val="lt1"/>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200"/>
              <a:buFont typeface="VT323"/>
              <a:buNone/>
              <a:defRPr sz="1500" b="0" i="0" u="none" strike="noStrike" cap="none">
                <a:solidFill>
                  <a:schemeClr val="dk1"/>
                </a:solidFill>
                <a:latin typeface="VT323"/>
                <a:ea typeface="VT323"/>
                <a:cs typeface="VT323"/>
                <a:sym typeface="VT323"/>
              </a:defRPr>
            </a:lvl1pPr>
            <a:lvl2pPr marR="0" lvl="1"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2pPr>
            <a:lvl3pPr marR="0" lvl="2"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3pPr>
            <a:lvl4pPr marR="0" lvl="3"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4pPr>
            <a:lvl5pPr marR="0" lvl="4"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5pPr>
            <a:lvl6pPr marR="0" lvl="5"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6pPr>
            <a:lvl7pPr marR="0" lvl="6"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7pPr>
            <a:lvl8pPr marR="0" lvl="7"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8pPr>
            <a:lvl9pPr marR="0" lvl="8"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9pPr>
          </a:lstStyle>
          <a:p>
            <a:r>
              <a:rPr lang="en-US" sz="1200" dirty="0">
                <a:latin typeface="Roboto Mono" panose="00000009000000000000" pitchFamily="49" charset="0"/>
                <a:ea typeface="Roboto Mono" panose="00000009000000000000" pitchFamily="49" charset="0"/>
              </a:rPr>
              <a:t>Studies show SPED servers (like node.js/nginx) outperform thread-/process-based servers on in-memory workloads, scale better, has lower overhead </a:t>
            </a:r>
            <a:endParaRPr lang="ru-RU" sz="1200" dirty="0">
              <a:latin typeface="Roboto Mono" panose="00000009000000000000" pitchFamily="49" charset="0"/>
              <a:ea typeface="Roboto Mono" panose="00000009000000000000" pitchFamily="49" charset="0"/>
            </a:endParaRPr>
          </a:p>
        </p:txBody>
      </p:sp>
      <p:sp>
        <p:nvSpPr>
          <p:cNvPr id="2" name="Google Shape;182;p28">
            <a:extLst>
              <a:ext uri="{FF2B5EF4-FFF2-40B4-BE49-F238E27FC236}">
                <a16:creationId xmlns:a16="http://schemas.microsoft.com/office/drawing/2014/main" id="{68F70C62-B2D4-B1B0-9D0E-A547E15F864F}"/>
              </a:ext>
            </a:extLst>
          </p:cNvPr>
          <p:cNvSpPr txBox="1"/>
          <p:nvPr/>
        </p:nvSpPr>
        <p:spPr>
          <a:xfrm>
            <a:off x="1358420" y="210808"/>
            <a:ext cx="4475400" cy="265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dirty="0">
                <a:solidFill>
                  <a:schemeClr val="bg1">
                    <a:lumMod val="10000"/>
                  </a:schemeClr>
                </a:solidFill>
                <a:latin typeface="VT323"/>
                <a:ea typeface="VT323"/>
                <a:cs typeface="VT323"/>
                <a:sym typeface="VT323"/>
              </a:rPr>
              <a:t>Performance Advantages on Unix Systems </a:t>
            </a:r>
          </a:p>
        </p:txBody>
      </p:sp>
      <p:sp>
        <p:nvSpPr>
          <p:cNvPr id="4" name="TextBox 3">
            <a:extLst>
              <a:ext uri="{FF2B5EF4-FFF2-40B4-BE49-F238E27FC236}">
                <a16:creationId xmlns:a16="http://schemas.microsoft.com/office/drawing/2014/main" id="{975A5744-6377-F544-75DC-7F60CFB2D00D}"/>
              </a:ext>
            </a:extLst>
          </p:cNvPr>
          <p:cNvSpPr txBox="1"/>
          <p:nvPr/>
        </p:nvSpPr>
        <p:spPr>
          <a:xfrm>
            <a:off x="1934833" y="715378"/>
            <a:ext cx="906017" cy="523220"/>
          </a:xfrm>
          <a:prstGeom prst="rect">
            <a:avLst/>
          </a:prstGeom>
          <a:noFill/>
        </p:spPr>
        <p:txBody>
          <a:bodyPr wrap="none" rtlCol="0">
            <a:spAutoFit/>
          </a:bodyPr>
          <a:lstStyle/>
          <a:p>
            <a:r>
              <a:rPr lang="en-US" sz="2800" b="1" dirty="0">
                <a:solidFill>
                  <a:srgbClr val="FFC000"/>
                </a:solidFill>
                <a:latin typeface="VT323" panose="020B0604020202020204" charset="0"/>
              </a:rPr>
              <a:t>C10K+</a:t>
            </a:r>
            <a:endParaRPr lang="ru-RU" sz="2800" b="1" dirty="0">
              <a:solidFill>
                <a:srgbClr val="FFC000"/>
              </a:solidFill>
            </a:endParaRPr>
          </a:p>
        </p:txBody>
      </p:sp>
      <p:sp>
        <p:nvSpPr>
          <p:cNvPr id="5" name="TextBox 4">
            <a:extLst>
              <a:ext uri="{FF2B5EF4-FFF2-40B4-BE49-F238E27FC236}">
                <a16:creationId xmlns:a16="http://schemas.microsoft.com/office/drawing/2014/main" id="{2DF20346-0F05-0042-FB56-CD75F79CA34C}"/>
              </a:ext>
            </a:extLst>
          </p:cNvPr>
          <p:cNvSpPr txBox="1"/>
          <p:nvPr/>
        </p:nvSpPr>
        <p:spPr>
          <a:xfrm>
            <a:off x="5364208" y="673653"/>
            <a:ext cx="2441694" cy="400110"/>
          </a:xfrm>
          <a:prstGeom prst="rect">
            <a:avLst/>
          </a:prstGeom>
          <a:noFill/>
        </p:spPr>
        <p:txBody>
          <a:bodyPr wrap="none" rtlCol="0">
            <a:spAutoFit/>
          </a:bodyPr>
          <a:lstStyle/>
          <a:p>
            <a:r>
              <a:rPr lang="en-US" sz="2000" b="1" dirty="0">
                <a:solidFill>
                  <a:srgbClr val="FFC000"/>
                </a:solidFill>
                <a:latin typeface="VT323" panose="020B0604020202020204" charset="0"/>
              </a:rPr>
              <a:t>Event-driven vs Thread</a:t>
            </a:r>
            <a:endParaRPr lang="ru-RU" sz="2000" b="1" dirty="0">
              <a:solidFill>
                <a:srgbClr val="FFC000"/>
              </a:solidFill>
            </a:endParaRPr>
          </a:p>
        </p:txBody>
      </p:sp>
      <p:sp>
        <p:nvSpPr>
          <p:cNvPr id="7" name="TextBox 6">
            <a:extLst>
              <a:ext uri="{FF2B5EF4-FFF2-40B4-BE49-F238E27FC236}">
                <a16:creationId xmlns:a16="http://schemas.microsoft.com/office/drawing/2014/main" id="{2A9C68A3-AB05-F513-3742-48408395739A}"/>
              </a:ext>
            </a:extLst>
          </p:cNvPr>
          <p:cNvSpPr txBox="1"/>
          <p:nvPr/>
        </p:nvSpPr>
        <p:spPr>
          <a:xfrm>
            <a:off x="992080" y="2071954"/>
            <a:ext cx="2863077" cy="707886"/>
          </a:xfrm>
          <a:prstGeom prst="rect">
            <a:avLst/>
          </a:prstGeom>
          <a:noFill/>
        </p:spPr>
        <p:txBody>
          <a:bodyPr wrap="square" rtlCol="0">
            <a:spAutoFit/>
          </a:bodyPr>
          <a:lstStyle/>
          <a:p>
            <a:r>
              <a:rPr lang="en-US" sz="2000" b="1" dirty="0">
                <a:solidFill>
                  <a:srgbClr val="FFC000"/>
                </a:solidFill>
                <a:latin typeface="VT323" panose="020B0604020202020204" charset="0"/>
              </a:rPr>
              <a:t>Predictable latency, high throughput under overload</a:t>
            </a:r>
            <a:endParaRPr lang="ru-RU" sz="2000" b="1" dirty="0">
              <a:solidFill>
                <a:srgbClr val="FFC000"/>
              </a:solidFill>
            </a:endParaRPr>
          </a:p>
        </p:txBody>
      </p:sp>
      <p:sp>
        <p:nvSpPr>
          <p:cNvPr id="8" name="TextBox 7">
            <a:extLst>
              <a:ext uri="{FF2B5EF4-FFF2-40B4-BE49-F238E27FC236}">
                <a16:creationId xmlns:a16="http://schemas.microsoft.com/office/drawing/2014/main" id="{672E2648-FB87-9E4D-4851-6F849979D8D1}"/>
              </a:ext>
            </a:extLst>
          </p:cNvPr>
          <p:cNvSpPr txBox="1"/>
          <p:nvPr/>
        </p:nvSpPr>
        <p:spPr>
          <a:xfrm>
            <a:off x="5236257" y="2300645"/>
            <a:ext cx="2797521" cy="646331"/>
          </a:xfrm>
          <a:prstGeom prst="rect">
            <a:avLst/>
          </a:prstGeom>
          <a:noFill/>
        </p:spPr>
        <p:txBody>
          <a:bodyPr wrap="square" rtlCol="0">
            <a:spAutoFit/>
          </a:bodyPr>
          <a:lstStyle/>
          <a:p>
            <a:pPr algn="ctr"/>
            <a:r>
              <a:rPr lang="en-US" sz="1800" b="1" dirty="0">
                <a:solidFill>
                  <a:srgbClr val="FFC000"/>
                </a:solidFill>
                <a:latin typeface="VT323" panose="020B0604020202020204" charset="0"/>
              </a:rPr>
              <a:t>Clustering extends single-thread benefits</a:t>
            </a:r>
            <a:endParaRPr lang="ru-RU" sz="1800" b="1" dirty="0">
              <a:solidFill>
                <a:srgbClr val="FFC000"/>
              </a:solidFill>
            </a:endParaRPr>
          </a:p>
        </p:txBody>
      </p:sp>
      <p:pic>
        <p:nvPicPr>
          <p:cNvPr id="6" name="Picture 2" descr="Node.js logo vector (eps, svg) free download - Brandlogos.net">
            <a:extLst>
              <a:ext uri="{FF2B5EF4-FFF2-40B4-BE49-F238E27FC236}">
                <a16:creationId xmlns:a16="http://schemas.microsoft.com/office/drawing/2014/main" id="{B373C227-071C-21E0-D4AE-FD09991FFC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391" y="187112"/>
            <a:ext cx="928654" cy="277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5188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D77FFD56-59CE-6D30-F240-715CBBA70627}"/>
              </a:ext>
            </a:extLst>
          </p:cNvPr>
          <p:cNvSpPr txBox="1">
            <a:spLocks/>
          </p:cNvSpPr>
          <p:nvPr/>
        </p:nvSpPr>
        <p:spPr>
          <a:xfrm>
            <a:off x="5086350" y="850037"/>
            <a:ext cx="3316161" cy="2912338"/>
          </a:xfrm>
          <a:prstGeom prst="rect">
            <a:avLst/>
          </a:prstGeom>
          <a:solidFill>
            <a:srgbClr val="7A7A78"/>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200"/>
              <a:buFont typeface="VT323"/>
              <a:buNone/>
              <a:defRPr sz="1500" b="0" i="0" u="none" strike="noStrike" cap="none">
                <a:solidFill>
                  <a:schemeClr val="dk1"/>
                </a:solidFill>
                <a:latin typeface="VT323"/>
                <a:ea typeface="VT323"/>
                <a:cs typeface="VT323"/>
                <a:sym typeface="VT323"/>
              </a:defRPr>
            </a:lvl1pPr>
            <a:lvl2pPr marR="0" lvl="1"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2pPr>
            <a:lvl3pPr marR="0" lvl="2"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3pPr>
            <a:lvl4pPr marR="0" lvl="3"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4pPr>
            <a:lvl5pPr marR="0" lvl="4"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5pPr>
            <a:lvl6pPr marR="0" lvl="5"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6pPr>
            <a:lvl7pPr marR="0" lvl="6"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7pPr>
            <a:lvl8pPr marR="0" lvl="7"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8pPr>
            <a:lvl9pPr marR="0" lvl="8"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9pPr>
          </a:lstStyle>
          <a:p>
            <a:endParaRPr lang="ru-RU" sz="1300" dirty="0">
              <a:latin typeface="Roboto Mono" panose="00000009000000000000" pitchFamily="49" charset="0"/>
              <a:ea typeface="Roboto Mono" panose="00000009000000000000" pitchFamily="49" charset="0"/>
            </a:endParaRPr>
          </a:p>
        </p:txBody>
      </p:sp>
      <p:sp>
        <p:nvSpPr>
          <p:cNvPr id="10" name="Google Shape;182;p28">
            <a:extLst>
              <a:ext uri="{FF2B5EF4-FFF2-40B4-BE49-F238E27FC236}">
                <a16:creationId xmlns:a16="http://schemas.microsoft.com/office/drawing/2014/main" id="{0F21A671-7DBF-5FC8-DD97-1CF882DF5CA6}"/>
              </a:ext>
            </a:extLst>
          </p:cNvPr>
          <p:cNvSpPr txBox="1"/>
          <p:nvPr/>
        </p:nvSpPr>
        <p:spPr>
          <a:xfrm>
            <a:off x="1358420" y="210808"/>
            <a:ext cx="4475400" cy="265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dirty="0">
                <a:solidFill>
                  <a:schemeClr val="bg1">
                    <a:lumMod val="10000"/>
                  </a:schemeClr>
                </a:solidFill>
                <a:latin typeface="VT323"/>
                <a:ea typeface="VT323"/>
                <a:cs typeface="VT323"/>
                <a:sym typeface="VT323"/>
              </a:rPr>
              <a:t>Performance Advantages on Unix Systems. Part 1</a:t>
            </a:r>
            <a:endParaRPr sz="1600" dirty="0">
              <a:solidFill>
                <a:schemeClr val="bg1">
                  <a:lumMod val="10000"/>
                </a:schemeClr>
              </a:solidFill>
              <a:latin typeface="VT323"/>
              <a:ea typeface="VT323"/>
              <a:cs typeface="VT323"/>
              <a:sym typeface="VT323"/>
            </a:endParaRPr>
          </a:p>
        </p:txBody>
      </p:sp>
      <p:sp>
        <p:nvSpPr>
          <p:cNvPr id="12" name="Google Shape;271;p33">
            <a:extLst>
              <a:ext uri="{FF2B5EF4-FFF2-40B4-BE49-F238E27FC236}">
                <a16:creationId xmlns:a16="http://schemas.microsoft.com/office/drawing/2014/main" id="{A585B079-6F3B-648C-700E-CDDAADB490CB}"/>
              </a:ext>
            </a:extLst>
          </p:cNvPr>
          <p:cNvSpPr txBox="1">
            <a:spLocks/>
          </p:cNvSpPr>
          <p:nvPr/>
        </p:nvSpPr>
        <p:spPr>
          <a:xfrm>
            <a:off x="0" y="327125"/>
            <a:ext cx="6918600" cy="2538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dirty="0"/>
          </a:p>
        </p:txBody>
      </p:sp>
      <p:sp>
        <p:nvSpPr>
          <p:cNvPr id="15" name="Title 2">
            <a:extLst>
              <a:ext uri="{FF2B5EF4-FFF2-40B4-BE49-F238E27FC236}">
                <a16:creationId xmlns:a16="http://schemas.microsoft.com/office/drawing/2014/main" id="{3F4978FF-87F8-927D-16CD-7626B51174F3}"/>
              </a:ext>
            </a:extLst>
          </p:cNvPr>
          <p:cNvSpPr txBox="1">
            <a:spLocks/>
          </p:cNvSpPr>
          <p:nvPr/>
        </p:nvSpPr>
        <p:spPr>
          <a:xfrm>
            <a:off x="741489" y="3762375"/>
            <a:ext cx="3028099" cy="913383"/>
          </a:xfrm>
          <a:prstGeom prst="rect">
            <a:avLst/>
          </a:prstGeom>
          <a:solidFill>
            <a:srgbClr val="FFC000"/>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200"/>
              <a:buFont typeface="VT323"/>
              <a:buNone/>
              <a:defRPr sz="1500" b="0" i="0" u="none" strike="noStrike" cap="none">
                <a:solidFill>
                  <a:schemeClr val="dk1"/>
                </a:solidFill>
                <a:latin typeface="VT323"/>
                <a:ea typeface="VT323"/>
                <a:cs typeface="VT323"/>
                <a:sym typeface="VT323"/>
              </a:defRPr>
            </a:lvl1pPr>
            <a:lvl2pPr marR="0" lvl="1"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2pPr>
            <a:lvl3pPr marR="0" lvl="2"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3pPr>
            <a:lvl4pPr marR="0" lvl="3"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4pPr>
            <a:lvl5pPr marR="0" lvl="4"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5pPr>
            <a:lvl6pPr marR="0" lvl="5"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6pPr>
            <a:lvl7pPr marR="0" lvl="6"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7pPr>
            <a:lvl8pPr marR="0" lvl="7"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8pPr>
            <a:lvl9pPr marR="0" lvl="8"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9pPr>
          </a:lstStyle>
          <a:p>
            <a:r>
              <a:rPr lang="en-US" sz="1600" dirty="0"/>
              <a:t>Figure 1. </a:t>
            </a:r>
            <a:r>
              <a:rPr lang="en-US" sz="1600" dirty="0">
                <a:effectLst/>
              </a:rPr>
              <a:t>Throughput and latency degradation in threaded servers under increasing load</a:t>
            </a:r>
          </a:p>
          <a:p>
            <a:endParaRPr lang="ru-RU" sz="1600" dirty="0"/>
          </a:p>
        </p:txBody>
      </p:sp>
      <p:grpSp>
        <p:nvGrpSpPr>
          <p:cNvPr id="13" name="Google Shape;263;p32">
            <a:extLst>
              <a:ext uri="{FF2B5EF4-FFF2-40B4-BE49-F238E27FC236}">
                <a16:creationId xmlns:a16="http://schemas.microsoft.com/office/drawing/2014/main" id="{F636B827-0931-9F3E-0397-0C89BB04D2EE}"/>
              </a:ext>
            </a:extLst>
          </p:cNvPr>
          <p:cNvGrpSpPr/>
          <p:nvPr/>
        </p:nvGrpSpPr>
        <p:grpSpPr>
          <a:xfrm>
            <a:off x="4572000" y="850037"/>
            <a:ext cx="3759201" cy="473038"/>
            <a:chOff x="6386650" y="947025"/>
            <a:chExt cx="2107351" cy="265500"/>
          </a:xfrm>
        </p:grpSpPr>
        <p:pic>
          <p:nvPicPr>
            <p:cNvPr id="14" name="Google Shape;264;p32" title="Sin título-2.png">
              <a:extLst>
                <a:ext uri="{FF2B5EF4-FFF2-40B4-BE49-F238E27FC236}">
                  <a16:creationId xmlns:a16="http://schemas.microsoft.com/office/drawing/2014/main" id="{F3BD9FAF-FC52-4B2A-7B2E-E978E7DFB9C9}"/>
                </a:ext>
              </a:extLst>
            </p:cNvPr>
            <p:cNvPicPr preferRelativeResize="0"/>
            <p:nvPr/>
          </p:nvPicPr>
          <p:blipFill rotWithShape="1">
            <a:blip r:embed="rId2">
              <a:alphaModFix/>
            </a:blip>
            <a:srcRect l="71706"/>
            <a:stretch/>
          </p:blipFill>
          <p:spPr>
            <a:xfrm>
              <a:off x="6386650" y="947025"/>
              <a:ext cx="2107351" cy="265500"/>
            </a:xfrm>
            <a:prstGeom prst="rect">
              <a:avLst/>
            </a:prstGeom>
            <a:noFill/>
            <a:ln>
              <a:noFill/>
            </a:ln>
          </p:spPr>
        </p:pic>
        <p:pic>
          <p:nvPicPr>
            <p:cNvPr id="16" name="Google Shape;265;p32" title="Sin título-2.png">
              <a:extLst>
                <a:ext uri="{FF2B5EF4-FFF2-40B4-BE49-F238E27FC236}">
                  <a16:creationId xmlns:a16="http://schemas.microsoft.com/office/drawing/2014/main" id="{90929E5A-641F-11FE-87A6-409EE3EDE91C}"/>
                </a:ext>
              </a:extLst>
            </p:cNvPr>
            <p:cNvPicPr preferRelativeResize="0"/>
            <p:nvPr/>
          </p:nvPicPr>
          <p:blipFill rotWithShape="1">
            <a:blip r:embed="rId2">
              <a:alphaModFix/>
            </a:blip>
            <a:srcRect l="71706"/>
            <a:stretch/>
          </p:blipFill>
          <p:spPr>
            <a:xfrm>
              <a:off x="6386650" y="947025"/>
              <a:ext cx="2107351" cy="265500"/>
            </a:xfrm>
            <a:prstGeom prst="rect">
              <a:avLst/>
            </a:prstGeom>
            <a:noFill/>
            <a:ln>
              <a:noFill/>
            </a:ln>
          </p:spPr>
        </p:pic>
      </p:grpSp>
      <p:sp>
        <p:nvSpPr>
          <p:cNvPr id="19" name="TextBox 18">
            <a:extLst>
              <a:ext uri="{FF2B5EF4-FFF2-40B4-BE49-F238E27FC236}">
                <a16:creationId xmlns:a16="http://schemas.microsoft.com/office/drawing/2014/main" id="{98A75DDC-C6C0-C31D-C506-BB57B47394CD}"/>
              </a:ext>
            </a:extLst>
          </p:cNvPr>
          <p:cNvSpPr txBox="1"/>
          <p:nvPr/>
        </p:nvSpPr>
        <p:spPr>
          <a:xfrm>
            <a:off x="3382238" y="4367981"/>
            <a:ext cx="946150" cy="307777"/>
          </a:xfrm>
          <a:prstGeom prst="rect">
            <a:avLst/>
          </a:prstGeom>
          <a:noFill/>
        </p:spPr>
        <p:txBody>
          <a:bodyPr wrap="square" rtlCol="0">
            <a:spAutoFit/>
          </a:bodyPr>
          <a:lstStyle/>
          <a:p>
            <a:r>
              <a:rPr lang="en-US" dirty="0">
                <a:latin typeface="VT323" panose="020B0604020202020204" charset="0"/>
              </a:rPr>
              <a:t>[1]</a:t>
            </a:r>
            <a:endParaRPr lang="ru-RU" dirty="0"/>
          </a:p>
        </p:txBody>
      </p:sp>
      <p:pic>
        <p:nvPicPr>
          <p:cNvPr id="2" name="Picture 2" descr="Node.js logo vector (eps, svg) free download - Brandlogos.net">
            <a:extLst>
              <a:ext uri="{FF2B5EF4-FFF2-40B4-BE49-F238E27FC236}">
                <a16:creationId xmlns:a16="http://schemas.microsoft.com/office/drawing/2014/main" id="{5D848A0E-6AF8-C2ED-8B39-F2A49F01F8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391" y="187112"/>
            <a:ext cx="928654" cy="2771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A539D7BA-5ED2-755E-3D6E-393D62875C85}"/>
              </a:ext>
            </a:extLst>
          </p:cNvPr>
          <p:cNvPicPr>
            <a:picLocks noChangeAspect="1"/>
          </p:cNvPicPr>
          <p:nvPr/>
        </p:nvPicPr>
        <p:blipFill>
          <a:blip r:embed="rId4"/>
          <a:stretch>
            <a:fillRect/>
          </a:stretch>
        </p:blipFill>
        <p:spPr>
          <a:xfrm>
            <a:off x="4536134" y="1323075"/>
            <a:ext cx="3866377" cy="2798268"/>
          </a:xfrm>
          <a:prstGeom prst="rect">
            <a:avLst/>
          </a:prstGeom>
        </p:spPr>
      </p:pic>
      <p:sp>
        <p:nvSpPr>
          <p:cNvPr id="7" name="Title 2">
            <a:extLst>
              <a:ext uri="{FF2B5EF4-FFF2-40B4-BE49-F238E27FC236}">
                <a16:creationId xmlns:a16="http://schemas.microsoft.com/office/drawing/2014/main" id="{39EE0B64-C585-8810-8FB7-D6F37E908B08}"/>
              </a:ext>
            </a:extLst>
          </p:cNvPr>
          <p:cNvSpPr txBox="1">
            <a:spLocks/>
          </p:cNvSpPr>
          <p:nvPr/>
        </p:nvSpPr>
        <p:spPr>
          <a:xfrm>
            <a:off x="599228" y="1559984"/>
            <a:ext cx="3373543" cy="1684979"/>
          </a:xfrm>
          <a:prstGeom prst="rect">
            <a:avLst/>
          </a:prstGeom>
          <a:solidFill>
            <a:srgbClr val="FFEEB9"/>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200"/>
              <a:buFont typeface="VT323"/>
              <a:buNone/>
              <a:defRPr sz="1500" b="0" i="0" u="none" strike="noStrike" cap="none">
                <a:solidFill>
                  <a:schemeClr val="dk1"/>
                </a:solidFill>
                <a:latin typeface="VT323"/>
                <a:ea typeface="VT323"/>
                <a:cs typeface="VT323"/>
                <a:sym typeface="VT323"/>
              </a:defRPr>
            </a:lvl1pPr>
            <a:lvl2pPr marR="0" lvl="1"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2pPr>
            <a:lvl3pPr marR="0" lvl="2"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3pPr>
            <a:lvl4pPr marR="0" lvl="3"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4pPr>
            <a:lvl5pPr marR="0" lvl="4"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5pPr>
            <a:lvl6pPr marR="0" lvl="5"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6pPr>
            <a:lvl7pPr marR="0" lvl="6"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7pPr>
            <a:lvl8pPr marR="0" lvl="7"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8pPr>
            <a:lvl9pPr marR="0" lvl="8"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9pPr>
          </a:lstStyle>
          <a:p>
            <a:r>
              <a:rPr lang="en-US" sz="1300" dirty="0">
                <a:latin typeface="Roboto Mono" panose="00000009000000000000" pitchFamily="49" charset="0"/>
                <a:ea typeface="Roboto Mono" panose="00000009000000000000" pitchFamily="49" charset="0"/>
              </a:rPr>
              <a:t>At first, speed (throughput) goes up, but then it peaks and crashes hard, while wait times (latency) explode—like a highway jamming up in rush hour. </a:t>
            </a:r>
            <a:br>
              <a:rPr lang="en-US" sz="1300" dirty="0">
                <a:latin typeface="Roboto Mono" panose="00000009000000000000" pitchFamily="49" charset="0"/>
                <a:ea typeface="Roboto Mono" panose="00000009000000000000" pitchFamily="49" charset="0"/>
              </a:rPr>
            </a:br>
            <a:r>
              <a:rPr lang="en-US" sz="1300" dirty="0">
                <a:latin typeface="Roboto Mono" panose="00000009000000000000" pitchFamily="49" charset="0"/>
                <a:ea typeface="Roboto Mono" panose="00000009000000000000" pitchFamily="49" charset="0"/>
              </a:rPr>
              <a:t>Event-driven systems (like Node.js) don't do this; they stay steady.</a:t>
            </a:r>
          </a:p>
        </p:txBody>
      </p:sp>
    </p:spTree>
    <p:extLst>
      <p:ext uri="{BB962C8B-B14F-4D97-AF65-F5344CB8AC3E}">
        <p14:creationId xmlns:p14="http://schemas.microsoft.com/office/powerpoint/2010/main" val="4047331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D77FFD56-59CE-6D30-F240-715CBBA70627}"/>
              </a:ext>
            </a:extLst>
          </p:cNvPr>
          <p:cNvSpPr txBox="1">
            <a:spLocks/>
          </p:cNvSpPr>
          <p:nvPr/>
        </p:nvSpPr>
        <p:spPr>
          <a:xfrm>
            <a:off x="2866659" y="734153"/>
            <a:ext cx="5826571" cy="2658055"/>
          </a:xfrm>
          <a:prstGeom prst="rect">
            <a:avLst/>
          </a:prstGeom>
          <a:solidFill>
            <a:srgbClr val="7A7A78"/>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200"/>
              <a:buFont typeface="VT323"/>
              <a:buNone/>
              <a:defRPr sz="1500" b="0" i="0" u="none" strike="noStrike" cap="none">
                <a:solidFill>
                  <a:schemeClr val="dk1"/>
                </a:solidFill>
                <a:latin typeface="VT323"/>
                <a:ea typeface="VT323"/>
                <a:cs typeface="VT323"/>
                <a:sym typeface="VT323"/>
              </a:defRPr>
            </a:lvl1pPr>
            <a:lvl2pPr marR="0" lvl="1"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2pPr>
            <a:lvl3pPr marR="0" lvl="2"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3pPr>
            <a:lvl4pPr marR="0" lvl="3"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4pPr>
            <a:lvl5pPr marR="0" lvl="4"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5pPr>
            <a:lvl6pPr marR="0" lvl="5"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6pPr>
            <a:lvl7pPr marR="0" lvl="6"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7pPr>
            <a:lvl8pPr marR="0" lvl="7"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8pPr>
            <a:lvl9pPr marR="0" lvl="8"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9pPr>
          </a:lstStyle>
          <a:p>
            <a:endParaRPr lang="ru-RU" sz="1300" dirty="0">
              <a:latin typeface="Roboto Mono" panose="00000009000000000000" pitchFamily="49" charset="0"/>
              <a:ea typeface="Roboto Mono" panose="00000009000000000000" pitchFamily="49" charset="0"/>
            </a:endParaRPr>
          </a:p>
        </p:txBody>
      </p:sp>
      <p:sp>
        <p:nvSpPr>
          <p:cNvPr id="10" name="Google Shape;182;p28">
            <a:extLst>
              <a:ext uri="{FF2B5EF4-FFF2-40B4-BE49-F238E27FC236}">
                <a16:creationId xmlns:a16="http://schemas.microsoft.com/office/drawing/2014/main" id="{0F21A671-7DBF-5FC8-DD97-1CF882DF5CA6}"/>
              </a:ext>
            </a:extLst>
          </p:cNvPr>
          <p:cNvSpPr txBox="1"/>
          <p:nvPr/>
        </p:nvSpPr>
        <p:spPr>
          <a:xfrm>
            <a:off x="1358420" y="210808"/>
            <a:ext cx="4475400" cy="265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dirty="0">
                <a:solidFill>
                  <a:schemeClr val="bg1">
                    <a:lumMod val="10000"/>
                  </a:schemeClr>
                </a:solidFill>
                <a:latin typeface="VT323"/>
                <a:ea typeface="VT323"/>
                <a:cs typeface="VT323"/>
                <a:sym typeface="VT323"/>
              </a:rPr>
              <a:t>Performance Advantages on Unix Systems. Part 1.1</a:t>
            </a:r>
            <a:endParaRPr sz="1600" dirty="0">
              <a:solidFill>
                <a:schemeClr val="bg1">
                  <a:lumMod val="10000"/>
                </a:schemeClr>
              </a:solidFill>
              <a:latin typeface="VT323"/>
              <a:ea typeface="VT323"/>
              <a:cs typeface="VT323"/>
              <a:sym typeface="VT323"/>
            </a:endParaRPr>
          </a:p>
        </p:txBody>
      </p:sp>
      <p:sp>
        <p:nvSpPr>
          <p:cNvPr id="12" name="Google Shape;271;p33">
            <a:extLst>
              <a:ext uri="{FF2B5EF4-FFF2-40B4-BE49-F238E27FC236}">
                <a16:creationId xmlns:a16="http://schemas.microsoft.com/office/drawing/2014/main" id="{A585B079-6F3B-648C-700E-CDDAADB490CB}"/>
              </a:ext>
            </a:extLst>
          </p:cNvPr>
          <p:cNvSpPr txBox="1">
            <a:spLocks/>
          </p:cNvSpPr>
          <p:nvPr/>
        </p:nvSpPr>
        <p:spPr>
          <a:xfrm>
            <a:off x="0" y="327125"/>
            <a:ext cx="6918600" cy="2538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dirty="0"/>
          </a:p>
        </p:txBody>
      </p:sp>
      <p:sp>
        <p:nvSpPr>
          <p:cNvPr id="4" name="Title 2">
            <a:extLst>
              <a:ext uri="{FF2B5EF4-FFF2-40B4-BE49-F238E27FC236}">
                <a16:creationId xmlns:a16="http://schemas.microsoft.com/office/drawing/2014/main" id="{435C5D55-2DCA-D2C1-2A98-7A959F9BB2DA}"/>
              </a:ext>
            </a:extLst>
          </p:cNvPr>
          <p:cNvSpPr txBox="1">
            <a:spLocks/>
          </p:cNvSpPr>
          <p:nvPr/>
        </p:nvSpPr>
        <p:spPr>
          <a:xfrm>
            <a:off x="288099" y="801752"/>
            <a:ext cx="2472407" cy="3752930"/>
          </a:xfrm>
          <a:prstGeom prst="rect">
            <a:avLst/>
          </a:prstGeom>
          <a:solidFill>
            <a:srgbClr val="FFEEB9"/>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200"/>
              <a:buFont typeface="VT323"/>
              <a:buNone/>
              <a:defRPr sz="1500" b="0" i="0" u="none" strike="noStrike" cap="none">
                <a:solidFill>
                  <a:schemeClr val="dk1"/>
                </a:solidFill>
                <a:latin typeface="VT323"/>
                <a:ea typeface="VT323"/>
                <a:cs typeface="VT323"/>
                <a:sym typeface="VT323"/>
              </a:defRPr>
            </a:lvl1pPr>
            <a:lvl2pPr marR="0" lvl="1"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2pPr>
            <a:lvl3pPr marR="0" lvl="2"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3pPr>
            <a:lvl4pPr marR="0" lvl="3"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4pPr>
            <a:lvl5pPr marR="0" lvl="4"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5pPr>
            <a:lvl6pPr marR="0" lvl="5"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6pPr>
            <a:lvl7pPr marR="0" lvl="6"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7pPr>
            <a:lvl8pPr marR="0" lvl="7"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8pPr>
            <a:lvl9pPr marR="0" lvl="8"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9pPr>
          </a:lstStyle>
          <a:p>
            <a:r>
              <a:rPr lang="en-US" sz="1300" dirty="0">
                <a:latin typeface="Roboto Mono" panose="00000009000000000000" pitchFamily="49" charset="0"/>
                <a:ea typeface="Roboto Mono" panose="00000009000000000000" pitchFamily="49" charset="0"/>
              </a:rPr>
              <a:t>Comparison of an event-driven server (Haboob, based on SEDA tech that's similar to Node.js) to a threaded one (Apache, an old-school web server). The event-driven one keeps pumping out data at over 200 Mbps (megabits per second) even with 1,000+ users, and it's "fair" (treats all requests equally). Apache drops off sharply. </a:t>
            </a:r>
            <a:r>
              <a:rPr lang="en-US" sz="1300" b="1" dirty="0">
                <a:latin typeface="Roboto Mono" panose="00000009000000000000" pitchFamily="49" charset="0"/>
                <a:ea typeface="Roboto Mono" panose="00000009000000000000" pitchFamily="49" charset="0"/>
              </a:rPr>
              <a:t>It's proof that event-driven wins for busy Unix servers.</a:t>
            </a:r>
            <a:endParaRPr lang="ru-RU" sz="1300" b="1" dirty="0">
              <a:latin typeface="Roboto Mono" panose="00000009000000000000" pitchFamily="49" charset="0"/>
              <a:ea typeface="Roboto Mono" panose="00000009000000000000" pitchFamily="49" charset="0"/>
            </a:endParaRPr>
          </a:p>
        </p:txBody>
      </p:sp>
      <p:sp>
        <p:nvSpPr>
          <p:cNvPr id="15" name="Title 2">
            <a:extLst>
              <a:ext uri="{FF2B5EF4-FFF2-40B4-BE49-F238E27FC236}">
                <a16:creationId xmlns:a16="http://schemas.microsoft.com/office/drawing/2014/main" id="{3F4978FF-87F8-927D-16CD-7626B51174F3}"/>
              </a:ext>
            </a:extLst>
          </p:cNvPr>
          <p:cNvSpPr txBox="1">
            <a:spLocks/>
          </p:cNvSpPr>
          <p:nvPr/>
        </p:nvSpPr>
        <p:spPr>
          <a:xfrm>
            <a:off x="3812327" y="4105275"/>
            <a:ext cx="4216811" cy="646617"/>
          </a:xfrm>
          <a:prstGeom prst="rect">
            <a:avLst/>
          </a:prstGeom>
          <a:solidFill>
            <a:srgbClr val="FFC000"/>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200"/>
              <a:buFont typeface="VT323"/>
              <a:buNone/>
              <a:defRPr sz="1500" b="0" i="0" u="none" strike="noStrike" cap="none">
                <a:solidFill>
                  <a:schemeClr val="dk1"/>
                </a:solidFill>
                <a:latin typeface="VT323"/>
                <a:ea typeface="VT323"/>
                <a:cs typeface="VT323"/>
                <a:sym typeface="VT323"/>
              </a:defRPr>
            </a:lvl1pPr>
            <a:lvl2pPr marR="0" lvl="1"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2pPr>
            <a:lvl3pPr marR="0" lvl="2"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3pPr>
            <a:lvl4pPr marR="0" lvl="3"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4pPr>
            <a:lvl5pPr marR="0" lvl="4"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5pPr>
            <a:lvl6pPr marR="0" lvl="5"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6pPr>
            <a:lvl7pPr marR="0" lvl="6"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7pPr>
            <a:lvl8pPr marR="0" lvl="7"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8pPr>
            <a:lvl9pPr marR="0" lvl="8"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9pPr>
          </a:lstStyle>
          <a:p>
            <a:r>
              <a:rPr lang="en-US" sz="1600" dirty="0"/>
              <a:t>Figure 2. </a:t>
            </a:r>
            <a:r>
              <a:rPr lang="en-US" sz="1600" dirty="0">
                <a:effectLst/>
              </a:rPr>
              <a:t>Throughput and latency degradation in threaded servers under increasing load</a:t>
            </a:r>
          </a:p>
          <a:p>
            <a:endParaRPr lang="ru-RU" sz="1600" dirty="0"/>
          </a:p>
        </p:txBody>
      </p:sp>
      <p:grpSp>
        <p:nvGrpSpPr>
          <p:cNvPr id="13" name="Google Shape;263;p32">
            <a:extLst>
              <a:ext uri="{FF2B5EF4-FFF2-40B4-BE49-F238E27FC236}">
                <a16:creationId xmlns:a16="http://schemas.microsoft.com/office/drawing/2014/main" id="{F636B827-0931-9F3E-0397-0C89BB04D2EE}"/>
              </a:ext>
            </a:extLst>
          </p:cNvPr>
          <p:cNvGrpSpPr/>
          <p:nvPr/>
        </p:nvGrpSpPr>
        <p:grpSpPr>
          <a:xfrm>
            <a:off x="5723577" y="734154"/>
            <a:ext cx="3128542" cy="374856"/>
            <a:chOff x="6386650" y="947025"/>
            <a:chExt cx="2107351" cy="265500"/>
          </a:xfrm>
        </p:grpSpPr>
        <p:pic>
          <p:nvPicPr>
            <p:cNvPr id="14" name="Google Shape;264;p32" title="Sin título-2.png">
              <a:extLst>
                <a:ext uri="{FF2B5EF4-FFF2-40B4-BE49-F238E27FC236}">
                  <a16:creationId xmlns:a16="http://schemas.microsoft.com/office/drawing/2014/main" id="{F3BD9FAF-FC52-4B2A-7B2E-E978E7DFB9C9}"/>
                </a:ext>
              </a:extLst>
            </p:cNvPr>
            <p:cNvPicPr preferRelativeResize="0"/>
            <p:nvPr/>
          </p:nvPicPr>
          <p:blipFill rotWithShape="1">
            <a:blip r:embed="rId2">
              <a:alphaModFix/>
            </a:blip>
            <a:srcRect l="71706"/>
            <a:stretch/>
          </p:blipFill>
          <p:spPr>
            <a:xfrm>
              <a:off x="6386650" y="947025"/>
              <a:ext cx="2107351" cy="265500"/>
            </a:xfrm>
            <a:prstGeom prst="rect">
              <a:avLst/>
            </a:prstGeom>
            <a:noFill/>
            <a:ln>
              <a:noFill/>
            </a:ln>
          </p:spPr>
        </p:pic>
        <p:pic>
          <p:nvPicPr>
            <p:cNvPr id="16" name="Google Shape;265;p32" title="Sin título-2.png">
              <a:extLst>
                <a:ext uri="{FF2B5EF4-FFF2-40B4-BE49-F238E27FC236}">
                  <a16:creationId xmlns:a16="http://schemas.microsoft.com/office/drawing/2014/main" id="{90929E5A-641F-11FE-87A6-409EE3EDE91C}"/>
                </a:ext>
              </a:extLst>
            </p:cNvPr>
            <p:cNvPicPr preferRelativeResize="0"/>
            <p:nvPr/>
          </p:nvPicPr>
          <p:blipFill rotWithShape="1">
            <a:blip r:embed="rId2">
              <a:alphaModFix/>
            </a:blip>
            <a:srcRect l="71706"/>
            <a:stretch/>
          </p:blipFill>
          <p:spPr>
            <a:xfrm>
              <a:off x="6386650" y="947025"/>
              <a:ext cx="2107351" cy="265500"/>
            </a:xfrm>
            <a:prstGeom prst="rect">
              <a:avLst/>
            </a:prstGeom>
            <a:noFill/>
            <a:ln>
              <a:noFill/>
            </a:ln>
          </p:spPr>
        </p:pic>
      </p:grpSp>
      <p:sp>
        <p:nvSpPr>
          <p:cNvPr id="19" name="TextBox 18">
            <a:extLst>
              <a:ext uri="{FF2B5EF4-FFF2-40B4-BE49-F238E27FC236}">
                <a16:creationId xmlns:a16="http://schemas.microsoft.com/office/drawing/2014/main" id="{98A75DDC-C6C0-C31D-C506-BB57B47394CD}"/>
              </a:ext>
            </a:extLst>
          </p:cNvPr>
          <p:cNvSpPr txBox="1"/>
          <p:nvPr/>
        </p:nvSpPr>
        <p:spPr>
          <a:xfrm flipH="1">
            <a:off x="7508437" y="4444115"/>
            <a:ext cx="520701" cy="307777"/>
          </a:xfrm>
          <a:prstGeom prst="rect">
            <a:avLst/>
          </a:prstGeom>
          <a:noFill/>
        </p:spPr>
        <p:txBody>
          <a:bodyPr wrap="square" rtlCol="0">
            <a:spAutoFit/>
          </a:bodyPr>
          <a:lstStyle/>
          <a:p>
            <a:r>
              <a:rPr lang="en-US" dirty="0">
                <a:latin typeface="VT323" panose="020B0604020202020204" charset="0"/>
              </a:rPr>
              <a:t>[1]</a:t>
            </a:r>
            <a:endParaRPr lang="ru-RU" dirty="0"/>
          </a:p>
        </p:txBody>
      </p:sp>
      <p:pic>
        <p:nvPicPr>
          <p:cNvPr id="2" name="Picture 2" descr="Node.js logo vector (eps, svg) free download - Brandlogos.net">
            <a:extLst>
              <a:ext uri="{FF2B5EF4-FFF2-40B4-BE49-F238E27FC236}">
                <a16:creationId xmlns:a16="http://schemas.microsoft.com/office/drawing/2014/main" id="{5D848A0E-6AF8-C2ED-8B39-F2A49F01F8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391" y="187112"/>
            <a:ext cx="928654" cy="27714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3F304B1B-FBD0-3A0D-B131-52B42BB27821}"/>
              </a:ext>
            </a:extLst>
          </p:cNvPr>
          <p:cNvPicPr>
            <a:picLocks noChangeAspect="1"/>
          </p:cNvPicPr>
          <p:nvPr/>
        </p:nvPicPr>
        <p:blipFill>
          <a:blip r:embed="rId4"/>
          <a:srcRect l="1371" r="1913"/>
          <a:stretch/>
        </p:blipFill>
        <p:spPr>
          <a:xfrm>
            <a:off x="2866659" y="1108739"/>
            <a:ext cx="5985460" cy="2926022"/>
          </a:xfrm>
          <a:prstGeom prst="rect">
            <a:avLst/>
          </a:prstGeom>
        </p:spPr>
      </p:pic>
    </p:spTree>
    <p:extLst>
      <p:ext uri="{BB962C8B-B14F-4D97-AF65-F5344CB8AC3E}">
        <p14:creationId xmlns:p14="http://schemas.microsoft.com/office/powerpoint/2010/main" val="37904704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0179647A-6DCD-9E5A-B62D-6886A1D6C8B4}"/>
              </a:ext>
            </a:extLst>
          </p:cNvPr>
          <p:cNvPicPr>
            <a:picLocks noGrp="1" noChangeAspect="1"/>
          </p:cNvPicPr>
          <p:nvPr>
            <p:ph type="pic" idx="2"/>
          </p:nvPr>
        </p:nvPicPr>
        <p:blipFill>
          <a:blip r:embed="rId2"/>
          <a:srcRect l="-464" r="1817"/>
          <a:stretch/>
        </p:blipFill>
        <p:spPr>
          <a:xfrm>
            <a:off x="438151" y="1537627"/>
            <a:ext cx="4441463" cy="2022632"/>
          </a:xfrm>
        </p:spPr>
      </p:pic>
      <p:sp>
        <p:nvSpPr>
          <p:cNvPr id="3" name="Title 2">
            <a:extLst>
              <a:ext uri="{FF2B5EF4-FFF2-40B4-BE49-F238E27FC236}">
                <a16:creationId xmlns:a16="http://schemas.microsoft.com/office/drawing/2014/main" id="{B1EA2667-F1F6-04B3-291C-BF6FF6EEF341}"/>
              </a:ext>
            </a:extLst>
          </p:cNvPr>
          <p:cNvSpPr>
            <a:spLocks noGrp="1"/>
          </p:cNvSpPr>
          <p:nvPr>
            <p:ph type="title"/>
          </p:nvPr>
        </p:nvSpPr>
        <p:spPr>
          <a:xfrm>
            <a:off x="1152319" y="3741233"/>
            <a:ext cx="2594391" cy="883851"/>
          </a:xfrm>
          <a:solidFill>
            <a:srgbClr val="FFC000"/>
          </a:solidFill>
        </p:spPr>
        <p:txBody>
          <a:bodyPr/>
          <a:lstStyle/>
          <a:p>
            <a:r>
              <a:rPr lang="en-US" dirty="0"/>
              <a:t>Figure 1. Average operations per second of synchronous implementations in Node.js</a:t>
            </a:r>
            <a:endParaRPr lang="ru-RU" dirty="0"/>
          </a:p>
        </p:txBody>
      </p:sp>
      <p:pic>
        <p:nvPicPr>
          <p:cNvPr id="16386" name="Picture 2">
            <a:extLst>
              <a:ext uri="{FF2B5EF4-FFF2-40B4-BE49-F238E27FC236}">
                <a16:creationId xmlns:a16="http://schemas.microsoft.com/office/drawing/2014/main" id="{DE6E2630-D01B-863B-5BAB-D75DD4DF96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4898" y="1050828"/>
            <a:ext cx="3790950" cy="2369344"/>
          </a:xfrm>
          <a:prstGeom prst="rect">
            <a:avLst/>
          </a:prstGeom>
          <a:noFill/>
          <a:extLst>
            <a:ext uri="{909E8E84-426E-40DD-AFC4-6F175D3DCCD1}">
              <a14:hiddenFill xmlns:a14="http://schemas.microsoft.com/office/drawing/2010/main">
                <a:solidFill>
                  <a:srgbClr val="FFFFFF"/>
                </a:solidFill>
              </a14:hiddenFill>
            </a:ext>
          </a:extLst>
        </p:spPr>
      </p:pic>
      <p:sp>
        <p:nvSpPr>
          <p:cNvPr id="6" name="Title 2">
            <a:extLst>
              <a:ext uri="{FF2B5EF4-FFF2-40B4-BE49-F238E27FC236}">
                <a16:creationId xmlns:a16="http://schemas.microsoft.com/office/drawing/2014/main" id="{039BA0E5-FAE6-2D2C-24F8-B6331CB7BEE6}"/>
              </a:ext>
            </a:extLst>
          </p:cNvPr>
          <p:cNvSpPr txBox="1">
            <a:spLocks/>
          </p:cNvSpPr>
          <p:nvPr/>
        </p:nvSpPr>
        <p:spPr>
          <a:xfrm>
            <a:off x="5513177" y="3560259"/>
            <a:ext cx="2594391" cy="1064825"/>
          </a:xfrm>
          <a:prstGeom prst="rect">
            <a:avLst/>
          </a:prstGeom>
          <a:solidFill>
            <a:srgbClr val="FFC000"/>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200"/>
              <a:buFont typeface="VT323"/>
              <a:buNone/>
              <a:defRPr sz="1500" b="0" i="0" u="none" strike="noStrike" cap="none">
                <a:solidFill>
                  <a:schemeClr val="dk1"/>
                </a:solidFill>
                <a:latin typeface="VT323"/>
                <a:ea typeface="VT323"/>
                <a:cs typeface="VT323"/>
                <a:sym typeface="VT323"/>
              </a:defRPr>
            </a:lvl1pPr>
            <a:lvl2pPr marR="0" lvl="1"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2pPr>
            <a:lvl3pPr marR="0" lvl="2"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3pPr>
            <a:lvl4pPr marR="0" lvl="3"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4pPr>
            <a:lvl5pPr marR="0" lvl="4"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5pPr>
            <a:lvl6pPr marR="0" lvl="5"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6pPr>
            <a:lvl7pPr marR="0" lvl="6"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7pPr>
            <a:lvl8pPr marR="0" lvl="7"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8pPr>
            <a:lvl9pPr marR="0" lvl="8" algn="ctr"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9pPr>
          </a:lstStyle>
          <a:p>
            <a:r>
              <a:rPr lang="en-US" dirty="0"/>
              <a:t>Figure 2. Benchmark comparison for request per second handling capability for different back-end solutions</a:t>
            </a:r>
            <a:endParaRPr lang="ru-RU" dirty="0"/>
          </a:p>
        </p:txBody>
      </p:sp>
      <p:pic>
        <p:nvPicPr>
          <p:cNvPr id="7" name="Google Shape;265;p32" title="Sin título-2.png">
            <a:extLst>
              <a:ext uri="{FF2B5EF4-FFF2-40B4-BE49-F238E27FC236}">
                <a16:creationId xmlns:a16="http://schemas.microsoft.com/office/drawing/2014/main" id="{1F236961-B26F-41E4-A1A0-4569D7EA1C5B}"/>
              </a:ext>
            </a:extLst>
          </p:cNvPr>
          <p:cNvPicPr preferRelativeResize="0"/>
          <p:nvPr/>
        </p:nvPicPr>
        <p:blipFill rotWithShape="1">
          <a:blip r:embed="rId4">
            <a:alphaModFix/>
          </a:blip>
          <a:srcRect l="71706"/>
          <a:stretch/>
        </p:blipFill>
        <p:spPr>
          <a:xfrm>
            <a:off x="5023260" y="850106"/>
            <a:ext cx="3577815" cy="369791"/>
          </a:xfrm>
          <a:prstGeom prst="rect">
            <a:avLst/>
          </a:prstGeom>
          <a:noFill/>
          <a:ln>
            <a:noFill/>
          </a:ln>
        </p:spPr>
      </p:pic>
      <p:sp>
        <p:nvSpPr>
          <p:cNvPr id="10" name="Google Shape;182;p28">
            <a:extLst>
              <a:ext uri="{FF2B5EF4-FFF2-40B4-BE49-F238E27FC236}">
                <a16:creationId xmlns:a16="http://schemas.microsoft.com/office/drawing/2014/main" id="{C8A6CE74-9335-E4F0-8E28-3439A18B47DD}"/>
              </a:ext>
            </a:extLst>
          </p:cNvPr>
          <p:cNvSpPr txBox="1"/>
          <p:nvPr/>
        </p:nvSpPr>
        <p:spPr>
          <a:xfrm>
            <a:off x="1358420" y="210808"/>
            <a:ext cx="4475400" cy="265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dirty="0">
                <a:solidFill>
                  <a:schemeClr val="bg1">
                    <a:lumMod val="10000"/>
                  </a:schemeClr>
                </a:solidFill>
                <a:latin typeface="VT323"/>
                <a:ea typeface="VT323"/>
                <a:cs typeface="VT323"/>
                <a:sym typeface="VT323"/>
              </a:rPr>
              <a:t>Performance Advantages on Unix Systems. Part 2</a:t>
            </a:r>
          </a:p>
        </p:txBody>
      </p:sp>
      <p:pic>
        <p:nvPicPr>
          <p:cNvPr id="11" name="Picture 2" descr="Node.js logo vector (eps, svg) free download - Brandlogos.net">
            <a:extLst>
              <a:ext uri="{FF2B5EF4-FFF2-40B4-BE49-F238E27FC236}">
                <a16:creationId xmlns:a16="http://schemas.microsoft.com/office/drawing/2014/main" id="{456B803B-BB8F-98DF-6B8D-4E8AE5E869A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2391" y="187112"/>
            <a:ext cx="928654" cy="277145"/>
          </a:xfrm>
          <a:prstGeom prst="rect">
            <a:avLst/>
          </a:prstGeom>
          <a:noFill/>
          <a:extLst>
            <a:ext uri="{909E8E84-426E-40DD-AFC4-6F175D3DCCD1}">
              <a14:hiddenFill xmlns:a14="http://schemas.microsoft.com/office/drawing/2010/main">
                <a:solidFill>
                  <a:srgbClr val="FFFFFF"/>
                </a:solidFill>
              </a14:hiddenFill>
            </a:ext>
          </a:extLst>
        </p:spPr>
      </p:pic>
      <p:pic>
        <p:nvPicPr>
          <p:cNvPr id="12" name="Google Shape;254;p31" title="Sin título-2.png">
            <a:extLst>
              <a:ext uri="{FF2B5EF4-FFF2-40B4-BE49-F238E27FC236}">
                <a16:creationId xmlns:a16="http://schemas.microsoft.com/office/drawing/2014/main" id="{107201E7-8B4D-0B35-BC9A-ACC8A326A026}"/>
              </a:ext>
            </a:extLst>
          </p:cNvPr>
          <p:cNvPicPr preferRelativeResize="0"/>
          <p:nvPr/>
        </p:nvPicPr>
        <p:blipFill rotWithShape="1">
          <a:blip r:embed="rId4">
            <a:alphaModFix/>
          </a:blip>
          <a:srcRect l="60127"/>
          <a:stretch/>
        </p:blipFill>
        <p:spPr>
          <a:xfrm>
            <a:off x="438151" y="1345638"/>
            <a:ext cx="2727643" cy="235068"/>
          </a:xfrm>
          <a:prstGeom prst="rect">
            <a:avLst/>
          </a:prstGeom>
          <a:noFill/>
          <a:ln>
            <a:noFill/>
          </a:ln>
        </p:spPr>
      </p:pic>
      <p:pic>
        <p:nvPicPr>
          <p:cNvPr id="13" name="Google Shape;254;p31" title="Sin título-2.png">
            <a:extLst>
              <a:ext uri="{FF2B5EF4-FFF2-40B4-BE49-F238E27FC236}">
                <a16:creationId xmlns:a16="http://schemas.microsoft.com/office/drawing/2014/main" id="{A91FA5EB-C94F-DB53-7F32-77CDE3AEAC84}"/>
              </a:ext>
            </a:extLst>
          </p:cNvPr>
          <p:cNvPicPr preferRelativeResize="0"/>
          <p:nvPr/>
        </p:nvPicPr>
        <p:blipFill rotWithShape="1">
          <a:blip r:embed="rId4">
            <a:alphaModFix/>
          </a:blip>
          <a:srcRect l="60127"/>
          <a:stretch/>
        </p:blipFill>
        <p:spPr>
          <a:xfrm>
            <a:off x="2151971" y="1340327"/>
            <a:ext cx="2727643" cy="235068"/>
          </a:xfrm>
          <a:prstGeom prst="rect">
            <a:avLst/>
          </a:prstGeom>
          <a:noFill/>
          <a:ln>
            <a:noFill/>
          </a:ln>
        </p:spPr>
      </p:pic>
    </p:spTree>
    <p:extLst>
      <p:ext uri="{BB962C8B-B14F-4D97-AF65-F5344CB8AC3E}">
        <p14:creationId xmlns:p14="http://schemas.microsoft.com/office/powerpoint/2010/main" val="1964622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638700" y="635491"/>
            <a:ext cx="7866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Security</a:t>
            </a:r>
            <a:endParaRPr dirty="0"/>
          </a:p>
        </p:txBody>
      </p:sp>
      <p:sp>
        <p:nvSpPr>
          <p:cNvPr id="271" name="Google Shape;271;p33"/>
          <p:cNvSpPr txBox="1">
            <a:spLocks noGrp="1"/>
          </p:cNvSpPr>
          <p:nvPr>
            <p:ph type="subTitle" idx="1"/>
          </p:nvPr>
        </p:nvSpPr>
        <p:spPr>
          <a:xfrm>
            <a:off x="45027" y="1333891"/>
            <a:ext cx="8977745" cy="3225882"/>
          </a:xfrm>
          <a:prstGeom prst="rect">
            <a:avLst/>
          </a:prstGeom>
        </p:spPr>
        <p:txBody>
          <a:bodyPr spcFirstLastPara="1" wrap="square" lIns="91425" tIns="91425" rIns="91425" bIns="91425" anchor="t" anchorCtr="0">
            <a:noAutofit/>
          </a:bodyPr>
          <a:lstStyle/>
          <a:p>
            <a:pPr>
              <a:buFont typeface="Arial" panose="020B0604020202020204" pitchFamily="34" charset="0"/>
              <a:buChar char="•"/>
            </a:pPr>
            <a:r>
              <a:rPr lang="en-US" sz="1600" b="1" dirty="0"/>
              <a:t>Process isolation</a:t>
            </a:r>
            <a:r>
              <a:rPr lang="en-US" sz="1600" dirty="0"/>
              <a:t>: Clustering forks multiple worker processes; crashes or breaches in one don't affect others, boosting </a:t>
            </a:r>
            <a:br>
              <a:rPr lang="en-US" sz="1600" dirty="0"/>
            </a:br>
            <a:r>
              <a:rPr lang="en-US" sz="1600" dirty="0"/>
              <a:t>reliability on Unix.</a:t>
            </a:r>
          </a:p>
          <a:p>
            <a:pPr>
              <a:buFont typeface="Arial" panose="020B0604020202020204" pitchFamily="34" charset="0"/>
              <a:buChar char="•"/>
            </a:pPr>
            <a:r>
              <a:rPr lang="en-US" sz="1600" b="1" dirty="0"/>
              <a:t>Sandboxing</a:t>
            </a:r>
            <a:r>
              <a:rPr lang="en-US" sz="1600" dirty="0"/>
              <a:t>: VM module runs untrusted code in isolated contexts, blocking access to global scope and limiting malicious damage.</a:t>
            </a:r>
          </a:p>
          <a:p>
            <a:pPr>
              <a:buFont typeface="Arial" panose="020B0604020202020204" pitchFamily="34" charset="0"/>
              <a:buChar char="•"/>
            </a:pPr>
            <a:r>
              <a:rPr lang="en-US" sz="1600" b="1" dirty="0"/>
              <a:t>Privilege limitation</a:t>
            </a:r>
            <a:r>
              <a:rPr lang="en-US" sz="1600" dirty="0"/>
              <a:t>: Drops root privileges after binding ports, running as low-privilege user to reduce exploit risks.</a:t>
            </a:r>
          </a:p>
          <a:p>
            <a:pPr>
              <a:buFont typeface="Arial" panose="020B0604020202020204" pitchFamily="34" charset="0"/>
              <a:buChar char="•"/>
            </a:pPr>
            <a:r>
              <a:rPr lang="en-US" sz="1600" b="1" dirty="0"/>
              <a:t>Mitigation</a:t>
            </a:r>
            <a:r>
              <a:rPr lang="en-US" sz="1600" dirty="0"/>
              <a:t>: </a:t>
            </a:r>
            <a:r>
              <a:rPr lang="en-US" sz="1600" dirty="0" err="1"/>
              <a:t>Object.freeze</a:t>
            </a:r>
            <a:r>
              <a:rPr lang="en-US" sz="1600" dirty="0"/>
              <a:t> seals prototypes, stopping attackers </a:t>
            </a:r>
            <a:br>
              <a:rPr lang="en-US" sz="1600" dirty="0"/>
            </a:br>
            <a:r>
              <a:rPr lang="en-US" sz="1600" dirty="0"/>
              <a:t>from injecting properties that cause DoS or code execution.</a:t>
            </a:r>
          </a:p>
          <a:p>
            <a:pPr>
              <a:buFont typeface="Arial" panose="020B0604020202020204" pitchFamily="34" charset="0"/>
              <a:buChar char="•"/>
            </a:pPr>
            <a:r>
              <a:rPr lang="en-US" sz="1600" b="1" dirty="0"/>
              <a:t>DoS resistance</a:t>
            </a:r>
            <a:r>
              <a:rPr lang="en-US" sz="1600" dirty="0"/>
              <a:t>: Asynchronous event loop keeps server responsive, preventing slow clients from blocking or exhausting resources.</a:t>
            </a:r>
          </a:p>
          <a:p>
            <a:pPr>
              <a:buFont typeface="Arial" panose="020B0604020202020204" pitchFamily="34" charset="0"/>
              <a:buChar char="•"/>
            </a:pPr>
            <a:r>
              <a:rPr lang="en-US" sz="1600" b="1" dirty="0"/>
              <a:t>Error handling</a:t>
            </a:r>
            <a:r>
              <a:rPr lang="en-US" sz="1600" dirty="0"/>
              <a:t>: Domains and try-catch group async operations, catching errors centrally to avoid process crashes.</a:t>
            </a:r>
          </a:p>
          <a:p>
            <a:pPr marL="0" indent="0"/>
            <a:endParaRPr lang="en-US" sz="1200" dirty="0">
              <a:latin typeface="Roboto Mono" panose="00000009000000000000" pitchFamily="49" charset="0"/>
              <a:ea typeface="Roboto Mono" panose="00000009000000000000" pitchFamily="49" charset="0"/>
            </a:endParaRPr>
          </a:p>
        </p:txBody>
      </p:sp>
      <p:sp>
        <p:nvSpPr>
          <p:cNvPr id="2" name="Google Shape;182;p28">
            <a:extLst>
              <a:ext uri="{FF2B5EF4-FFF2-40B4-BE49-F238E27FC236}">
                <a16:creationId xmlns:a16="http://schemas.microsoft.com/office/drawing/2014/main" id="{77BF2B04-DAF4-8726-0FB8-BAAB80902DF2}"/>
              </a:ext>
            </a:extLst>
          </p:cNvPr>
          <p:cNvSpPr txBox="1"/>
          <p:nvPr/>
        </p:nvSpPr>
        <p:spPr>
          <a:xfrm>
            <a:off x="1358420" y="210808"/>
            <a:ext cx="4475400" cy="265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dirty="0">
                <a:solidFill>
                  <a:schemeClr val="bg1">
                    <a:lumMod val="10000"/>
                  </a:schemeClr>
                </a:solidFill>
                <a:latin typeface="VT323"/>
                <a:ea typeface="VT323"/>
                <a:cs typeface="VT323"/>
                <a:sym typeface="VT323"/>
              </a:rPr>
              <a:t>Security</a:t>
            </a:r>
            <a:endParaRPr sz="1600" dirty="0">
              <a:solidFill>
                <a:schemeClr val="bg1">
                  <a:lumMod val="10000"/>
                </a:schemeClr>
              </a:solidFill>
              <a:latin typeface="VT323"/>
              <a:ea typeface="VT323"/>
              <a:cs typeface="VT323"/>
              <a:sym typeface="VT323"/>
            </a:endParaRPr>
          </a:p>
        </p:txBody>
      </p:sp>
      <p:pic>
        <p:nvPicPr>
          <p:cNvPr id="7170" name="Picture 2">
            <a:extLst>
              <a:ext uri="{FF2B5EF4-FFF2-40B4-BE49-F238E27FC236}">
                <a16:creationId xmlns:a16="http://schemas.microsoft.com/office/drawing/2014/main" id="{A675A18E-59B6-9D00-5E8D-18C9DEE90E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8335" y="800658"/>
            <a:ext cx="438967" cy="43896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Node.js logo vector (eps, svg) free download - Brandlogos.net">
            <a:extLst>
              <a:ext uri="{FF2B5EF4-FFF2-40B4-BE49-F238E27FC236}">
                <a16:creationId xmlns:a16="http://schemas.microsoft.com/office/drawing/2014/main" id="{0215E002-5404-45A6-D62F-CC62487207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391" y="187112"/>
            <a:ext cx="928654" cy="2771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7" name="Google Shape;297;p36"/>
          <p:cNvSpPr txBox="1">
            <a:spLocks noGrp="1"/>
          </p:cNvSpPr>
          <p:nvPr>
            <p:ph type="title"/>
          </p:nvPr>
        </p:nvSpPr>
        <p:spPr>
          <a:xfrm>
            <a:off x="341850" y="654800"/>
            <a:ext cx="7704000" cy="60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Current limitations</a:t>
            </a:r>
            <a:endParaRPr dirty="0"/>
          </a:p>
        </p:txBody>
      </p:sp>
      <p:sp>
        <p:nvSpPr>
          <p:cNvPr id="298" name="Google Shape;298;p36"/>
          <p:cNvSpPr txBox="1">
            <a:spLocks noGrp="1"/>
          </p:cNvSpPr>
          <p:nvPr>
            <p:ph type="subTitle" idx="1"/>
          </p:nvPr>
        </p:nvSpPr>
        <p:spPr>
          <a:xfrm>
            <a:off x="330950" y="1987918"/>
            <a:ext cx="2579400" cy="62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t>Single-threaded model creates CPU bottlenecks for intensive tasks; callback complexity ("callback hell") complicates code readability and maintenance in large applications.</a:t>
            </a:r>
          </a:p>
        </p:txBody>
      </p:sp>
      <p:sp>
        <p:nvSpPr>
          <p:cNvPr id="299" name="Google Shape;299;p36"/>
          <p:cNvSpPr txBox="1">
            <a:spLocks noGrp="1"/>
          </p:cNvSpPr>
          <p:nvPr>
            <p:ph type="subTitle" idx="2"/>
          </p:nvPr>
        </p:nvSpPr>
        <p:spPr>
          <a:xfrm>
            <a:off x="3225884" y="1987918"/>
            <a:ext cx="2579400" cy="62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t>Rust and </a:t>
            </a:r>
            <a:r>
              <a:rPr lang="en-US" sz="1400" dirty="0" err="1"/>
              <a:t>WebAssembly</a:t>
            </a:r>
            <a:r>
              <a:rPr lang="en-US" sz="1400" dirty="0"/>
              <a:t> integrations enable hybrid apps, significantly boosting CPU-bound performance beyond pure JavaScript limitations (Kyriakou, 2022).</a:t>
            </a:r>
          </a:p>
        </p:txBody>
      </p:sp>
      <p:sp>
        <p:nvSpPr>
          <p:cNvPr id="301" name="Google Shape;301;p36"/>
          <p:cNvSpPr txBox="1">
            <a:spLocks noGrp="1"/>
          </p:cNvSpPr>
          <p:nvPr>
            <p:ph type="subTitle" idx="5"/>
          </p:nvPr>
        </p:nvSpPr>
        <p:spPr>
          <a:xfrm>
            <a:off x="6120825" y="1987918"/>
            <a:ext cx="2579400" cy="62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err="1"/>
              <a:t>Deno</a:t>
            </a:r>
            <a:r>
              <a:rPr lang="en-US" sz="1400" dirty="0"/>
              <a:t> provides secure-by-default permissions and native TypeScript; Bun delivers superior startup speed and built-in tooling, challenging Node.js in performance and developer experience.</a:t>
            </a:r>
          </a:p>
        </p:txBody>
      </p:sp>
      <p:sp>
        <p:nvSpPr>
          <p:cNvPr id="304" name="Google Shape;304;p36"/>
          <p:cNvSpPr txBox="1">
            <a:spLocks noGrp="1"/>
          </p:cNvSpPr>
          <p:nvPr>
            <p:ph type="title" idx="8"/>
          </p:nvPr>
        </p:nvSpPr>
        <p:spPr>
          <a:xfrm>
            <a:off x="6132612" y="1677125"/>
            <a:ext cx="2873890" cy="31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400" dirty="0"/>
              <a:t>Competition</a:t>
            </a:r>
            <a:endParaRPr sz="2400" dirty="0"/>
          </a:p>
        </p:txBody>
      </p:sp>
      <p:sp>
        <p:nvSpPr>
          <p:cNvPr id="305" name="Google Shape;305;p36"/>
          <p:cNvSpPr txBox="1">
            <a:spLocks noGrp="1"/>
          </p:cNvSpPr>
          <p:nvPr>
            <p:ph type="title" idx="9"/>
          </p:nvPr>
        </p:nvSpPr>
        <p:spPr>
          <a:xfrm>
            <a:off x="3239948" y="1677425"/>
            <a:ext cx="2851014" cy="310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400" dirty="0"/>
              <a:t>Integrations/Research</a:t>
            </a:r>
          </a:p>
        </p:txBody>
      </p:sp>
      <p:sp>
        <p:nvSpPr>
          <p:cNvPr id="307" name="Google Shape;307;p36"/>
          <p:cNvSpPr txBox="1">
            <a:spLocks noGrp="1"/>
          </p:cNvSpPr>
          <p:nvPr>
            <p:ph type="title" idx="14"/>
          </p:nvPr>
        </p:nvSpPr>
        <p:spPr>
          <a:xfrm>
            <a:off x="342736" y="1677125"/>
            <a:ext cx="2579400" cy="31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400" dirty="0"/>
              <a:t>Weaknesses</a:t>
            </a:r>
          </a:p>
        </p:txBody>
      </p:sp>
      <p:pic>
        <p:nvPicPr>
          <p:cNvPr id="6146" name="Picture 2">
            <a:extLst>
              <a:ext uri="{FF2B5EF4-FFF2-40B4-BE49-F238E27FC236}">
                <a16:creationId xmlns:a16="http://schemas.microsoft.com/office/drawing/2014/main" id="{ED947528-7A83-906A-4CFA-2A95019D50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788" y="1372325"/>
            <a:ext cx="304800" cy="30480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1901D02B-01BB-765D-7D04-EF851C781F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4700" y="1372325"/>
            <a:ext cx="304800" cy="304800"/>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a:extLst>
              <a:ext uri="{FF2B5EF4-FFF2-40B4-BE49-F238E27FC236}">
                <a16:creationId xmlns:a16="http://schemas.microsoft.com/office/drawing/2014/main" id="{12C11C3C-65CA-6975-DC2E-13697FE6FF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1866" y="1257199"/>
            <a:ext cx="419925" cy="419925"/>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0">
            <a:extLst>
              <a:ext uri="{FF2B5EF4-FFF2-40B4-BE49-F238E27FC236}">
                <a16:creationId xmlns:a16="http://schemas.microsoft.com/office/drawing/2014/main" id="{7F40B35F-3AA9-4D91-76F3-EC7E971D6BC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9500" y="849249"/>
            <a:ext cx="304800" cy="304800"/>
          </a:xfrm>
          <a:prstGeom prst="rect">
            <a:avLst/>
          </a:prstGeom>
          <a:noFill/>
          <a:extLst>
            <a:ext uri="{909E8E84-426E-40DD-AFC4-6F175D3DCCD1}">
              <a14:hiddenFill xmlns:a14="http://schemas.microsoft.com/office/drawing/2010/main">
                <a:solidFill>
                  <a:srgbClr val="FFFFFF"/>
                </a:solidFill>
              </a14:hiddenFill>
            </a:ext>
          </a:extLst>
        </p:spPr>
      </p:pic>
      <p:pic>
        <p:nvPicPr>
          <p:cNvPr id="6156" name="Picture 12">
            <a:extLst>
              <a:ext uri="{FF2B5EF4-FFF2-40B4-BE49-F238E27FC236}">
                <a16:creationId xmlns:a16="http://schemas.microsoft.com/office/drawing/2014/main" id="{89E033E4-2D8E-A08B-F5AB-1D677CB51C9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6788" y="1360270"/>
            <a:ext cx="346450" cy="346450"/>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82;p28">
            <a:extLst>
              <a:ext uri="{FF2B5EF4-FFF2-40B4-BE49-F238E27FC236}">
                <a16:creationId xmlns:a16="http://schemas.microsoft.com/office/drawing/2014/main" id="{D388B93E-6024-3B09-63EB-A25EF36B25F2}"/>
              </a:ext>
            </a:extLst>
          </p:cNvPr>
          <p:cNvSpPr txBox="1"/>
          <p:nvPr/>
        </p:nvSpPr>
        <p:spPr>
          <a:xfrm>
            <a:off x="1358420" y="210808"/>
            <a:ext cx="4475400" cy="265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dirty="0">
                <a:solidFill>
                  <a:schemeClr val="bg1">
                    <a:lumMod val="10000"/>
                  </a:schemeClr>
                </a:solidFill>
                <a:latin typeface="VT323"/>
                <a:ea typeface="VT323"/>
                <a:cs typeface="VT323"/>
                <a:sym typeface="VT323"/>
              </a:rPr>
              <a:t>Current limitations</a:t>
            </a:r>
          </a:p>
        </p:txBody>
      </p:sp>
      <p:pic>
        <p:nvPicPr>
          <p:cNvPr id="4" name="Picture 2" descr="Node.js logo vector (eps, svg) free download - Brandlogos.net">
            <a:extLst>
              <a:ext uri="{FF2B5EF4-FFF2-40B4-BE49-F238E27FC236}">
                <a16:creationId xmlns:a16="http://schemas.microsoft.com/office/drawing/2014/main" id="{F8E28A34-3735-B5DB-6B18-C7B0A86DE1C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2391" y="187112"/>
            <a:ext cx="928654" cy="2771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0"/>
          <p:cNvSpPr txBox="1">
            <a:spLocks noGrp="1"/>
          </p:cNvSpPr>
          <p:nvPr>
            <p:ph type="title"/>
          </p:nvPr>
        </p:nvSpPr>
        <p:spPr>
          <a:xfrm>
            <a:off x="345300" y="540107"/>
            <a:ext cx="8453400" cy="60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Table of references</a:t>
            </a:r>
            <a:endParaRPr b="0" dirty="0"/>
          </a:p>
        </p:txBody>
      </p:sp>
      <p:sp>
        <p:nvSpPr>
          <p:cNvPr id="229" name="Google Shape;229;p30"/>
          <p:cNvSpPr txBox="1">
            <a:spLocks noGrp="1"/>
          </p:cNvSpPr>
          <p:nvPr>
            <p:ph type="subTitle" idx="1"/>
          </p:nvPr>
        </p:nvSpPr>
        <p:spPr>
          <a:xfrm>
            <a:off x="65052" y="1168132"/>
            <a:ext cx="8923867" cy="3684423"/>
          </a:xfrm>
          <a:prstGeom prst="rect">
            <a:avLst/>
          </a:prstGeom>
        </p:spPr>
        <p:txBody>
          <a:bodyPr spcFirstLastPara="1" wrap="square" lIns="91425" tIns="91425" rIns="91425" bIns="91425" anchor="t" anchorCtr="0">
            <a:noAutofit/>
          </a:bodyPr>
          <a:lstStyle/>
          <a:p>
            <a:r>
              <a:rPr lang="en-US" sz="1250" dirty="0"/>
              <a:t>[1] </a:t>
            </a:r>
            <a:r>
              <a:rPr lang="en-US" sz="1250" b="1" dirty="0"/>
              <a:t>Welsh</a:t>
            </a:r>
            <a:r>
              <a:rPr lang="en-US" sz="1250" dirty="0"/>
              <a:t>, M., Culler, D., &amp; Brewer, E. “</a:t>
            </a:r>
            <a:r>
              <a:rPr lang="en-US" sz="1250" b="1" dirty="0"/>
              <a:t>SEDA: An Architecture for Well-Conditioned, Scalable Internet Services</a:t>
            </a:r>
            <a:r>
              <a:rPr lang="en-US" sz="1250" dirty="0"/>
              <a:t>.”, 2001: </a:t>
            </a:r>
            <a:r>
              <a:rPr lang="en-US" sz="1250" dirty="0">
                <a:hlinkClick r:id="rId3"/>
              </a:rPr>
              <a:t>https://www.sosp.org/2001/papers/welsh.pdf</a:t>
            </a:r>
            <a:endParaRPr lang="en-US" sz="1250" dirty="0"/>
          </a:p>
          <a:p>
            <a:r>
              <a:rPr lang="en-US" sz="1250" dirty="0"/>
              <a:t>[2] </a:t>
            </a:r>
            <a:r>
              <a:rPr lang="en-US" sz="1250" b="1" dirty="0"/>
              <a:t>von </a:t>
            </a:r>
            <a:r>
              <a:rPr lang="en-US" sz="1250" b="1" dirty="0" err="1"/>
              <a:t>Behren</a:t>
            </a:r>
            <a:r>
              <a:rPr lang="en-US" sz="1250" dirty="0"/>
              <a:t>, R., Condit, J., &amp; Brewer, E. “</a:t>
            </a:r>
            <a:r>
              <a:rPr lang="en-US" sz="1250" b="1" dirty="0"/>
              <a:t>Why Events Are a Bad Idea (for High-Concurrency Servers</a:t>
            </a:r>
            <a:r>
              <a:rPr lang="en-US" sz="1250" dirty="0"/>
              <a:t>.” Proceedings of the 9th Workshop on Hot Topics in Operating Systems (</a:t>
            </a:r>
            <a:r>
              <a:rPr lang="en-US" sz="1250" dirty="0" err="1"/>
              <a:t>HotOS</a:t>
            </a:r>
            <a:r>
              <a:rPr lang="en-US" sz="1250" dirty="0"/>
              <a:t>), 2003: </a:t>
            </a:r>
            <a:r>
              <a:rPr lang="en-US" sz="1250" dirty="0">
                <a:hlinkClick r:id="rId4"/>
              </a:rPr>
              <a:t>http://bantha.org/~jcondit/threads-hotos-2003.pdf</a:t>
            </a:r>
            <a:endParaRPr lang="en-US" sz="1250" dirty="0"/>
          </a:p>
          <a:p>
            <a:r>
              <a:rPr lang="en-US" sz="1250" dirty="0"/>
              <a:t>[3] </a:t>
            </a:r>
            <a:r>
              <a:rPr lang="en-US" sz="1250" b="1" dirty="0"/>
              <a:t>Pai</a:t>
            </a:r>
            <a:r>
              <a:rPr lang="en-US" sz="1250" dirty="0"/>
              <a:t>, V. S., </a:t>
            </a:r>
            <a:r>
              <a:rPr lang="en-US" sz="1250" dirty="0" err="1"/>
              <a:t>Druschel</a:t>
            </a:r>
            <a:r>
              <a:rPr lang="en-US" sz="1250" dirty="0"/>
              <a:t>, P., &amp; </a:t>
            </a:r>
            <a:r>
              <a:rPr lang="en-US" sz="1250" dirty="0" err="1"/>
              <a:t>Zwaenepoel</a:t>
            </a:r>
            <a:r>
              <a:rPr lang="en-US" sz="1250" dirty="0"/>
              <a:t>, W. “</a:t>
            </a:r>
            <a:r>
              <a:rPr lang="en-US" sz="1250" b="1" dirty="0"/>
              <a:t>Flash: An Efficient and Portable Web Server.” Proceedings of the USENIX Annual Technical Conference</a:t>
            </a:r>
            <a:r>
              <a:rPr lang="en-US" sz="1250" dirty="0"/>
              <a:t> (ATC), 1999: </a:t>
            </a:r>
            <a:r>
              <a:rPr lang="en-US" sz="1250" dirty="0">
                <a:hlinkClick r:id="rId5"/>
              </a:rPr>
              <a:t>https://www.usenix.org/legacy/event/usenix99/full_papers/pai/pai.pdf</a:t>
            </a:r>
            <a:endParaRPr lang="en-US" sz="1250" dirty="0"/>
          </a:p>
          <a:p>
            <a:r>
              <a:rPr lang="en-US" sz="1250" dirty="0"/>
              <a:t>[4] </a:t>
            </a:r>
            <a:r>
              <a:rPr lang="en-US" sz="1250" b="1" dirty="0" err="1"/>
              <a:t>Tilkov</a:t>
            </a:r>
            <a:r>
              <a:rPr lang="en-US" sz="1250" dirty="0"/>
              <a:t>, S., &amp; </a:t>
            </a:r>
            <a:r>
              <a:rPr lang="en-US" sz="1250" dirty="0" err="1"/>
              <a:t>Vinoski</a:t>
            </a:r>
            <a:r>
              <a:rPr lang="en-US" sz="1250" dirty="0"/>
              <a:t>, S. “</a:t>
            </a:r>
            <a:r>
              <a:rPr lang="en-US" sz="1250" b="1" dirty="0"/>
              <a:t>Node.js: Using JavaScript to Build High-Performance Network Programs</a:t>
            </a:r>
            <a:r>
              <a:rPr lang="en-US" sz="1250" dirty="0"/>
              <a:t>.” IEEE Internet Computing, 14(6), 80-83, 2010: </a:t>
            </a:r>
            <a:r>
              <a:rPr lang="en-US" sz="1250" u="sng" dirty="0"/>
              <a:t>https://www.scribd.com/document/948489121/0-Node-js-Using-JavaScript-to-Build-High-Performance-Network-Programs </a:t>
            </a:r>
            <a:r>
              <a:rPr lang="en-US" sz="1250" dirty="0"/>
              <a:t> </a:t>
            </a:r>
          </a:p>
          <a:p>
            <a:r>
              <a:rPr lang="en-US" sz="1250" dirty="0"/>
              <a:t>[5] </a:t>
            </a:r>
            <a:r>
              <a:rPr lang="en-US" sz="1250" b="1" dirty="0"/>
              <a:t>Lei</a:t>
            </a:r>
            <a:r>
              <a:rPr lang="en-US" sz="1250" dirty="0"/>
              <a:t>, Y., Liu, J., Yu, Q., &amp; Cao, B. “</a:t>
            </a:r>
            <a:r>
              <a:rPr lang="en-US" sz="1250" b="1" dirty="0"/>
              <a:t>Performance Comparison and Evaluation of Web Development Technologies in PHP, Python, and Node.js</a:t>
            </a:r>
            <a:r>
              <a:rPr lang="en-US" sz="1250" dirty="0"/>
              <a:t>.” Proceedings of the IEEE 17th International Conference on Computational Science and Engineering (CSE), 2014: </a:t>
            </a:r>
            <a:r>
              <a:rPr lang="en-US" sz="1250" u="sng" dirty="0"/>
              <a:t>https://www.researchgate.net/publication/286594024_Performance_Comparison_and_Evaluation_of_Web_Development_Technologies_in_PHP_Python_and_Nodejs</a:t>
            </a:r>
            <a:endParaRPr lang="en-US" sz="1250" dirty="0"/>
          </a:p>
          <a:p>
            <a:r>
              <a:rPr lang="en-US" sz="1250" dirty="0"/>
              <a:t>[6] </a:t>
            </a:r>
            <a:r>
              <a:rPr lang="en-US" sz="1250" b="1" dirty="0"/>
              <a:t>Kyriakou</a:t>
            </a:r>
            <a:r>
              <a:rPr lang="en-US" sz="1250" dirty="0"/>
              <a:t>, K. I. D., &amp; Tselikas, N. D. “</a:t>
            </a:r>
            <a:r>
              <a:rPr lang="en-US" sz="1250" b="1" dirty="0"/>
              <a:t>Complementing JavaScript in High-Performance Node.js and Web Applications with Rust and </a:t>
            </a:r>
            <a:r>
              <a:rPr lang="en-US" sz="1250" b="1" dirty="0" err="1"/>
              <a:t>WebAssembly</a:t>
            </a:r>
            <a:r>
              <a:rPr lang="en-US" sz="1250" dirty="0"/>
              <a:t>.” Electronics, 11(19), 3217, 2022: </a:t>
            </a:r>
            <a:r>
              <a:rPr lang="en-US" sz="1250" dirty="0">
                <a:hlinkClick r:id="rId6"/>
              </a:rPr>
              <a:t>https://www.mdpi.com/2079-9292/11/19/3217</a:t>
            </a:r>
            <a:endParaRPr lang="en-US" sz="1250" dirty="0"/>
          </a:p>
          <a:p>
            <a:r>
              <a:rPr lang="en-US" sz="1250" dirty="0"/>
              <a:t>[7] </a:t>
            </a:r>
            <a:r>
              <a:rPr lang="en-US" sz="1250" b="1" dirty="0" err="1"/>
              <a:t>Koishybayev</a:t>
            </a:r>
            <a:r>
              <a:rPr lang="en-US" sz="1250" dirty="0"/>
              <a:t>, I., &amp; </a:t>
            </a:r>
            <a:r>
              <a:rPr lang="en-US" sz="1250" dirty="0" err="1"/>
              <a:t>Kapravelos</a:t>
            </a:r>
            <a:r>
              <a:rPr lang="en-US" sz="1250" dirty="0"/>
              <a:t>, A. “</a:t>
            </a:r>
            <a:r>
              <a:rPr lang="en-US" sz="1250" b="1" dirty="0" err="1"/>
              <a:t>Mininode</a:t>
            </a:r>
            <a:r>
              <a:rPr lang="en-US" sz="1250" b="1" dirty="0"/>
              <a:t>: Reducing the Attack Surface of Node.js Applications</a:t>
            </a:r>
            <a:r>
              <a:rPr lang="en-US" sz="1250" dirty="0"/>
              <a:t>.” Proceedings of the 23rd International Symposium on Research in Attacks, Intrusions and Defenses (RAID), 2020: </a:t>
            </a:r>
            <a:r>
              <a:rPr lang="en-US" sz="1250" dirty="0">
                <a:hlinkClick r:id="rId7"/>
              </a:rPr>
              <a:t>https://www.usenix.org/system/files/raid20-koishybayev.pdf</a:t>
            </a:r>
            <a:endParaRPr lang="en-US" sz="1250" dirty="0"/>
          </a:p>
          <a:p>
            <a:r>
              <a:rPr lang="en-US" sz="1250" dirty="0"/>
              <a:t>[8] </a:t>
            </a:r>
            <a:r>
              <a:rPr lang="en-US" sz="1250" b="1" dirty="0"/>
              <a:t>Li</a:t>
            </a:r>
            <a:r>
              <a:rPr lang="en-US" sz="1250" dirty="0"/>
              <a:t>, S., Kang, M., Hou, J., &amp; Cao, Y. “</a:t>
            </a:r>
            <a:r>
              <a:rPr lang="en-US" sz="1250" b="1" dirty="0"/>
              <a:t>Mining Node.js Vulnerabilities via Object Dependence Graph and Query.</a:t>
            </a:r>
            <a:r>
              <a:rPr lang="en-US" sz="1250" dirty="0"/>
              <a:t>” Proceedings of the 31st USENIX Security Symposium (USENIX Security), 2022: </a:t>
            </a:r>
            <a:r>
              <a:rPr lang="en-US" sz="1250" dirty="0">
                <a:hlinkClick r:id="rId8"/>
              </a:rPr>
              <a:t>https://www.usenix.org/system/files/sec22summer_li-song.pdf</a:t>
            </a:r>
            <a:endParaRPr lang="en-US" sz="1250" dirty="0"/>
          </a:p>
        </p:txBody>
      </p:sp>
      <p:sp>
        <p:nvSpPr>
          <p:cNvPr id="33" name="Google Shape;182;p28">
            <a:extLst>
              <a:ext uri="{FF2B5EF4-FFF2-40B4-BE49-F238E27FC236}">
                <a16:creationId xmlns:a16="http://schemas.microsoft.com/office/drawing/2014/main" id="{883AE4E3-06CB-2EA6-E66E-089F9F40C63C}"/>
              </a:ext>
            </a:extLst>
          </p:cNvPr>
          <p:cNvSpPr txBox="1"/>
          <p:nvPr/>
        </p:nvSpPr>
        <p:spPr>
          <a:xfrm>
            <a:off x="1358420" y="210808"/>
            <a:ext cx="4475400" cy="265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dirty="0">
                <a:solidFill>
                  <a:schemeClr val="bg1">
                    <a:lumMod val="10000"/>
                  </a:schemeClr>
                </a:solidFill>
                <a:latin typeface="VT323"/>
                <a:ea typeface="VT323"/>
                <a:cs typeface="VT323"/>
                <a:sym typeface="VT323"/>
              </a:rPr>
              <a:t>References</a:t>
            </a:r>
            <a:endParaRPr sz="1600" dirty="0">
              <a:solidFill>
                <a:schemeClr val="bg1">
                  <a:lumMod val="10000"/>
                </a:schemeClr>
              </a:solidFill>
              <a:latin typeface="VT323"/>
              <a:ea typeface="VT323"/>
              <a:cs typeface="VT323"/>
              <a:sym typeface="VT323"/>
            </a:endParaRPr>
          </a:p>
        </p:txBody>
      </p:sp>
      <p:pic>
        <p:nvPicPr>
          <p:cNvPr id="3074" name="Picture 2">
            <a:extLst>
              <a:ext uri="{FF2B5EF4-FFF2-40B4-BE49-F238E27FC236}">
                <a16:creationId xmlns:a16="http://schemas.microsoft.com/office/drawing/2014/main" id="{FD689EB1-BC2B-3D34-3EA9-DF410221791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96120" y="765531"/>
            <a:ext cx="304800" cy="3048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Node.js logo vector (eps, svg) free download - Brandlogos.net">
            <a:extLst>
              <a:ext uri="{FF2B5EF4-FFF2-40B4-BE49-F238E27FC236}">
                <a16:creationId xmlns:a16="http://schemas.microsoft.com/office/drawing/2014/main" id="{51FBAD9B-FF50-0A83-D494-3EEA4CFCDB5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2391" y="187112"/>
            <a:ext cx="928654" cy="2771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grpSp>
        <p:nvGrpSpPr>
          <p:cNvPr id="13" name="Google Shape;252;p31">
            <a:extLst>
              <a:ext uri="{FF2B5EF4-FFF2-40B4-BE49-F238E27FC236}">
                <a16:creationId xmlns:a16="http://schemas.microsoft.com/office/drawing/2014/main" id="{EA00286E-52BB-E33D-1A1C-25273E3527F8}"/>
              </a:ext>
            </a:extLst>
          </p:cNvPr>
          <p:cNvGrpSpPr/>
          <p:nvPr/>
        </p:nvGrpSpPr>
        <p:grpSpPr>
          <a:xfrm>
            <a:off x="4653365" y="2450960"/>
            <a:ext cx="3338651" cy="329299"/>
            <a:chOff x="511225" y="947025"/>
            <a:chExt cx="2971350" cy="265500"/>
          </a:xfrm>
        </p:grpSpPr>
        <p:pic>
          <p:nvPicPr>
            <p:cNvPr id="14" name="Google Shape;253;p31" title="Sin título-2.png">
              <a:extLst>
                <a:ext uri="{FF2B5EF4-FFF2-40B4-BE49-F238E27FC236}">
                  <a16:creationId xmlns:a16="http://schemas.microsoft.com/office/drawing/2014/main" id="{2A351B1B-C6E0-0A72-19F0-BB9FFC0CFA43}"/>
                </a:ext>
              </a:extLst>
            </p:cNvPr>
            <p:cNvPicPr preferRelativeResize="0"/>
            <p:nvPr/>
          </p:nvPicPr>
          <p:blipFill rotWithShape="1">
            <a:blip r:embed="rId3">
              <a:alphaModFix/>
            </a:blip>
            <a:srcRect l="60127"/>
            <a:stretch/>
          </p:blipFill>
          <p:spPr>
            <a:xfrm>
              <a:off x="512775" y="947025"/>
              <a:ext cx="2969800" cy="265500"/>
            </a:xfrm>
            <a:prstGeom prst="rect">
              <a:avLst/>
            </a:prstGeom>
            <a:noFill/>
            <a:ln>
              <a:noFill/>
            </a:ln>
          </p:spPr>
        </p:pic>
        <p:pic>
          <p:nvPicPr>
            <p:cNvPr id="15" name="Google Shape;254;p31" title="Sin título-2.png">
              <a:extLst>
                <a:ext uri="{FF2B5EF4-FFF2-40B4-BE49-F238E27FC236}">
                  <a16:creationId xmlns:a16="http://schemas.microsoft.com/office/drawing/2014/main" id="{9DE3A1A9-4FCB-2058-9950-24E261F53F83}"/>
                </a:ext>
              </a:extLst>
            </p:cNvPr>
            <p:cNvPicPr preferRelativeResize="0"/>
            <p:nvPr/>
          </p:nvPicPr>
          <p:blipFill rotWithShape="1">
            <a:blip r:embed="rId3">
              <a:alphaModFix/>
            </a:blip>
            <a:srcRect l="60127"/>
            <a:stretch/>
          </p:blipFill>
          <p:spPr>
            <a:xfrm>
              <a:off x="511225" y="947025"/>
              <a:ext cx="2969800" cy="265500"/>
            </a:xfrm>
            <a:prstGeom prst="rect">
              <a:avLst/>
            </a:prstGeom>
            <a:noFill/>
            <a:ln>
              <a:noFill/>
            </a:ln>
          </p:spPr>
        </p:pic>
      </p:grpSp>
      <p:sp>
        <p:nvSpPr>
          <p:cNvPr id="228" name="Google Shape;228;p30"/>
          <p:cNvSpPr txBox="1">
            <a:spLocks noGrp="1"/>
          </p:cNvSpPr>
          <p:nvPr>
            <p:ph type="title"/>
          </p:nvPr>
        </p:nvSpPr>
        <p:spPr>
          <a:xfrm>
            <a:off x="345300" y="540107"/>
            <a:ext cx="8453400" cy="60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Example (server code)</a:t>
            </a:r>
            <a:endParaRPr b="0" dirty="0"/>
          </a:p>
        </p:txBody>
      </p:sp>
      <p:sp>
        <p:nvSpPr>
          <p:cNvPr id="33" name="Google Shape;182;p28">
            <a:extLst>
              <a:ext uri="{FF2B5EF4-FFF2-40B4-BE49-F238E27FC236}">
                <a16:creationId xmlns:a16="http://schemas.microsoft.com/office/drawing/2014/main" id="{883AE4E3-06CB-2EA6-E66E-089F9F40C63C}"/>
              </a:ext>
            </a:extLst>
          </p:cNvPr>
          <p:cNvSpPr txBox="1"/>
          <p:nvPr/>
        </p:nvSpPr>
        <p:spPr>
          <a:xfrm>
            <a:off x="1358420" y="210808"/>
            <a:ext cx="4475400" cy="265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dirty="0">
                <a:solidFill>
                  <a:schemeClr val="bg1">
                    <a:lumMod val="10000"/>
                  </a:schemeClr>
                </a:solidFill>
                <a:latin typeface="VT323"/>
                <a:ea typeface="VT323"/>
                <a:cs typeface="VT323"/>
                <a:sym typeface="VT323"/>
              </a:rPr>
              <a:t>Examples</a:t>
            </a:r>
            <a:endParaRPr sz="1600" dirty="0">
              <a:solidFill>
                <a:schemeClr val="bg1">
                  <a:lumMod val="10000"/>
                </a:schemeClr>
              </a:solidFill>
              <a:latin typeface="VT323"/>
              <a:ea typeface="VT323"/>
              <a:cs typeface="VT323"/>
              <a:sym typeface="VT323"/>
            </a:endParaRPr>
          </a:p>
        </p:txBody>
      </p:sp>
      <p:pic>
        <p:nvPicPr>
          <p:cNvPr id="2" name="Picture 2" descr="Node.js logo vector (eps, svg) free download - Brandlogos.net">
            <a:extLst>
              <a:ext uri="{FF2B5EF4-FFF2-40B4-BE49-F238E27FC236}">
                <a16:creationId xmlns:a16="http://schemas.microsoft.com/office/drawing/2014/main" id="{51FBAD9B-FF50-0A83-D494-3EEA4CFCDB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391" y="187112"/>
            <a:ext cx="928654" cy="27714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F056158E-C530-C2FB-9664-F9F5BEBA5218}"/>
              </a:ext>
            </a:extLst>
          </p:cNvPr>
          <p:cNvPicPr>
            <a:picLocks noChangeAspect="1"/>
          </p:cNvPicPr>
          <p:nvPr/>
        </p:nvPicPr>
        <p:blipFill>
          <a:blip r:embed="rId5"/>
          <a:stretch>
            <a:fillRect/>
          </a:stretch>
        </p:blipFill>
        <p:spPr>
          <a:xfrm>
            <a:off x="739117" y="1731819"/>
            <a:ext cx="3338652" cy="2588056"/>
          </a:xfrm>
          <a:prstGeom prst="rect">
            <a:avLst/>
          </a:prstGeom>
        </p:spPr>
      </p:pic>
      <p:grpSp>
        <p:nvGrpSpPr>
          <p:cNvPr id="5" name="Google Shape;252;p31">
            <a:extLst>
              <a:ext uri="{FF2B5EF4-FFF2-40B4-BE49-F238E27FC236}">
                <a16:creationId xmlns:a16="http://schemas.microsoft.com/office/drawing/2014/main" id="{63836AA2-5A87-8EC9-C513-74F6B9C7AEF3}"/>
              </a:ext>
            </a:extLst>
          </p:cNvPr>
          <p:cNvGrpSpPr/>
          <p:nvPr/>
        </p:nvGrpSpPr>
        <p:grpSpPr>
          <a:xfrm>
            <a:off x="739116" y="1412671"/>
            <a:ext cx="3338651" cy="329299"/>
            <a:chOff x="511225" y="947025"/>
            <a:chExt cx="2971350" cy="265500"/>
          </a:xfrm>
        </p:grpSpPr>
        <p:pic>
          <p:nvPicPr>
            <p:cNvPr id="6" name="Google Shape;253;p31" title="Sin título-2.png">
              <a:extLst>
                <a:ext uri="{FF2B5EF4-FFF2-40B4-BE49-F238E27FC236}">
                  <a16:creationId xmlns:a16="http://schemas.microsoft.com/office/drawing/2014/main" id="{D1819C22-EFB9-C68D-4362-0381D0F237CF}"/>
                </a:ext>
              </a:extLst>
            </p:cNvPr>
            <p:cNvPicPr preferRelativeResize="0"/>
            <p:nvPr/>
          </p:nvPicPr>
          <p:blipFill rotWithShape="1">
            <a:blip r:embed="rId3">
              <a:alphaModFix/>
            </a:blip>
            <a:srcRect l="60127"/>
            <a:stretch/>
          </p:blipFill>
          <p:spPr>
            <a:xfrm>
              <a:off x="512775" y="947025"/>
              <a:ext cx="2969800" cy="265500"/>
            </a:xfrm>
            <a:prstGeom prst="rect">
              <a:avLst/>
            </a:prstGeom>
            <a:noFill/>
            <a:ln>
              <a:noFill/>
            </a:ln>
          </p:spPr>
        </p:pic>
        <p:pic>
          <p:nvPicPr>
            <p:cNvPr id="7" name="Google Shape;254;p31" title="Sin título-2.png">
              <a:extLst>
                <a:ext uri="{FF2B5EF4-FFF2-40B4-BE49-F238E27FC236}">
                  <a16:creationId xmlns:a16="http://schemas.microsoft.com/office/drawing/2014/main" id="{90646CFF-DA88-B7C6-BF33-DAC553E90889}"/>
                </a:ext>
              </a:extLst>
            </p:cNvPr>
            <p:cNvPicPr preferRelativeResize="0"/>
            <p:nvPr/>
          </p:nvPicPr>
          <p:blipFill rotWithShape="1">
            <a:blip r:embed="rId3">
              <a:alphaModFix/>
            </a:blip>
            <a:srcRect l="60127"/>
            <a:stretch/>
          </p:blipFill>
          <p:spPr>
            <a:xfrm>
              <a:off x="511225" y="947025"/>
              <a:ext cx="2969800" cy="265500"/>
            </a:xfrm>
            <a:prstGeom prst="rect">
              <a:avLst/>
            </a:prstGeom>
            <a:noFill/>
            <a:ln>
              <a:noFill/>
            </a:ln>
          </p:spPr>
        </p:pic>
      </p:grpSp>
      <p:pic>
        <p:nvPicPr>
          <p:cNvPr id="9" name="Picture 8">
            <a:extLst>
              <a:ext uri="{FF2B5EF4-FFF2-40B4-BE49-F238E27FC236}">
                <a16:creationId xmlns:a16="http://schemas.microsoft.com/office/drawing/2014/main" id="{795E5C53-C4D3-B954-4E54-A6FBE5412763}"/>
              </a:ext>
            </a:extLst>
          </p:cNvPr>
          <p:cNvPicPr>
            <a:picLocks noChangeAspect="1"/>
          </p:cNvPicPr>
          <p:nvPr/>
        </p:nvPicPr>
        <p:blipFill>
          <a:blip r:embed="rId6"/>
          <a:stretch>
            <a:fillRect/>
          </a:stretch>
        </p:blipFill>
        <p:spPr>
          <a:xfrm>
            <a:off x="4653365" y="2780259"/>
            <a:ext cx="3832544" cy="1539616"/>
          </a:xfrm>
          <a:prstGeom prst="rect">
            <a:avLst/>
          </a:prstGeom>
        </p:spPr>
      </p:pic>
      <p:grpSp>
        <p:nvGrpSpPr>
          <p:cNvPr id="10" name="Google Shape;252;p31">
            <a:extLst>
              <a:ext uri="{FF2B5EF4-FFF2-40B4-BE49-F238E27FC236}">
                <a16:creationId xmlns:a16="http://schemas.microsoft.com/office/drawing/2014/main" id="{E677813D-BF93-0DA0-1793-817EAF9C33FE}"/>
              </a:ext>
            </a:extLst>
          </p:cNvPr>
          <p:cNvGrpSpPr/>
          <p:nvPr/>
        </p:nvGrpSpPr>
        <p:grpSpPr>
          <a:xfrm>
            <a:off x="5147258" y="2450960"/>
            <a:ext cx="3338651" cy="329299"/>
            <a:chOff x="511225" y="947025"/>
            <a:chExt cx="2971350" cy="265500"/>
          </a:xfrm>
        </p:grpSpPr>
        <p:pic>
          <p:nvPicPr>
            <p:cNvPr id="11" name="Google Shape;253;p31" title="Sin título-2.png">
              <a:extLst>
                <a:ext uri="{FF2B5EF4-FFF2-40B4-BE49-F238E27FC236}">
                  <a16:creationId xmlns:a16="http://schemas.microsoft.com/office/drawing/2014/main" id="{CB8027E9-563F-C7CA-4824-751AF354C64F}"/>
                </a:ext>
              </a:extLst>
            </p:cNvPr>
            <p:cNvPicPr preferRelativeResize="0"/>
            <p:nvPr/>
          </p:nvPicPr>
          <p:blipFill rotWithShape="1">
            <a:blip r:embed="rId3">
              <a:alphaModFix/>
            </a:blip>
            <a:srcRect l="60127"/>
            <a:stretch/>
          </p:blipFill>
          <p:spPr>
            <a:xfrm>
              <a:off x="512775" y="947025"/>
              <a:ext cx="2969800" cy="265500"/>
            </a:xfrm>
            <a:prstGeom prst="rect">
              <a:avLst/>
            </a:prstGeom>
            <a:noFill/>
            <a:ln>
              <a:noFill/>
            </a:ln>
          </p:spPr>
        </p:pic>
        <p:pic>
          <p:nvPicPr>
            <p:cNvPr id="12" name="Google Shape;254;p31" title="Sin título-2.png">
              <a:extLst>
                <a:ext uri="{FF2B5EF4-FFF2-40B4-BE49-F238E27FC236}">
                  <a16:creationId xmlns:a16="http://schemas.microsoft.com/office/drawing/2014/main" id="{C3C0F59F-3CC7-2DA8-A900-2C5976A0EE16}"/>
                </a:ext>
              </a:extLst>
            </p:cNvPr>
            <p:cNvPicPr preferRelativeResize="0"/>
            <p:nvPr/>
          </p:nvPicPr>
          <p:blipFill rotWithShape="1">
            <a:blip r:embed="rId3">
              <a:alphaModFix/>
            </a:blip>
            <a:srcRect l="60127"/>
            <a:stretch/>
          </p:blipFill>
          <p:spPr>
            <a:xfrm>
              <a:off x="511225" y="947025"/>
              <a:ext cx="2969800" cy="265500"/>
            </a:xfrm>
            <a:prstGeom prst="rect">
              <a:avLst/>
            </a:prstGeom>
            <a:noFill/>
            <a:ln>
              <a:noFill/>
            </a:ln>
          </p:spPr>
        </p:pic>
      </p:grpSp>
    </p:spTree>
    <p:extLst>
      <p:ext uri="{BB962C8B-B14F-4D97-AF65-F5344CB8AC3E}">
        <p14:creationId xmlns:p14="http://schemas.microsoft.com/office/powerpoint/2010/main" val="3015758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Google Shape;341;p38">
            <a:extLst>
              <a:ext uri="{FF2B5EF4-FFF2-40B4-BE49-F238E27FC236}">
                <a16:creationId xmlns:a16="http://schemas.microsoft.com/office/drawing/2014/main" id="{4A46A65A-B2DE-3B01-5C11-0C40891916EA}"/>
              </a:ext>
            </a:extLst>
          </p:cNvPr>
          <p:cNvCxnSpPr>
            <a:cxnSpLocks/>
          </p:cNvCxnSpPr>
          <p:nvPr/>
        </p:nvCxnSpPr>
        <p:spPr>
          <a:xfrm>
            <a:off x="190500" y="2571750"/>
            <a:ext cx="8763000" cy="0"/>
          </a:xfrm>
          <a:prstGeom prst="straightConnector1">
            <a:avLst/>
          </a:prstGeom>
          <a:noFill/>
          <a:ln w="19050" cap="flat" cmpd="sng">
            <a:solidFill>
              <a:schemeClr val="dk2"/>
            </a:solidFill>
            <a:prstDash val="solid"/>
            <a:round/>
            <a:headEnd type="none" w="med" len="med"/>
            <a:tailEnd type="none" w="med" len="med"/>
          </a:ln>
        </p:spPr>
      </p:cxnSp>
      <p:sp>
        <p:nvSpPr>
          <p:cNvPr id="3" name="Title 1">
            <a:extLst>
              <a:ext uri="{FF2B5EF4-FFF2-40B4-BE49-F238E27FC236}">
                <a16:creationId xmlns:a16="http://schemas.microsoft.com/office/drawing/2014/main" id="{BA349460-F75F-01CA-590E-1F7E29CC3817}"/>
              </a:ext>
            </a:extLst>
          </p:cNvPr>
          <p:cNvSpPr>
            <a:spLocks noGrp="1"/>
          </p:cNvSpPr>
          <p:nvPr>
            <p:ph type="title"/>
          </p:nvPr>
        </p:nvSpPr>
        <p:spPr>
          <a:xfrm>
            <a:off x="669775" y="821968"/>
            <a:ext cx="3852300" cy="564000"/>
          </a:xfrm>
        </p:spPr>
        <p:txBody>
          <a:bodyPr/>
          <a:lstStyle/>
          <a:p>
            <a:r>
              <a:rPr lang="en" sz="6000" b="1" dirty="0"/>
              <a:t>Thank you</a:t>
            </a:r>
            <a:endParaRPr lang="ru-RU" sz="6000" b="1" dirty="0"/>
          </a:p>
        </p:txBody>
      </p:sp>
      <p:sp>
        <p:nvSpPr>
          <p:cNvPr id="4" name="Subtitle 2">
            <a:extLst>
              <a:ext uri="{FF2B5EF4-FFF2-40B4-BE49-F238E27FC236}">
                <a16:creationId xmlns:a16="http://schemas.microsoft.com/office/drawing/2014/main" id="{541552AD-7DC1-08FA-E0D7-0316323A2A88}"/>
              </a:ext>
            </a:extLst>
          </p:cNvPr>
          <p:cNvSpPr txBox="1">
            <a:spLocks/>
          </p:cNvSpPr>
          <p:nvPr/>
        </p:nvSpPr>
        <p:spPr>
          <a:xfrm>
            <a:off x="719701" y="1866621"/>
            <a:ext cx="3852299" cy="977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dirty="0">
                <a:latin typeface="Roboto Mono" panose="00000009000000000000" pitchFamily="49" charset="0"/>
                <a:ea typeface="Roboto Mono" panose="00000009000000000000" pitchFamily="49" charset="0"/>
              </a:rPr>
              <a:t>Do you have any questions?</a:t>
            </a:r>
          </a:p>
          <a:p>
            <a:endParaRPr lang="ru-RU" sz="1800" dirty="0">
              <a:latin typeface="Roboto Mono" panose="00000009000000000000" pitchFamily="49" charset="0"/>
              <a:ea typeface="Roboto Mono" panose="00000009000000000000" pitchFamily="49" charset="0"/>
            </a:endParaRPr>
          </a:p>
        </p:txBody>
      </p:sp>
      <p:sp>
        <p:nvSpPr>
          <p:cNvPr id="5" name="Google Shape;182;p28">
            <a:extLst>
              <a:ext uri="{FF2B5EF4-FFF2-40B4-BE49-F238E27FC236}">
                <a16:creationId xmlns:a16="http://schemas.microsoft.com/office/drawing/2014/main" id="{1C42AA06-FE7F-38DE-99DD-5F9E57A8D96F}"/>
              </a:ext>
            </a:extLst>
          </p:cNvPr>
          <p:cNvSpPr txBox="1"/>
          <p:nvPr/>
        </p:nvSpPr>
        <p:spPr>
          <a:xfrm>
            <a:off x="435854" y="205291"/>
            <a:ext cx="4475400" cy="265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600" dirty="0">
                <a:solidFill>
                  <a:schemeClr val="bg1">
                    <a:lumMod val="10000"/>
                  </a:schemeClr>
                </a:solidFill>
                <a:latin typeface="VT323"/>
                <a:ea typeface="VT323"/>
                <a:cs typeface="VT323"/>
                <a:sym typeface="VT323"/>
              </a:rPr>
              <a:t>Nikita Niakhai/</a:t>
            </a:r>
            <a:r>
              <a:rPr lang="en-US" sz="1600" dirty="0">
                <a:solidFill>
                  <a:schemeClr val="bg1">
                    <a:lumMod val="10000"/>
                  </a:schemeClr>
                </a:solidFill>
                <a:latin typeface="VT323"/>
                <a:ea typeface="VT323"/>
                <a:cs typeface="VT323"/>
                <a:sym typeface="VT323"/>
              </a:rPr>
              <a:t>M25-SNE-01/Unix-based Applications</a:t>
            </a:r>
            <a:endParaRPr sz="1600" dirty="0">
              <a:solidFill>
                <a:schemeClr val="bg1">
                  <a:lumMod val="10000"/>
                </a:schemeClr>
              </a:solidFill>
              <a:latin typeface="VT323"/>
              <a:ea typeface="VT323"/>
              <a:cs typeface="VT323"/>
              <a:sym typeface="VT323"/>
            </a:endParaRPr>
          </a:p>
        </p:txBody>
      </p:sp>
      <p:pic>
        <p:nvPicPr>
          <p:cNvPr id="6" name="Google Shape;249;p31" title="fluffy-clouds-windy-sky.jpg">
            <a:extLst>
              <a:ext uri="{FF2B5EF4-FFF2-40B4-BE49-F238E27FC236}">
                <a16:creationId xmlns:a16="http://schemas.microsoft.com/office/drawing/2014/main" id="{F9E46771-14BD-BC5F-3858-2BD469020550}"/>
              </a:ext>
            </a:extLst>
          </p:cNvPr>
          <p:cNvPicPr preferRelativeResize="0">
            <a:picLocks/>
          </p:cNvPicPr>
          <p:nvPr/>
        </p:nvPicPr>
        <p:blipFill rotWithShape="1">
          <a:blip r:embed="rId2">
            <a:alphaModFix/>
          </a:blip>
          <a:srcRect l="20604" r="20610"/>
          <a:stretch/>
        </p:blipFill>
        <p:spPr>
          <a:xfrm>
            <a:off x="5592546" y="1143000"/>
            <a:ext cx="2947200" cy="3341428"/>
          </a:xfrm>
          <a:prstGeom prst="rect">
            <a:avLst/>
          </a:prstGeom>
        </p:spPr>
      </p:pic>
      <p:grpSp>
        <p:nvGrpSpPr>
          <p:cNvPr id="7" name="Google Shape;252;p31">
            <a:extLst>
              <a:ext uri="{FF2B5EF4-FFF2-40B4-BE49-F238E27FC236}">
                <a16:creationId xmlns:a16="http://schemas.microsoft.com/office/drawing/2014/main" id="{98B7DBDC-5762-8488-FF3E-A414F11C9384}"/>
              </a:ext>
            </a:extLst>
          </p:cNvPr>
          <p:cNvGrpSpPr/>
          <p:nvPr/>
        </p:nvGrpSpPr>
        <p:grpSpPr>
          <a:xfrm>
            <a:off x="5581246" y="894875"/>
            <a:ext cx="2971350" cy="265500"/>
            <a:chOff x="511225" y="947025"/>
            <a:chExt cx="2971350" cy="265500"/>
          </a:xfrm>
        </p:grpSpPr>
        <p:pic>
          <p:nvPicPr>
            <p:cNvPr id="8" name="Google Shape;253;p31" title="Sin título-2.png">
              <a:extLst>
                <a:ext uri="{FF2B5EF4-FFF2-40B4-BE49-F238E27FC236}">
                  <a16:creationId xmlns:a16="http://schemas.microsoft.com/office/drawing/2014/main" id="{B2BDAF68-0F6A-E175-CADD-94B4B48EB041}"/>
                </a:ext>
              </a:extLst>
            </p:cNvPr>
            <p:cNvPicPr preferRelativeResize="0"/>
            <p:nvPr/>
          </p:nvPicPr>
          <p:blipFill rotWithShape="1">
            <a:blip r:embed="rId3">
              <a:alphaModFix/>
            </a:blip>
            <a:srcRect l="60127"/>
            <a:stretch/>
          </p:blipFill>
          <p:spPr>
            <a:xfrm>
              <a:off x="512775" y="947025"/>
              <a:ext cx="2969800" cy="265500"/>
            </a:xfrm>
            <a:prstGeom prst="rect">
              <a:avLst/>
            </a:prstGeom>
            <a:noFill/>
            <a:ln>
              <a:noFill/>
            </a:ln>
          </p:spPr>
        </p:pic>
        <p:pic>
          <p:nvPicPr>
            <p:cNvPr id="9" name="Google Shape;254;p31" title="Sin título-2.png">
              <a:extLst>
                <a:ext uri="{FF2B5EF4-FFF2-40B4-BE49-F238E27FC236}">
                  <a16:creationId xmlns:a16="http://schemas.microsoft.com/office/drawing/2014/main" id="{6729D44C-D16B-2E80-BCA1-473F6CD3D853}"/>
                </a:ext>
              </a:extLst>
            </p:cNvPr>
            <p:cNvPicPr preferRelativeResize="0"/>
            <p:nvPr/>
          </p:nvPicPr>
          <p:blipFill rotWithShape="1">
            <a:blip r:embed="rId3">
              <a:alphaModFix/>
            </a:blip>
            <a:srcRect l="60127"/>
            <a:stretch/>
          </p:blipFill>
          <p:spPr>
            <a:xfrm>
              <a:off x="511225" y="947025"/>
              <a:ext cx="2969800" cy="265500"/>
            </a:xfrm>
            <a:prstGeom prst="rect">
              <a:avLst/>
            </a:prstGeom>
            <a:noFill/>
            <a:ln>
              <a:noFill/>
            </a:ln>
          </p:spPr>
        </p:pic>
      </p:grpSp>
      <p:sp>
        <p:nvSpPr>
          <p:cNvPr id="2" name="Google Shape;180;p28">
            <a:extLst>
              <a:ext uri="{FF2B5EF4-FFF2-40B4-BE49-F238E27FC236}">
                <a16:creationId xmlns:a16="http://schemas.microsoft.com/office/drawing/2014/main" id="{9B20D9EA-CF0E-DF91-E345-FB2F1D06D66A}"/>
              </a:ext>
            </a:extLst>
          </p:cNvPr>
          <p:cNvSpPr txBox="1">
            <a:spLocks/>
          </p:cNvSpPr>
          <p:nvPr/>
        </p:nvSpPr>
        <p:spPr>
          <a:xfrm>
            <a:off x="597754" y="2475809"/>
            <a:ext cx="5312338" cy="2462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VT323"/>
              <a:buNone/>
              <a:defRPr sz="3200" b="0" i="0" u="none" strike="noStrike" cap="none">
                <a:solidFill>
                  <a:schemeClr val="dk1"/>
                </a:solidFill>
                <a:latin typeface="VT323"/>
                <a:ea typeface="VT323"/>
                <a:cs typeface="VT323"/>
                <a:sym typeface="VT323"/>
              </a:defRPr>
            </a:lvl1pPr>
            <a:lvl2pPr marR="0" lvl="1" algn="l"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2pPr>
            <a:lvl3pPr marR="0" lvl="2" algn="l"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3pPr>
            <a:lvl4pPr marR="0" lvl="3" algn="l"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4pPr>
            <a:lvl5pPr marR="0" lvl="4" algn="l"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5pPr>
            <a:lvl6pPr marR="0" lvl="5" algn="l"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6pPr>
            <a:lvl7pPr marR="0" lvl="6" algn="l"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7pPr>
            <a:lvl8pPr marR="0" lvl="7" algn="l"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8pPr>
            <a:lvl9pPr marR="0" lvl="8" algn="l" rtl="0">
              <a:lnSpc>
                <a:spcPct val="100000"/>
              </a:lnSpc>
              <a:spcBef>
                <a:spcPts val="0"/>
              </a:spcBef>
              <a:spcAft>
                <a:spcPts val="0"/>
              </a:spcAft>
              <a:buClr>
                <a:schemeClr val="dk1"/>
              </a:buClr>
              <a:buSzPts val="3200"/>
              <a:buFont typeface="VT323"/>
              <a:buNone/>
              <a:defRPr sz="3200" b="0" i="0" u="none" strike="noStrike" cap="none">
                <a:solidFill>
                  <a:schemeClr val="dk1"/>
                </a:solidFill>
                <a:latin typeface="VT323"/>
                <a:ea typeface="VT323"/>
                <a:cs typeface="VT323"/>
                <a:sym typeface="VT323"/>
              </a:defRPr>
            </a:lvl9pPr>
          </a:lstStyle>
          <a:p>
            <a:r>
              <a:rPr lang="en-US" sz="4400" i="1" dirty="0">
                <a:solidFill>
                  <a:schemeClr val="bg2">
                    <a:lumMod val="75000"/>
                  </a:schemeClr>
                </a:solidFill>
              </a:rPr>
              <a:t>Node.js as Unix-based Application:</a:t>
            </a:r>
          </a:p>
        </p:txBody>
      </p:sp>
      <p:sp>
        <p:nvSpPr>
          <p:cNvPr id="10" name="Google Shape;181;p28">
            <a:extLst>
              <a:ext uri="{FF2B5EF4-FFF2-40B4-BE49-F238E27FC236}">
                <a16:creationId xmlns:a16="http://schemas.microsoft.com/office/drawing/2014/main" id="{6FDE232A-109A-88D9-1F4E-C2C7C3463B6B}"/>
              </a:ext>
            </a:extLst>
          </p:cNvPr>
          <p:cNvSpPr txBox="1">
            <a:spLocks/>
          </p:cNvSpPr>
          <p:nvPr/>
        </p:nvSpPr>
        <p:spPr>
          <a:xfrm>
            <a:off x="672076" y="4008230"/>
            <a:ext cx="7862188" cy="437681"/>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1" i="1" dirty="0">
                <a:solidFill>
                  <a:schemeClr val="bg2">
                    <a:lumMod val="75000"/>
                  </a:schemeClr>
                </a:solidFill>
              </a:rPr>
              <a:t>Evolution, Architecture, Performance, Security</a:t>
            </a:r>
          </a:p>
        </p:txBody>
      </p:sp>
      <p:pic>
        <p:nvPicPr>
          <p:cNvPr id="12" name="Picture 2" descr="Node.js logo vector (eps, svg) free download - Brandlogos.net">
            <a:extLst>
              <a:ext uri="{FF2B5EF4-FFF2-40B4-BE49-F238E27FC236}">
                <a16:creationId xmlns:a16="http://schemas.microsoft.com/office/drawing/2014/main" id="{6BCB9322-C425-F89D-60DC-FEB9E2B1DA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6661" y="856230"/>
            <a:ext cx="928654" cy="277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7082248"/>
      </p:ext>
    </p:extLst>
  </p:cSld>
  <p:clrMapOvr>
    <a:masterClrMapping/>
  </p:clrMapOvr>
</p:sld>
</file>

<file path=ppt/theme/theme1.xml><?xml version="1.0" encoding="utf-8"?>
<a:theme xmlns:a="http://schemas.openxmlformats.org/drawingml/2006/main" name="My Presentation Template">
  <a:themeElements>
    <a:clrScheme name="Simple Light">
      <a:dk1>
        <a:srgbClr val="191919"/>
      </a:dk1>
      <a:lt1>
        <a:srgbClr val="EFEFEF"/>
      </a:lt1>
      <a:dk2>
        <a:srgbClr val="707070"/>
      </a:dk2>
      <a:lt2>
        <a:srgbClr val="C1C1B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1305</TotalTime>
  <Words>1558</Words>
  <Application>Microsoft Office PowerPoint</Application>
  <PresentationFormat>On-screen Show (16:9)</PresentationFormat>
  <Paragraphs>119</Paragraphs>
  <Slides>16</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VT323</vt:lpstr>
      <vt:lpstr>Open Sans</vt:lpstr>
      <vt:lpstr>Roboto Mono</vt:lpstr>
      <vt:lpstr>Arial</vt:lpstr>
      <vt:lpstr>Darker Grotesque SemiBold</vt:lpstr>
      <vt:lpstr>Raleway</vt:lpstr>
      <vt:lpstr>My Presentation Template</vt:lpstr>
      <vt:lpstr>Node.js as a Unix-based Application:</vt:lpstr>
      <vt:lpstr>Introduction. Definition</vt:lpstr>
      <vt:lpstr>Evolution of Node.js</vt:lpstr>
      <vt:lpstr>Figures. Diagrams of  node.js architecture </vt:lpstr>
      <vt:lpstr>High-level Process Model</vt:lpstr>
      <vt:lpstr>Figure 1. Of libuv architecture </vt:lpstr>
      <vt:lpstr>Minimizes data copying with sendfile</vt:lpstr>
      <vt:lpstr>Node.js keeps latency steady and predictable—even when overloaded—while pushing high throughput. In contrast, threaded systems can spike in wait times or crash. This is huge for real-world apps like e-commerce sites during sales </vt:lpstr>
      <vt:lpstr>PowerPoint Presentation</vt:lpstr>
      <vt:lpstr>PowerPoint Presentation</vt:lpstr>
      <vt:lpstr>Figure 1. Average operations per second of synchronous implementations in Node.js</vt:lpstr>
      <vt:lpstr>Security</vt:lpstr>
      <vt:lpstr>Current limitations</vt:lpstr>
      <vt:lpstr>Table of references</vt:lpstr>
      <vt:lpstr>Example (server code)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zach slap</dc:creator>
  <cp:lastModifiedBy>zach slap</cp:lastModifiedBy>
  <cp:revision>117</cp:revision>
  <dcterms:modified xsi:type="dcterms:W3CDTF">2025-12-04T07:08:01Z</dcterms:modified>
</cp:coreProperties>
</file>