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88" r:id="rId3"/>
    <p:sldId id="266" r:id="rId4"/>
    <p:sldId id="265" r:id="rId5"/>
    <p:sldId id="268" r:id="rId6"/>
    <p:sldId id="289" r:id="rId7"/>
    <p:sldId id="295" r:id="rId8"/>
    <p:sldId id="296" r:id="rId9"/>
    <p:sldId id="292" r:id="rId10"/>
    <p:sldId id="261" r:id="rId11"/>
    <p:sldId id="264" r:id="rId12"/>
    <p:sldId id="258" r:id="rId13"/>
    <p:sldId id="294" r:id="rId1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Roboto Mono" panose="00000009000000000000" pitchFamily="49" charset="0"/>
      <p:regular r:id="rId24"/>
      <p:bold r:id="rId25"/>
      <p:italic r:id="rId26"/>
      <p:boldItalic r:id="rId27"/>
    </p:embeddedFont>
    <p:embeddedFont>
      <p:font typeface="VT323" panose="020B060402020202020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A78"/>
    <a:srgbClr val="FFEEB9"/>
    <a:srgbClr val="FFC000"/>
    <a:srgbClr val="009900"/>
    <a:srgbClr val="75B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59E57D-C21D-433A-88A1-23F45811943C}">
  <a:tblStyle styleId="{6B59E57D-C21D-433A-88A1-23F4581194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0968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fb61485a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fb61485a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e1d838b627_4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e1d838b627_4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e1d838b627_4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e1d838b627_4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3fb61485a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3fb61485a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0" name="Google Shape;10;p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805375" y="1317075"/>
            <a:ext cx="2831700" cy="26481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06800" y="849600"/>
            <a:ext cx="5060700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606800" y="3364900"/>
            <a:ext cx="4351500" cy="113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5" name="Google Shape;15;p2" title="Sin título-2.png"/>
          <p:cNvPicPr preferRelativeResize="0"/>
          <p:nvPr/>
        </p:nvPicPr>
        <p:blipFill rotWithShape="1">
          <a:blip r:embed="rId3">
            <a:alphaModFix/>
          </a:blip>
          <a:srcRect l="61982"/>
          <a:stretch/>
        </p:blipFill>
        <p:spPr>
          <a:xfrm>
            <a:off x="5805376" y="1051575"/>
            <a:ext cx="2831677" cy="265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28" name="Google Shape;28;p4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6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2" name="Google Shape;42;p6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6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603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45" name="Google Shape;45;p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48" name="Google Shape;48;p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>
            <a:spLocks noGrp="1"/>
          </p:cNvSpPr>
          <p:nvPr>
            <p:ph type="pic" idx="2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55" name="Google Shape;55;p8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8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60" name="Google Shape;60;p9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9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ubTitle" idx="2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91450" y="686275"/>
            <a:ext cx="8758200" cy="413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6584125" y="3792925"/>
            <a:ext cx="2004000" cy="69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0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1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72" name="Google Shape;72;p11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1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3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"/>
          </p:nvPr>
        </p:nvSpPr>
        <p:spPr>
          <a:xfrm>
            <a:off x="110725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2"/>
          </p:nvPr>
        </p:nvSpPr>
        <p:spPr>
          <a:xfrm>
            <a:off x="1107250" y="2442833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3"/>
          </p:nvPr>
        </p:nvSpPr>
        <p:spPr>
          <a:xfrm>
            <a:off x="1107250" y="3089042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4"/>
          </p:nvPr>
        </p:nvSpPr>
        <p:spPr>
          <a:xfrm>
            <a:off x="1107250" y="3735250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5"/>
          </p:nvPr>
        </p:nvSpPr>
        <p:spPr>
          <a:xfrm>
            <a:off x="4851600" y="1796625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6"/>
          </p:nvPr>
        </p:nvSpPr>
        <p:spPr>
          <a:xfrm>
            <a:off x="4851600" y="2442831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7"/>
          </p:nvPr>
        </p:nvSpPr>
        <p:spPr>
          <a:xfrm>
            <a:off x="4851600" y="3089037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8"/>
          </p:nvPr>
        </p:nvSpPr>
        <p:spPr>
          <a:xfrm>
            <a:off x="4851600" y="3735244"/>
            <a:ext cx="2799900" cy="5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2300">
                <a:latin typeface="VT323"/>
                <a:ea typeface="VT323"/>
                <a:cs typeface="VT323"/>
                <a:sym typeface="VT323"/>
              </a:defRPr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9" hasCustomPrompt="1"/>
          </p:nvPr>
        </p:nvSpPr>
        <p:spPr>
          <a:xfrm>
            <a:off x="341850" y="38495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3" hasCustomPrompt="1"/>
          </p:nvPr>
        </p:nvSpPr>
        <p:spPr>
          <a:xfrm>
            <a:off x="341850" y="2560850"/>
            <a:ext cx="7653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4" hasCustomPrompt="1"/>
          </p:nvPr>
        </p:nvSpPr>
        <p:spPr>
          <a:xfrm>
            <a:off x="342582" y="1916800"/>
            <a:ext cx="7641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5" hasCustomPrompt="1"/>
          </p:nvPr>
        </p:nvSpPr>
        <p:spPr>
          <a:xfrm>
            <a:off x="341850" y="3205200"/>
            <a:ext cx="7653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16" hasCustomPrompt="1"/>
          </p:nvPr>
        </p:nvSpPr>
        <p:spPr>
          <a:xfrm>
            <a:off x="3985789" y="2561048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7" hasCustomPrompt="1"/>
          </p:nvPr>
        </p:nvSpPr>
        <p:spPr>
          <a:xfrm>
            <a:off x="3985787" y="3205296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18" hasCustomPrompt="1"/>
          </p:nvPr>
        </p:nvSpPr>
        <p:spPr>
          <a:xfrm>
            <a:off x="3985789" y="3849544"/>
            <a:ext cx="8658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9" hasCustomPrompt="1"/>
          </p:nvPr>
        </p:nvSpPr>
        <p:spPr>
          <a:xfrm>
            <a:off x="3985789" y="1916800"/>
            <a:ext cx="865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96" name="Google Shape;96;p13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1522850" y="1816950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1" name="Google Shape;101;p14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3789425" y="2229300"/>
            <a:ext cx="49401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15"/>
          <p:cNvSpPr>
            <a:spLocks noGrp="1"/>
          </p:cNvSpPr>
          <p:nvPr>
            <p:ph type="pic" idx="2"/>
          </p:nvPr>
        </p:nvSpPr>
        <p:spPr>
          <a:xfrm>
            <a:off x="522525" y="1195150"/>
            <a:ext cx="2947200" cy="334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107" name="Google Shape;107;p1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111" name="Google Shape;111;p16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7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14" name="Google Shape;114;p17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7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988" y="78599"/>
            <a:ext cx="8974027" cy="492505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>
            <a:spLocks noGrp="1"/>
          </p:cNvSpPr>
          <p:nvPr>
            <p:ph type="subTitle" idx="1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subTitle" idx="2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subTitle" idx="3"/>
          </p:nvPr>
        </p:nvSpPr>
        <p:spPr>
          <a:xfrm>
            <a:off x="330950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4"/>
          </p:nvPr>
        </p:nvSpPr>
        <p:spPr>
          <a:xfrm>
            <a:off x="3225884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5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6"/>
          </p:nvPr>
        </p:nvSpPr>
        <p:spPr>
          <a:xfrm>
            <a:off x="6120825" y="3392225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title" idx="7" hasCustomPrompt="1"/>
          </p:nvPr>
        </p:nvSpPr>
        <p:spPr>
          <a:xfrm>
            <a:off x="6132612" y="3071476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 idx="8" hasCustomPrompt="1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9"/>
          <p:cNvSpPr txBox="1">
            <a:spLocks noGrp="1"/>
          </p:cNvSpPr>
          <p:nvPr>
            <p:ph type="title" idx="9" hasCustomPrompt="1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13" hasCustomPrompt="1"/>
          </p:nvPr>
        </p:nvSpPr>
        <p:spPr>
          <a:xfrm>
            <a:off x="3237714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 idx="14" hasCustomPrompt="1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15" hasCustomPrompt="1"/>
          </p:nvPr>
        </p:nvSpPr>
        <p:spPr>
          <a:xfrm>
            <a:off x="342736" y="3071476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pic>
        <p:nvPicPr>
          <p:cNvPr id="142" name="Google Shape;142;p19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400" y="196675"/>
            <a:ext cx="8645002" cy="308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0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45" name="Google Shape;145;p20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0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0"/>
          <p:cNvSpPr txBox="1">
            <a:spLocks noGrp="1"/>
          </p:cNvSpPr>
          <p:nvPr>
            <p:ph type="title" hasCustomPrompt="1"/>
          </p:nvPr>
        </p:nvSpPr>
        <p:spPr>
          <a:xfrm>
            <a:off x="792825" y="974863"/>
            <a:ext cx="38766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792825" y="1629188"/>
            <a:ext cx="38766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2" hasCustomPrompt="1"/>
          </p:nvPr>
        </p:nvSpPr>
        <p:spPr>
          <a:xfrm>
            <a:off x="4298725" y="2743425"/>
            <a:ext cx="3929100" cy="7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3"/>
          </p:nvPr>
        </p:nvSpPr>
        <p:spPr>
          <a:xfrm>
            <a:off x="4298725" y="3498224"/>
            <a:ext cx="3929100" cy="44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2"/>
          <p:cNvGrpSpPr/>
          <p:nvPr/>
        </p:nvGrpSpPr>
        <p:grpSpPr>
          <a:xfrm>
            <a:off x="84988" y="78599"/>
            <a:ext cx="8974027" cy="4925051"/>
            <a:chOff x="84988" y="78599"/>
            <a:chExt cx="8974027" cy="4925051"/>
          </a:xfrm>
        </p:grpSpPr>
        <p:pic>
          <p:nvPicPr>
            <p:cNvPr id="161" name="Google Shape;161;p22" title="Sin título-7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988" y="78599"/>
              <a:ext cx="8974027" cy="4925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22" title="Sin título-2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400" y="196675"/>
              <a:ext cx="8645002" cy="3081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8" r:id="rId17"/>
    <p:sldLayoutId id="214748366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g"/><Relationship Id="rId7" Type="http://schemas.openxmlformats.org/officeDocument/2006/relationships/hyperlink" Target="https://w3techs.com/technologies/overview/web_serve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osabook.org/en/v2/nginx.html#:~:text=nginx%20runs%20several%20processes%20in,run%20as%20an%20unprivileged%20user" TargetMode="Externa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hyperlink" Target="https://people.eecs.berkeley.edu/~brewer/cs262/Pariag07.pdf#:~:text=sockets%20that%20are%20ready%20for,blocking%20due%20to%20disk%20activity" TargetMode="External"/><Relationship Id="rId4" Type="http://schemas.openxmlformats.org/officeDocument/2006/relationships/hyperlink" Target="https://www.eecg.toronto.edu/~stumm/Papers/Soares-USENIXATC11.pdf#:~:text=servers%20,We%20based%20our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ctrTitle"/>
          </p:nvPr>
        </p:nvSpPr>
        <p:spPr>
          <a:xfrm>
            <a:off x="606800" y="1470100"/>
            <a:ext cx="5312338" cy="24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/>
              <a:t>Nginx as Unix-based Application:</a:t>
            </a:r>
            <a:endParaRPr sz="5400" dirty="0"/>
          </a:p>
        </p:txBody>
      </p:sp>
      <p:sp>
        <p:nvSpPr>
          <p:cNvPr id="181" name="Google Shape;181;p28"/>
          <p:cNvSpPr txBox="1">
            <a:spLocks noGrp="1"/>
          </p:cNvSpPr>
          <p:nvPr>
            <p:ph type="subTitle" idx="1"/>
          </p:nvPr>
        </p:nvSpPr>
        <p:spPr>
          <a:xfrm>
            <a:off x="606800" y="2830375"/>
            <a:ext cx="7862188" cy="18804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/>
              <a:t>Evolution, Architecture, Performance, Security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Abstract: </a:t>
            </a:r>
            <a:r>
              <a:rPr lang="en-US" sz="1200" b="1" dirty="0"/>
              <a:t>NGINX (high-performance Unix-based web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server whose event-driven, multi-process architecture enables it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to handle massive concurrency with low resource usage.</a:t>
            </a:r>
            <a:r>
              <a:rPr lang="en-US" sz="1200" dirty="0"/>
              <a:t> Report analyzes architectural foundations (Unix-specific optimizations, performance characteristics, and security mechanisms. Additionally, </a:t>
            </a:r>
            <a:r>
              <a:rPr lang="en-US" sz="1200" b="1" dirty="0"/>
              <a:t>current work highlights limitations—such as disk I/O stalls and evolving HTTP/3 support.</a:t>
            </a:r>
            <a:endParaRPr sz="1200" dirty="0"/>
          </a:p>
        </p:txBody>
      </p:sp>
      <p:sp>
        <p:nvSpPr>
          <p:cNvPr id="182" name="Google Shape;182;p28"/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Nikita Niakhai/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M25-SNE-01/Unix-based Applications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35CD82-DAF4-8958-722E-2EB769AE9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588" y="1557338"/>
            <a:ext cx="238125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oogle Shape;249;p31">
            <a:extLst>
              <a:ext uri="{FF2B5EF4-FFF2-40B4-BE49-F238E27FC236}">
                <a16:creationId xmlns:a16="http://schemas.microsoft.com/office/drawing/2014/main" id="{9F282D3A-1A24-9D35-C63E-6D55F8DB7C71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/>
          <a:srcRect l="21987" t="5584" r="27367" b="35827"/>
          <a:stretch/>
        </p:blipFill>
        <p:spPr>
          <a:xfrm>
            <a:off x="5812328" y="1314453"/>
            <a:ext cx="2808000" cy="24480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80792C9-1111-0A74-9DEB-64D35C67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588" y="2893177"/>
            <a:ext cx="238125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Google Shape;341;p38">
            <a:extLst>
              <a:ext uri="{FF2B5EF4-FFF2-40B4-BE49-F238E27FC236}">
                <a16:creationId xmlns:a16="http://schemas.microsoft.com/office/drawing/2014/main" id="{1853150B-22F8-0AC8-A62D-44B44B1F767C}"/>
              </a:ext>
            </a:extLst>
          </p:cNvPr>
          <p:cNvCxnSpPr>
            <a:cxnSpLocks/>
          </p:cNvCxnSpPr>
          <p:nvPr/>
        </p:nvCxnSpPr>
        <p:spPr>
          <a:xfrm>
            <a:off x="697944" y="3398002"/>
            <a:ext cx="4821113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1" title="fluffy-clouds-windy-sky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604" r="20610"/>
          <a:stretch/>
        </p:blipFill>
        <p:spPr>
          <a:xfrm>
            <a:off x="522525" y="1195150"/>
            <a:ext cx="2947200" cy="3341428"/>
          </a:xfrm>
          <a:prstGeom prst="rect">
            <a:avLst/>
          </a:prstGeom>
        </p:spPr>
      </p:pic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789425" y="795800"/>
            <a:ext cx="45477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Introduction. Definition</a:t>
            </a:r>
            <a:endParaRPr dirty="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789425" y="1305450"/>
            <a:ext cx="4897375" cy="20990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300" b="1" dirty="0">
                <a:solidFill>
                  <a:schemeClr val="dk1"/>
                </a:solidFill>
              </a:rPr>
              <a:t>N</a:t>
            </a:r>
            <a:r>
              <a:rPr lang="en" sz="1300" b="1" dirty="0">
                <a:solidFill>
                  <a:schemeClr val="dk1"/>
                </a:solidFill>
              </a:rPr>
              <a:t>ginx </a:t>
            </a:r>
            <a:r>
              <a:rPr lang="en" sz="1300" dirty="0">
                <a:solidFill>
                  <a:schemeClr val="dk1"/>
                </a:solidFill>
              </a:rPr>
              <a:t>– (“</a:t>
            </a:r>
            <a:r>
              <a:rPr lang="en" sz="1300" i="1" dirty="0">
                <a:solidFill>
                  <a:schemeClr val="dk1"/>
                </a:solidFill>
              </a:rPr>
              <a:t>engine x”</a:t>
            </a:r>
            <a:r>
              <a:rPr lang="en" sz="1300" dirty="0">
                <a:solidFill>
                  <a:schemeClr val="dk1"/>
                </a:solidFill>
              </a:rPr>
              <a:t>) a free, open-source HTTP web-server written mainly in C language also used as a reverse proxy, load balancer, TCP/UDP proxy server mail proxy server and content cache. Disrtibuted under </a:t>
            </a:r>
            <a:r>
              <a:rPr lang="en-US" sz="1300" dirty="0">
                <a:solidFill>
                  <a:schemeClr val="dk1"/>
                </a:solidFill>
              </a:rPr>
              <a:t>the two-clause </a:t>
            </a:r>
            <a:r>
              <a:rPr lang="en-US" sz="1300" i="1" dirty="0">
                <a:solidFill>
                  <a:schemeClr val="dk1"/>
                </a:solidFill>
              </a:rPr>
              <a:t>BSD</a:t>
            </a:r>
            <a:r>
              <a:rPr lang="en-US" sz="1300" dirty="0">
                <a:solidFill>
                  <a:schemeClr val="dk1"/>
                </a:solidFill>
              </a:rPr>
              <a:t> (Berkley Unix) license.</a:t>
            </a:r>
            <a:endParaRPr lang="en"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" sz="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n-US" sz="1300" i="1" dirty="0">
                <a:solidFill>
                  <a:schemeClr val="dk1"/>
                </a:solidFill>
              </a:rPr>
              <a:t>Currently nginx is the second most popular open source web server on the Internet.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endParaRPr lang="en-US" sz="1300" dirty="0"/>
          </a:p>
        </p:txBody>
      </p:sp>
      <p:grpSp>
        <p:nvGrpSpPr>
          <p:cNvPr id="252" name="Google Shape;252;p31"/>
          <p:cNvGrpSpPr/>
          <p:nvPr/>
        </p:nvGrpSpPr>
        <p:grpSpPr>
          <a:xfrm>
            <a:off x="511225" y="947025"/>
            <a:ext cx="2971350" cy="265500"/>
            <a:chOff x="511225" y="947025"/>
            <a:chExt cx="2971350" cy="265500"/>
          </a:xfrm>
        </p:grpSpPr>
        <p:pic>
          <p:nvPicPr>
            <p:cNvPr id="253" name="Google Shape;253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31" title="Sin título-2.png"/>
            <p:cNvPicPr preferRelativeResize="0"/>
            <p:nvPr/>
          </p:nvPicPr>
          <p:blipFill rotWithShape="1">
            <a:blip r:embed="rId4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BD5F71B-370C-3A21-DBB2-9E0A75C47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61" y="1186986"/>
            <a:ext cx="2969835" cy="352112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A3CE3DE-618B-81FD-E428-7B117F793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29;p30">
            <a:extLst>
              <a:ext uri="{FF2B5EF4-FFF2-40B4-BE49-F238E27FC236}">
                <a16:creationId xmlns:a16="http://schemas.microsoft.com/office/drawing/2014/main" id="{831971ED-AA09-1D04-FCBA-429E29DAB1C1}"/>
              </a:ext>
            </a:extLst>
          </p:cNvPr>
          <p:cNvSpPr txBox="1">
            <a:spLocks/>
          </p:cNvSpPr>
          <p:nvPr/>
        </p:nvSpPr>
        <p:spPr>
          <a:xfrm>
            <a:off x="3851775" y="4438408"/>
            <a:ext cx="5905871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●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○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Mono"/>
              <a:buChar char="■"/>
              <a:defRPr sz="1400" b="0" i="0" u="none" strike="noStrike" cap="non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buFont typeface="Roboto Mono"/>
              <a:buNone/>
            </a:pPr>
            <a:endParaRPr lang="en-US" dirty="0">
              <a:latin typeface="VT323" panose="020B0604020202020204" charset="0"/>
            </a:endParaRPr>
          </a:p>
        </p:txBody>
      </p:sp>
      <p:sp>
        <p:nvSpPr>
          <p:cNvPr id="5" name="Google Shape;239;p30">
            <a:extLst>
              <a:ext uri="{FF2B5EF4-FFF2-40B4-BE49-F238E27FC236}">
                <a16:creationId xmlns:a16="http://schemas.microsoft.com/office/drawing/2014/main" id="{A448DD75-5CD7-CF22-FE10-B23DF451664A}"/>
              </a:ext>
            </a:extLst>
          </p:cNvPr>
          <p:cNvSpPr txBox="1">
            <a:spLocks/>
          </p:cNvSpPr>
          <p:nvPr/>
        </p:nvSpPr>
        <p:spPr>
          <a:xfrm>
            <a:off x="3810800" y="4438408"/>
            <a:ext cx="4810675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dirty="0">
              <a:latin typeface="VT323" panose="020B0604020202020204" charset="0"/>
            </a:endParaRPr>
          </a:p>
          <a:p>
            <a:r>
              <a:rPr lang="en" dirty="0">
                <a:latin typeface="VT323" panose="020B0604020202020204" charset="0"/>
              </a:rPr>
              <a:t>[01] </a:t>
            </a:r>
            <a:r>
              <a:rPr lang="en-US" i="1" dirty="0">
                <a:latin typeface="VT323" panose="020B0604020202020204" charset="0"/>
                <a:hlinkClick r:id="rId7"/>
              </a:rPr>
              <a:t>https://w3techs.com/technologies/overview/web_server</a:t>
            </a:r>
            <a:endParaRPr lang="en-US" i="1" dirty="0">
              <a:latin typeface="VT323" panose="020B0604020202020204" charset="0"/>
            </a:endParaRPr>
          </a:p>
          <a:p>
            <a:r>
              <a:rPr lang="en-US" dirty="0">
                <a:latin typeface="VT323" panose="020B0604020202020204" charset="0"/>
              </a:rPr>
              <a:t>[02] </a:t>
            </a:r>
            <a:r>
              <a:rPr lang="en-US" i="1" u="sng" dirty="0">
                <a:latin typeface="VT323" panose="020B0604020202020204" charset="0"/>
              </a:rPr>
              <a:t>https://nginx.org/en/</a:t>
            </a:r>
          </a:p>
          <a:p>
            <a:pPr algn="ctr"/>
            <a:r>
              <a:rPr lang="en" dirty="0">
                <a:latin typeface="VT323" panose="020B060402020202020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F2E9E4-114E-CDDD-5FB9-9469ED8BC0BE}"/>
              </a:ext>
            </a:extLst>
          </p:cNvPr>
          <p:cNvSpPr txBox="1"/>
          <p:nvPr/>
        </p:nvSpPr>
        <p:spPr>
          <a:xfrm>
            <a:off x="3591999" y="3231887"/>
            <a:ext cx="529222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18000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High concurrency (clients/browsers) &amp; C10k/C100k in modern complex environment.</a:t>
            </a:r>
          </a:p>
          <a:p>
            <a:pPr marL="285750" lvl="0" indent="-18000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Thread- and process-based servers’ limitations.</a:t>
            </a:r>
          </a:p>
          <a:p>
            <a:pPr marL="285750" lvl="0" indent="-18000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ct val="110000"/>
              <a:buFont typeface="Arial" panose="020B0604020202020204" pitchFamily="34" charset="0"/>
              <a:buChar char="•"/>
            </a:pP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Event-based mechanism.</a:t>
            </a:r>
          </a:p>
          <a:p>
            <a:pPr marL="285750" lvl="0" indent="-18000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ct val="110000"/>
              <a:buFont typeface="Arial" panose="020B0604020202020204" pitchFamily="34" charset="0"/>
              <a:buChar char="•"/>
            </a:pPr>
            <a:endParaRPr lang="en" sz="1300" dirty="0">
              <a:solidFill>
                <a:schemeClr val="dk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1" name="Google Shape;182;p28">
            <a:extLst>
              <a:ext uri="{FF2B5EF4-FFF2-40B4-BE49-F238E27FC236}">
                <a16:creationId xmlns:a16="http://schemas.microsoft.com/office/drawing/2014/main" id="{6ED7CB17-4BCD-9EBA-6AB3-D2C981FA461D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Introduction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C97110-1D05-915B-F4BA-CEAD7F522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25" y="77981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4151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>
            <a:spLocks noGrp="1"/>
          </p:cNvSpPr>
          <p:nvPr>
            <p:ph type="title"/>
          </p:nvPr>
        </p:nvSpPr>
        <p:spPr>
          <a:xfrm>
            <a:off x="341850" y="689750"/>
            <a:ext cx="846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Evolution of nginx</a:t>
            </a:r>
            <a:endParaRPr dirty="0"/>
          </a:p>
        </p:txBody>
      </p:sp>
      <p:sp>
        <p:nvSpPr>
          <p:cNvPr id="321" name="Google Shape;321;p38"/>
          <p:cNvSpPr txBox="1"/>
          <p:nvPr/>
        </p:nvSpPr>
        <p:spPr>
          <a:xfrm>
            <a:off x="341212" y="2293025"/>
            <a:ext cx="184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2002-2004</a:t>
            </a:r>
            <a:endParaRPr sz="23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2" name="Google Shape;322;p38"/>
          <p:cNvSpPr txBox="1"/>
          <p:nvPr/>
        </p:nvSpPr>
        <p:spPr>
          <a:xfrm>
            <a:off x="333023" y="2826702"/>
            <a:ext cx="18444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Igor Sysoev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(Rambler, Russia) begins work on NGINX to solve the C10k problem</a:t>
            </a:r>
          </a:p>
        </p:txBody>
      </p:sp>
      <p:sp>
        <p:nvSpPr>
          <p:cNvPr id="323" name="Google Shape;323;p38"/>
          <p:cNvSpPr txBox="1"/>
          <p:nvPr/>
        </p:nvSpPr>
        <p:spPr>
          <a:xfrm>
            <a:off x="2405750" y="2293024"/>
            <a:ext cx="184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2011</a:t>
            </a:r>
            <a:endParaRPr sz="23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2405740" y="2826710"/>
            <a:ext cx="18444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NGINX Inc.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founded, 1.0.0 release in 2011 (gains popularity)</a:t>
            </a: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6551177" y="2293025"/>
            <a:ext cx="184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2020s</a:t>
            </a:r>
            <a:endParaRPr sz="23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6551175" y="2826425"/>
            <a:ext cx="18444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Igor Sysoev </a:t>
            </a:r>
            <a:r>
              <a:rPr lang="en-US" sz="12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left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Nginx and F5, but core </a:t>
            </a:r>
            <a:r>
              <a:rPr lang="en-US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devs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are </a:t>
            </a:r>
            <a:r>
              <a:rPr lang="en-US" sz="12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remain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F5’s is criticized for interference with Nginx's development.</a:t>
            </a:r>
          </a:p>
        </p:txBody>
      </p:sp>
      <p:sp>
        <p:nvSpPr>
          <p:cNvPr id="327" name="Google Shape;327;p38"/>
          <p:cNvSpPr txBox="1"/>
          <p:nvPr/>
        </p:nvSpPr>
        <p:spPr>
          <a:xfrm>
            <a:off x="4478467" y="2293025"/>
            <a:ext cx="1844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rPr>
              <a:t>2019</a:t>
            </a:r>
            <a:endParaRPr sz="2300" dirty="0">
              <a:solidFill>
                <a:schemeClr val="dk2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4478458" y="2826424"/>
            <a:ext cx="1844400" cy="1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F5 Networks 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acquires NGINX, Inc. for $670M (affirming its enterprise value)</a:t>
            </a:r>
            <a:endParaRPr lang="ru-RU"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9" name="Google Shape;329;p38"/>
          <p:cNvGrpSpPr/>
          <p:nvPr/>
        </p:nvGrpSpPr>
        <p:grpSpPr>
          <a:xfrm>
            <a:off x="448839" y="1959034"/>
            <a:ext cx="257270" cy="265503"/>
            <a:chOff x="3526100" y="1307775"/>
            <a:chExt cx="318285" cy="328470"/>
          </a:xfrm>
        </p:grpSpPr>
        <p:sp>
          <p:nvSpPr>
            <p:cNvPr id="330" name="Google Shape;330;p38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1" name="Google Shape;331;p38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32" name="Google Shape;332;p38"/>
          <p:cNvGrpSpPr/>
          <p:nvPr/>
        </p:nvGrpSpPr>
        <p:grpSpPr>
          <a:xfrm>
            <a:off x="2522609" y="1959034"/>
            <a:ext cx="257270" cy="265503"/>
            <a:chOff x="3526100" y="1307775"/>
            <a:chExt cx="318285" cy="328470"/>
          </a:xfrm>
        </p:grpSpPr>
        <p:sp>
          <p:nvSpPr>
            <p:cNvPr id="333" name="Google Shape;333;p38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4" name="Google Shape;334;p38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35" name="Google Shape;335;p38"/>
          <p:cNvGrpSpPr/>
          <p:nvPr/>
        </p:nvGrpSpPr>
        <p:grpSpPr>
          <a:xfrm>
            <a:off x="4588009" y="1959034"/>
            <a:ext cx="257270" cy="265503"/>
            <a:chOff x="3526100" y="1307775"/>
            <a:chExt cx="318285" cy="328470"/>
          </a:xfrm>
        </p:grpSpPr>
        <p:sp>
          <p:nvSpPr>
            <p:cNvPr id="336" name="Google Shape;336;p38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37" name="Google Shape;337;p38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338" name="Google Shape;338;p38"/>
          <p:cNvGrpSpPr/>
          <p:nvPr/>
        </p:nvGrpSpPr>
        <p:grpSpPr>
          <a:xfrm>
            <a:off x="6653409" y="1959034"/>
            <a:ext cx="257270" cy="265503"/>
            <a:chOff x="3526100" y="1307775"/>
            <a:chExt cx="318285" cy="328470"/>
          </a:xfrm>
        </p:grpSpPr>
        <p:sp>
          <p:nvSpPr>
            <p:cNvPr id="339" name="Google Shape;339;p38"/>
            <p:cNvSpPr/>
            <p:nvPr/>
          </p:nvSpPr>
          <p:spPr>
            <a:xfrm>
              <a:off x="3536285" y="1328145"/>
              <a:ext cx="308100" cy="308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340" name="Google Shape;340;p38"/>
            <p:cNvSpPr/>
            <p:nvPr/>
          </p:nvSpPr>
          <p:spPr>
            <a:xfrm>
              <a:off x="3526100" y="1307775"/>
              <a:ext cx="308100" cy="308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cxnSp>
        <p:nvCxnSpPr>
          <p:cNvPr id="341" name="Google Shape;341;p38"/>
          <p:cNvCxnSpPr>
            <a:endCxn id="334" idx="1"/>
          </p:cNvCxnSpPr>
          <p:nvPr/>
        </p:nvCxnSpPr>
        <p:spPr>
          <a:xfrm>
            <a:off x="706109" y="2083552"/>
            <a:ext cx="1816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2" name="Google Shape;342;p38"/>
          <p:cNvCxnSpPr>
            <a:stCxn id="334" idx="3"/>
            <a:endCxn id="337" idx="1"/>
          </p:cNvCxnSpPr>
          <p:nvPr/>
        </p:nvCxnSpPr>
        <p:spPr>
          <a:xfrm>
            <a:off x="2771646" y="2083552"/>
            <a:ext cx="1816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3" name="Google Shape;343;p38"/>
          <p:cNvCxnSpPr>
            <a:stCxn id="337" idx="3"/>
            <a:endCxn id="340" idx="1"/>
          </p:cNvCxnSpPr>
          <p:nvPr/>
        </p:nvCxnSpPr>
        <p:spPr>
          <a:xfrm>
            <a:off x="4837046" y="2083552"/>
            <a:ext cx="1816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6FAB8848-408E-CC05-455D-434DCCA67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82;p28">
            <a:extLst>
              <a:ext uri="{FF2B5EF4-FFF2-40B4-BE49-F238E27FC236}">
                <a16:creationId xmlns:a16="http://schemas.microsoft.com/office/drawing/2014/main" id="{AC18B493-D579-B044-8034-1D804B5A097B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Evolution. Timeline.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D0D95A0-5D56-428A-E42D-C13AA1EB5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296" y="80109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C24F63C-EEA7-C3E6-1CBE-F3D51FF5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72F3773-01C3-AC75-B199-DC529B776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1" y="767156"/>
            <a:ext cx="6511244" cy="4049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4" name="Google Shape;314;p37"/>
          <p:cNvSpPr txBox="1">
            <a:spLocks noGrp="1"/>
          </p:cNvSpPr>
          <p:nvPr>
            <p:ph type="title"/>
          </p:nvPr>
        </p:nvSpPr>
        <p:spPr>
          <a:xfrm>
            <a:off x="6262007" y="3355522"/>
            <a:ext cx="2301625" cy="1131904"/>
          </a:xfrm>
          <a:prstGeom prst="rect">
            <a:avLst/>
          </a:prstGeom>
          <a:solidFill>
            <a:srgbClr val="FFC000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Figure. </a:t>
            </a:r>
            <a:r>
              <a:rPr lang="en-US" dirty="0"/>
              <a:t>Diagram of  nginx's architecture</a:t>
            </a:r>
            <a:br>
              <a:rPr lang="en-US" dirty="0"/>
            </a:br>
            <a:r>
              <a:rPr lang="en-US" sz="1100" dirty="0">
                <a:latin typeface="Roboto Mono" panose="00000009000000000000" pitchFamily="49" charset="0"/>
                <a:ea typeface="Roboto Mono" panose="00000009000000000000" pitchFamily="49" charset="0"/>
              </a:rPr>
              <a:t>(master and worker processes using OS event APIs)</a:t>
            </a:r>
            <a:endParaRPr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5" name="Google Shape;182;p28">
            <a:extLst>
              <a:ext uri="{FF2B5EF4-FFF2-40B4-BE49-F238E27FC236}">
                <a16:creationId xmlns:a16="http://schemas.microsoft.com/office/drawing/2014/main" id="{0FDB1BE7-0459-368D-33D2-706E84B5BE70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Architecture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0" title="Sin título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391" y="695701"/>
            <a:ext cx="4463963" cy="25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0"/>
          <p:cNvSpPr txBox="1">
            <a:spLocks noGrp="1"/>
          </p:cNvSpPr>
          <p:nvPr>
            <p:ph type="title"/>
          </p:nvPr>
        </p:nvSpPr>
        <p:spPr>
          <a:xfrm>
            <a:off x="-720960" y="604071"/>
            <a:ext cx="2881104" cy="4919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70C0"/>
                </a:solidFill>
              </a:rPr>
              <a:t>Master</a:t>
            </a:r>
            <a:endParaRPr sz="2400" dirty="0">
              <a:solidFill>
                <a:srgbClr val="0070C0"/>
              </a:solidFill>
            </a:endParaRPr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1"/>
          </p:nvPr>
        </p:nvSpPr>
        <p:spPr>
          <a:xfrm>
            <a:off x="201926" y="1152661"/>
            <a:ext cx="4079535" cy="15252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(runs as root) reads config, binds privileged ports, and spawns multiple </a:t>
            </a:r>
            <a:r>
              <a:rPr lang="en-US" sz="1400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worker</a:t>
            </a:r>
            <a:r>
              <a:rPr lang="en-US" sz="1400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processes;</a:t>
            </a:r>
            <a:endParaRPr lang="ru-RU" sz="1400" kern="100" dirty="0">
              <a:effectLst/>
              <a:latin typeface="Roboto Mono" panose="00000009000000000000" pitchFamily="49" charset="0"/>
              <a:ea typeface="Roboto Mono" panose="00000009000000000000" pitchFamily="49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reloads config or upgrade binaries gracefully by signaling workers (no service interruption).</a:t>
            </a:r>
            <a:endParaRPr lang="ru-RU" sz="1400" kern="100" dirty="0">
              <a:effectLst/>
              <a:latin typeface="Roboto Mono" panose="00000009000000000000" pitchFamily="49" charset="0"/>
              <a:ea typeface="Roboto Mono" panose="00000009000000000000" pitchFamily="49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4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pic>
        <p:nvPicPr>
          <p:cNvPr id="362" name="Google Shape;362;p40" title="7746071.png"/>
          <p:cNvPicPr preferRelativeResize="0"/>
          <p:nvPr/>
        </p:nvPicPr>
        <p:blipFill rotWithShape="1">
          <a:blip r:embed="rId4">
            <a:alphaModFix/>
          </a:blip>
          <a:srcRect l="6145" t="10808" r="11691" b="37477"/>
          <a:stretch/>
        </p:blipFill>
        <p:spPr>
          <a:xfrm>
            <a:off x="4486040" y="1763486"/>
            <a:ext cx="4477950" cy="315142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64;p40">
            <a:extLst>
              <a:ext uri="{FF2B5EF4-FFF2-40B4-BE49-F238E27FC236}">
                <a16:creationId xmlns:a16="http://schemas.microsoft.com/office/drawing/2014/main" id="{25022455-FF09-B4B7-50B2-0DBE6FC6EB38}"/>
              </a:ext>
            </a:extLst>
          </p:cNvPr>
          <p:cNvSpPr txBox="1">
            <a:spLocks/>
          </p:cNvSpPr>
          <p:nvPr/>
        </p:nvSpPr>
        <p:spPr>
          <a:xfrm>
            <a:off x="3142097" y="1542140"/>
            <a:ext cx="3876600" cy="7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4500" b="0" i="0" u="none" strike="noStrike" cap="none">
                <a:solidFill>
                  <a:schemeClr val="dk2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VT323"/>
              <a:buNone/>
              <a:defRPr sz="6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2400" dirty="0">
                <a:solidFill>
                  <a:srgbClr val="FFC000"/>
                </a:solidFill>
              </a:rPr>
              <a:t>Worker</a:t>
            </a:r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3"/>
          </p:nvPr>
        </p:nvSpPr>
        <p:spPr>
          <a:xfrm>
            <a:off x="4660518" y="2305104"/>
            <a:ext cx="4289485" cy="15392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(run as unprivileged user) handle all request processing, each in a single-threaded event loop;</a:t>
            </a:r>
            <a:endParaRPr lang="en-US" kern="100" dirty="0">
              <a:latin typeface="Roboto Mono" panose="00000009000000000000" pitchFamily="49" charset="0"/>
              <a:ea typeface="Roboto Mono" panose="00000009000000000000" pitchFamily="49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kern="100" dirty="0"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they 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share in-memory configuration that can be changed without dropping connections;</a:t>
            </a:r>
            <a:endParaRPr lang="en-US" kern="100" dirty="0">
              <a:latin typeface="Roboto Mono" panose="00000009000000000000" pitchFamily="49" charset="0"/>
              <a:ea typeface="Roboto Mono" panose="00000009000000000000" pitchFamily="49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are isolated (one per CPU core recommended) to leverage multicore and avoid locks/threads.</a:t>
            </a:r>
            <a:endParaRPr lang="ru-RU" kern="100" dirty="0">
              <a:effectLst/>
              <a:latin typeface="Roboto Mono" panose="00000009000000000000" pitchFamily="49" charset="0"/>
              <a:ea typeface="Roboto Mono" panose="00000009000000000000" pitchFamily="49" charset="0"/>
              <a:cs typeface="Times New Roman" panose="02020603050405020304" pitchFamily="18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0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8DF90DF-0C5C-556B-8C4D-A9166C8FC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82;p28">
            <a:extLst>
              <a:ext uri="{FF2B5EF4-FFF2-40B4-BE49-F238E27FC236}">
                <a16:creationId xmlns:a16="http://schemas.microsoft.com/office/drawing/2014/main" id="{0B9AAD5B-8B73-8F4C-2C2E-1FB09C34E490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Architecture. Master’s and Worker’s props.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C955F-9BE0-9069-2576-E300F1C9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435" y="755200"/>
            <a:ext cx="2976067" cy="948815"/>
          </a:xfrm>
        </p:spPr>
        <p:txBody>
          <a:bodyPr/>
          <a:lstStyle/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Multiplexing APIs: </a:t>
            </a:r>
            <a:r>
              <a:rPr lang="en-US" sz="13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epoll</a:t>
            </a: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 (Linux), </a:t>
            </a:r>
            <a:r>
              <a:rPr lang="en-US" sz="13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kqueue</a:t>
            </a: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 (BSD), or poll/select on older Unix.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0" name="Google Shape;182;p28">
            <a:extLst>
              <a:ext uri="{FF2B5EF4-FFF2-40B4-BE49-F238E27FC236}">
                <a16:creationId xmlns:a16="http://schemas.microsoft.com/office/drawing/2014/main" id="{0F21A671-7DBF-5FC8-DD97-1CF882DF5CA6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Architecture. Defined.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C8819F4-DC27-69AF-FB7B-5F94813E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1;p33">
            <a:extLst>
              <a:ext uri="{FF2B5EF4-FFF2-40B4-BE49-F238E27FC236}">
                <a16:creationId xmlns:a16="http://schemas.microsoft.com/office/drawing/2014/main" id="{A585B079-6F3B-648C-700E-CDDAADB490CB}"/>
              </a:ext>
            </a:extLst>
          </p:cNvPr>
          <p:cNvSpPr txBox="1">
            <a:spLocks/>
          </p:cNvSpPr>
          <p:nvPr/>
        </p:nvSpPr>
        <p:spPr>
          <a:xfrm>
            <a:off x="136820" y="533875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E35BD9D8-5603-1AEA-8E31-E54977A4C5C4}"/>
              </a:ext>
            </a:extLst>
          </p:cNvPr>
          <p:cNvSpPr txBox="1">
            <a:spLocks/>
          </p:cNvSpPr>
          <p:nvPr/>
        </p:nvSpPr>
        <p:spPr>
          <a:xfrm>
            <a:off x="5590353" y="2063170"/>
            <a:ext cx="2379008" cy="1205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150" dirty="0">
                <a:latin typeface="Roboto Mono" panose="00000009000000000000" pitchFamily="49" charset="0"/>
                <a:ea typeface="Roboto Mono" panose="00000009000000000000" pitchFamily="49" charset="0"/>
              </a:rPr>
              <a:t>Non-blocking I/O everywhere: socket reads/writes are non-blocking; any blocking OS calls are avoided or delegated.</a:t>
            </a:r>
            <a:endParaRPr lang="ru-RU" sz="115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D0B99E47-BDF5-BE1D-3808-2BCF52A4678A}"/>
              </a:ext>
            </a:extLst>
          </p:cNvPr>
          <p:cNvSpPr txBox="1">
            <a:spLocks/>
          </p:cNvSpPr>
          <p:nvPr/>
        </p:nvSpPr>
        <p:spPr>
          <a:xfrm>
            <a:off x="994350" y="788050"/>
            <a:ext cx="2912329" cy="8831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Each worker uses a single-threaded event loop to handle all connections.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ACABC02D-2F6C-92B9-3367-B9E272130A12}"/>
              </a:ext>
            </a:extLst>
          </p:cNvPr>
          <p:cNvSpPr txBox="1">
            <a:spLocks/>
          </p:cNvSpPr>
          <p:nvPr/>
        </p:nvSpPr>
        <p:spPr>
          <a:xfrm>
            <a:off x="3155565" y="3358408"/>
            <a:ext cx="2678255" cy="12450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Uses lightweight callbacks and state machines for HTTP parsing (phases), never spawning a thread per request.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C9CF4555-6876-C160-BBFE-772C80B8EC60}"/>
              </a:ext>
            </a:extLst>
          </p:cNvPr>
          <p:cNvSpPr txBox="1">
            <a:spLocks/>
          </p:cNvSpPr>
          <p:nvPr/>
        </p:nvSpPr>
        <p:spPr>
          <a:xfrm>
            <a:off x="1174639" y="1964977"/>
            <a:ext cx="2551750" cy="12135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150" dirty="0">
                <a:latin typeface="Roboto Mono" panose="00000009000000000000" pitchFamily="49" charset="0"/>
                <a:ea typeface="Roboto Mono" panose="00000009000000000000" pitchFamily="49" charset="0"/>
              </a:rPr>
              <a:t>Workflow: on new connection, accept() then add socket to event loop; on readiness, read request, process, write reply, close or keep-alive.</a:t>
            </a:r>
            <a:endParaRPr lang="ru-RU" sz="115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71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C955F-9BE0-9069-2576-E300F1C9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285" y="1281476"/>
            <a:ext cx="2976067" cy="1128633"/>
          </a:xfrm>
        </p:spPr>
        <p:txBody>
          <a:bodyPr/>
          <a:lstStyle/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 Because NGINX uses a small memory footprint per connection, CPU and memory usage remain low under high load (unlike Apache)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C8819F4-DC27-69AF-FB7B-5F94813E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1;p33">
            <a:extLst>
              <a:ext uri="{FF2B5EF4-FFF2-40B4-BE49-F238E27FC236}">
                <a16:creationId xmlns:a16="http://schemas.microsoft.com/office/drawing/2014/main" id="{A585B079-6F3B-648C-700E-CDDAADB490CB}"/>
              </a:ext>
            </a:extLst>
          </p:cNvPr>
          <p:cNvSpPr txBox="1">
            <a:spLocks/>
          </p:cNvSpPr>
          <p:nvPr/>
        </p:nvSpPr>
        <p:spPr>
          <a:xfrm>
            <a:off x="136820" y="533875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E35BD9D8-5603-1AEA-8E31-E54977A4C5C4}"/>
              </a:ext>
            </a:extLst>
          </p:cNvPr>
          <p:cNvSpPr txBox="1">
            <a:spLocks/>
          </p:cNvSpPr>
          <p:nvPr/>
        </p:nvSpPr>
        <p:spPr>
          <a:xfrm>
            <a:off x="1224642" y="3104241"/>
            <a:ext cx="2379008" cy="10187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scales nearly linearly with cores (one worker per core) and avoids thread thrashing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D0B99E47-BDF5-BE1D-3808-2BCF52A4678A}"/>
              </a:ext>
            </a:extLst>
          </p:cNvPr>
          <p:cNvSpPr txBox="1">
            <a:spLocks/>
          </p:cNvSpPr>
          <p:nvPr/>
        </p:nvSpPr>
        <p:spPr>
          <a:xfrm>
            <a:off x="931678" y="1300545"/>
            <a:ext cx="2912329" cy="7078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can handle tens of thousands of clients on modest hardware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C9CF4555-6876-C160-BBFE-772C80B8EC60}"/>
              </a:ext>
            </a:extLst>
          </p:cNvPr>
          <p:cNvSpPr txBox="1">
            <a:spLocks/>
          </p:cNvSpPr>
          <p:nvPr/>
        </p:nvSpPr>
        <p:spPr>
          <a:xfrm>
            <a:off x="5414964" y="3072775"/>
            <a:ext cx="2551750" cy="12135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Studies show SPED servers (like NGINX) outperform thread-/process-based servers on in-memory workloads 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Google Shape;182;p28">
            <a:extLst>
              <a:ext uri="{FF2B5EF4-FFF2-40B4-BE49-F238E27FC236}">
                <a16:creationId xmlns:a16="http://schemas.microsoft.com/office/drawing/2014/main" id="{68F70C62-B2D4-B1B0-9D0E-A547E15F864F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Performance &amp; Benchmarks. Part 1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A5744-6377-F544-75DC-7F60CFB2D00D}"/>
              </a:ext>
            </a:extLst>
          </p:cNvPr>
          <p:cNvSpPr txBox="1"/>
          <p:nvPr/>
        </p:nvSpPr>
        <p:spPr>
          <a:xfrm>
            <a:off x="1934833" y="833964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VT323" panose="020B0604020202020204" charset="0"/>
              </a:rPr>
              <a:t>C10K+</a:t>
            </a:r>
            <a:endParaRPr lang="ru-RU" sz="2800" b="1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20346-0F05-0042-FB56-CD75F79CA34C}"/>
              </a:ext>
            </a:extLst>
          </p:cNvPr>
          <p:cNvSpPr txBox="1"/>
          <p:nvPr/>
        </p:nvSpPr>
        <p:spPr>
          <a:xfrm>
            <a:off x="4973282" y="2549555"/>
            <a:ext cx="3358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VT323" panose="020B0604020202020204" charset="0"/>
              </a:rPr>
              <a:t>Event-driven vs Thread</a:t>
            </a:r>
            <a:endParaRPr lang="ru-RU" sz="2800" b="1" dirty="0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C68A3-AB05-F513-3742-48408395739A}"/>
              </a:ext>
            </a:extLst>
          </p:cNvPr>
          <p:cNvSpPr txBox="1"/>
          <p:nvPr/>
        </p:nvSpPr>
        <p:spPr>
          <a:xfrm>
            <a:off x="5189687" y="804900"/>
            <a:ext cx="2925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VT323" panose="020B0604020202020204" charset="0"/>
              </a:rPr>
              <a:t>Resource efficiency</a:t>
            </a:r>
            <a:endParaRPr lang="ru-RU" sz="2800" b="1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E2648-FB87-9E4D-4851-6F849979D8D1}"/>
              </a:ext>
            </a:extLst>
          </p:cNvPr>
          <p:cNvSpPr txBox="1"/>
          <p:nvPr/>
        </p:nvSpPr>
        <p:spPr>
          <a:xfrm>
            <a:off x="806975" y="2591303"/>
            <a:ext cx="3214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VT323" panose="020B0604020202020204" charset="0"/>
              </a:rPr>
              <a:t>N-&gt;to-&gt;M connections/</a:t>
            </a:r>
            <a:endParaRPr lang="ru-RU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8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D77FFD56-59CE-6D30-F240-715CBBA70627}"/>
              </a:ext>
            </a:extLst>
          </p:cNvPr>
          <p:cNvSpPr txBox="1">
            <a:spLocks/>
          </p:cNvSpPr>
          <p:nvPr/>
        </p:nvSpPr>
        <p:spPr>
          <a:xfrm>
            <a:off x="1067702" y="800955"/>
            <a:ext cx="7334810" cy="2302079"/>
          </a:xfrm>
          <a:prstGeom prst="rect">
            <a:avLst/>
          </a:prstGeom>
          <a:solidFill>
            <a:srgbClr val="7A7A7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0" name="Google Shape;182;p28">
            <a:extLst>
              <a:ext uri="{FF2B5EF4-FFF2-40B4-BE49-F238E27FC236}">
                <a16:creationId xmlns:a16="http://schemas.microsoft.com/office/drawing/2014/main" id="{0F21A671-7DBF-5FC8-DD97-1CF882DF5CA6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Performance &amp; Benchmarks. Part 2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C8819F4-DC27-69AF-FB7B-5F94813E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1;p33">
            <a:extLst>
              <a:ext uri="{FF2B5EF4-FFF2-40B4-BE49-F238E27FC236}">
                <a16:creationId xmlns:a16="http://schemas.microsoft.com/office/drawing/2014/main" id="{A585B079-6F3B-648C-700E-CDDAADB490CB}"/>
              </a:ext>
            </a:extLst>
          </p:cNvPr>
          <p:cNvSpPr txBox="1">
            <a:spLocks/>
          </p:cNvSpPr>
          <p:nvPr/>
        </p:nvSpPr>
        <p:spPr>
          <a:xfrm>
            <a:off x="0" y="327125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435C5D55-2DCA-D2C1-2A98-7A959F9BB2DA}"/>
              </a:ext>
            </a:extLst>
          </p:cNvPr>
          <p:cNvSpPr txBox="1">
            <a:spLocks/>
          </p:cNvSpPr>
          <p:nvPr/>
        </p:nvSpPr>
        <p:spPr>
          <a:xfrm>
            <a:off x="5231828" y="3154844"/>
            <a:ext cx="3373543" cy="1151579"/>
          </a:xfrm>
          <a:prstGeom prst="rect">
            <a:avLst/>
          </a:prstGeom>
          <a:solidFill>
            <a:srgbClr val="FFEEB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MegaPipe</a:t>
            </a:r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 (Han et al. 2012) showed a custom I/O framework increased NGINX throughput, implying NGINX has headroom for optimization</a:t>
            </a:r>
          </a:p>
          <a:p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3F4978FF-87F8-927D-16CD-7626B51174F3}"/>
              </a:ext>
            </a:extLst>
          </p:cNvPr>
          <p:cNvSpPr txBox="1">
            <a:spLocks/>
          </p:cNvSpPr>
          <p:nvPr/>
        </p:nvSpPr>
        <p:spPr>
          <a:xfrm>
            <a:off x="784904" y="3282346"/>
            <a:ext cx="3902529" cy="9104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600" dirty="0"/>
              <a:t>Figure. Evaluation of nginx throughput for the (a) </a:t>
            </a:r>
            <a:r>
              <a:rPr lang="en-US" sz="1600" dirty="0" err="1"/>
              <a:t>SpecWeb</a:t>
            </a:r>
            <a:r>
              <a:rPr lang="en-US" sz="1600" dirty="0"/>
              <a:t>, (b) Yahoo, and (c) Yahoo/2 workloads</a:t>
            </a:r>
            <a:endParaRPr lang="ru-RU" sz="1600" dirty="0"/>
          </a:p>
        </p:txBody>
      </p:sp>
      <p:grpSp>
        <p:nvGrpSpPr>
          <p:cNvPr id="13" name="Google Shape;263;p32">
            <a:extLst>
              <a:ext uri="{FF2B5EF4-FFF2-40B4-BE49-F238E27FC236}">
                <a16:creationId xmlns:a16="http://schemas.microsoft.com/office/drawing/2014/main" id="{F636B827-0931-9F3E-0397-0C89BB04D2EE}"/>
              </a:ext>
            </a:extLst>
          </p:cNvPr>
          <p:cNvGrpSpPr/>
          <p:nvPr/>
        </p:nvGrpSpPr>
        <p:grpSpPr>
          <a:xfrm>
            <a:off x="5065915" y="850037"/>
            <a:ext cx="3265286" cy="438717"/>
            <a:chOff x="6386650" y="947025"/>
            <a:chExt cx="2107351" cy="265500"/>
          </a:xfrm>
        </p:grpSpPr>
        <p:pic>
          <p:nvPicPr>
            <p:cNvPr id="14" name="Google Shape;264;p32" title="Sin título-2.png">
              <a:extLst>
                <a:ext uri="{FF2B5EF4-FFF2-40B4-BE49-F238E27FC236}">
                  <a16:creationId xmlns:a16="http://schemas.microsoft.com/office/drawing/2014/main" id="{F3BD9FAF-FC52-4B2A-7B2E-E978E7DFB9C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65;p32" title="Sin título-2.png">
              <a:extLst>
                <a:ext uri="{FF2B5EF4-FFF2-40B4-BE49-F238E27FC236}">
                  <a16:creationId xmlns:a16="http://schemas.microsoft.com/office/drawing/2014/main" id="{90929E5A-641F-11FE-87A6-409EE3EDE9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1ACFFF3-8AF0-E65F-9B5D-DE55292D3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02" y="1266358"/>
            <a:ext cx="7334810" cy="19024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8A75DDC-C6C0-C31D-C506-BB57B47394CD}"/>
              </a:ext>
            </a:extLst>
          </p:cNvPr>
          <p:cNvSpPr txBox="1"/>
          <p:nvPr/>
        </p:nvSpPr>
        <p:spPr>
          <a:xfrm>
            <a:off x="254000" y="4342545"/>
            <a:ext cx="8636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T323" panose="020B0604020202020204" charset="0"/>
              </a:rPr>
              <a:t>[] https://www.usenix.org/system/files/conference/osdi12/osdi12-final-40.pdf#:~:text=popular%20applications%20–%20memcached%20,baseline%20Linux%20networking%20stack%20between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0470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2">
            <a:extLst>
              <a:ext uri="{FF2B5EF4-FFF2-40B4-BE49-F238E27FC236}">
                <a16:creationId xmlns:a16="http://schemas.microsoft.com/office/drawing/2014/main" id="{E730F01D-974B-543D-C0D6-C6EDA7C33C13}"/>
              </a:ext>
            </a:extLst>
          </p:cNvPr>
          <p:cNvSpPr txBox="1">
            <a:spLocks/>
          </p:cNvSpPr>
          <p:nvPr/>
        </p:nvSpPr>
        <p:spPr>
          <a:xfrm>
            <a:off x="3037299" y="474721"/>
            <a:ext cx="5615634" cy="370446"/>
          </a:xfrm>
          <a:prstGeom prst="rect">
            <a:avLst/>
          </a:prstGeom>
          <a:solidFill>
            <a:srgbClr val="7A7A7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 lang="ru-RU" sz="1200" dirty="0"/>
          </a:p>
        </p:txBody>
      </p:sp>
      <p:sp>
        <p:nvSpPr>
          <p:cNvPr id="10" name="Google Shape;182;p28">
            <a:extLst>
              <a:ext uri="{FF2B5EF4-FFF2-40B4-BE49-F238E27FC236}">
                <a16:creationId xmlns:a16="http://schemas.microsoft.com/office/drawing/2014/main" id="{0F21A671-7DBF-5FC8-DD97-1CF882DF5CA6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Performance &amp; Benchmarks. Part 3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C8819F4-DC27-69AF-FB7B-5F94813E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271;p33">
            <a:extLst>
              <a:ext uri="{FF2B5EF4-FFF2-40B4-BE49-F238E27FC236}">
                <a16:creationId xmlns:a16="http://schemas.microsoft.com/office/drawing/2014/main" id="{A585B079-6F3B-648C-700E-CDDAADB490CB}"/>
              </a:ext>
            </a:extLst>
          </p:cNvPr>
          <p:cNvSpPr txBox="1">
            <a:spLocks/>
          </p:cNvSpPr>
          <p:nvPr/>
        </p:nvSpPr>
        <p:spPr>
          <a:xfrm>
            <a:off x="0" y="327125"/>
            <a:ext cx="6918600" cy="25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AF99A472-6CBA-637E-B600-C6465ED885D4}"/>
              </a:ext>
            </a:extLst>
          </p:cNvPr>
          <p:cNvSpPr txBox="1">
            <a:spLocks/>
          </p:cNvSpPr>
          <p:nvPr/>
        </p:nvSpPr>
        <p:spPr>
          <a:xfrm>
            <a:off x="359393" y="1421538"/>
            <a:ext cx="2580801" cy="11502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300" dirty="0">
                <a:latin typeface="Roboto Mono" panose="00000009000000000000" pitchFamily="49" charset="0"/>
                <a:ea typeface="Roboto Mono" panose="00000009000000000000" pitchFamily="49" charset="0"/>
              </a:rPr>
              <a:t>Systematic reviews [5] report NGINX usually outperforms Apache in response time, CPU, and memory usage under load.</a:t>
            </a:r>
            <a:endParaRPr lang="ru-RU" sz="13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2C7DF0C-7EDD-EEAC-228F-ED53AE18E05C}"/>
              </a:ext>
            </a:extLst>
          </p:cNvPr>
          <p:cNvSpPr txBox="1">
            <a:spLocks/>
          </p:cNvSpPr>
          <p:nvPr/>
        </p:nvSpPr>
        <p:spPr>
          <a:xfrm>
            <a:off x="388444" y="3009501"/>
            <a:ext cx="2551750" cy="1308499"/>
          </a:xfrm>
          <a:prstGeom prst="rect">
            <a:avLst/>
          </a:prstGeom>
          <a:solidFill>
            <a:srgbClr val="FFEEB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100" dirty="0">
                <a:latin typeface="Roboto Mono" panose="00000009000000000000" pitchFamily="49" charset="0"/>
                <a:ea typeface="Roboto Mono" panose="00000009000000000000" pitchFamily="49" charset="0"/>
              </a:rPr>
              <a:t>Kim et al. (NSDI’23) [4] found NGINX and </a:t>
            </a:r>
            <a:r>
              <a:rPr lang="en-US" sz="11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Lighttpd</a:t>
            </a:r>
            <a:r>
              <a:rPr lang="en-US" sz="1100" dirty="0">
                <a:latin typeface="Roboto Mono" panose="00000009000000000000" pitchFamily="49" charset="0"/>
                <a:ea typeface="Roboto Mono" panose="00000009000000000000" pitchFamily="49" charset="0"/>
              </a:rPr>
              <a:t> have very similar throughput on static content, indicating NGINX’s efficiency is on par with lean servers.</a:t>
            </a:r>
            <a:endParaRPr lang="ru-RU" sz="11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D2843-1550-244F-CA42-078EF1372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935" y="2741965"/>
            <a:ext cx="3377678" cy="1475549"/>
          </a:xfrm>
          <a:prstGeom prst="rect">
            <a:avLst/>
          </a:prstGeom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3F4978FF-87F8-927D-16CD-7626B51174F3}"/>
              </a:ext>
            </a:extLst>
          </p:cNvPr>
          <p:cNvSpPr txBox="1">
            <a:spLocks/>
          </p:cNvSpPr>
          <p:nvPr/>
        </p:nvSpPr>
        <p:spPr>
          <a:xfrm>
            <a:off x="4193784" y="4217513"/>
            <a:ext cx="4042666" cy="5453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15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1200" dirty="0"/>
              <a:t>Figures (from left to right). Memory usage, Requests per sec, Throughputs of </a:t>
            </a:r>
            <a:r>
              <a:rPr lang="en-US" sz="1200" dirty="0" err="1"/>
              <a:t>lighttpd</a:t>
            </a:r>
            <a:r>
              <a:rPr lang="en-US" sz="1200" dirty="0"/>
              <a:t> and nginx on a single CPU core</a:t>
            </a:r>
            <a:endParaRPr lang="ru-RU" sz="1200" dirty="0"/>
          </a:p>
        </p:txBody>
      </p:sp>
      <p:grpSp>
        <p:nvGrpSpPr>
          <p:cNvPr id="13" name="Google Shape;263;p32">
            <a:extLst>
              <a:ext uri="{FF2B5EF4-FFF2-40B4-BE49-F238E27FC236}">
                <a16:creationId xmlns:a16="http://schemas.microsoft.com/office/drawing/2014/main" id="{F636B827-0931-9F3E-0397-0C89BB04D2EE}"/>
              </a:ext>
            </a:extLst>
          </p:cNvPr>
          <p:cNvGrpSpPr/>
          <p:nvPr/>
        </p:nvGrpSpPr>
        <p:grpSpPr>
          <a:xfrm>
            <a:off x="5631618" y="505614"/>
            <a:ext cx="3021315" cy="336922"/>
            <a:chOff x="6386650" y="947025"/>
            <a:chExt cx="2107351" cy="265500"/>
          </a:xfrm>
        </p:grpSpPr>
        <p:pic>
          <p:nvPicPr>
            <p:cNvPr id="14" name="Google Shape;264;p32" title="Sin título-2.png">
              <a:extLst>
                <a:ext uri="{FF2B5EF4-FFF2-40B4-BE49-F238E27FC236}">
                  <a16:creationId xmlns:a16="http://schemas.microsoft.com/office/drawing/2014/main" id="{F3BD9FAF-FC52-4B2A-7B2E-E978E7DFB9C9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65;p32" title="Sin título-2.png">
              <a:extLst>
                <a:ext uri="{FF2B5EF4-FFF2-40B4-BE49-F238E27FC236}">
                  <a16:creationId xmlns:a16="http://schemas.microsoft.com/office/drawing/2014/main" id="{90929E5A-641F-11FE-87A6-409EE3EDE91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71706"/>
            <a:stretch/>
          </p:blipFill>
          <p:spPr>
            <a:xfrm>
              <a:off x="6386650" y="947025"/>
              <a:ext cx="2107351" cy="265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16EE156-4F2E-F832-1923-A954034FC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6003" y="877104"/>
            <a:ext cx="3166509" cy="18648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4A7CA0-6832-209C-6EE2-F535E6194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197" y="845167"/>
            <a:ext cx="2871272" cy="190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91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>
            <a:spLocks noGrp="1"/>
          </p:cNvSpPr>
          <p:nvPr>
            <p:ph type="title"/>
          </p:nvPr>
        </p:nvSpPr>
        <p:spPr>
          <a:xfrm>
            <a:off x="679225" y="794675"/>
            <a:ext cx="78666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Security</a:t>
            </a:r>
            <a:endParaRPr dirty="0"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1"/>
          </p:nvPr>
        </p:nvSpPr>
        <p:spPr>
          <a:xfrm>
            <a:off x="437000" y="1493075"/>
            <a:ext cx="8429414" cy="3225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Process isolation: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master as root only for privileged ops, workers drop to unprivileged user (limiting damage if compromised);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Minimal attack surface: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single-threaded workers and simple state machines reduce complexity; default config is lean (few modules);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Built-in mitigations: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timeouts (</a:t>
            </a:r>
            <a:r>
              <a:rPr lang="en-US" kern="100" dirty="0" err="1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client_header_timeout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, etc.) protect against </a:t>
            </a:r>
            <a:r>
              <a:rPr lang="en-US" kern="100" dirty="0" err="1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Slowloris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attacks; limit zones and buffer sizes guard against request smuggling and buffer overflow;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Resource limits: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OS limits (</a:t>
            </a:r>
            <a:r>
              <a:rPr lang="en-US" kern="100" dirty="0" err="1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ulimits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, chroot, seccomp filters if enabled) further isolate workers;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Reliable failover:</a:t>
            </a:r>
            <a:r>
              <a:rPr lang="en-US" kern="100" dirty="0">
                <a:effectLst/>
                <a:latin typeface="Roboto Mono" panose="00000009000000000000" pitchFamily="49" charset="0"/>
                <a:ea typeface="Roboto Mono" panose="00000009000000000000" pitchFamily="49" charset="0"/>
                <a:cs typeface="Times New Roman" panose="02020603050405020304" pitchFamily="18" charset="0"/>
              </a:rPr>
              <a:t> if a worker crashes, master immediately restarts it without dropping connections for other workers.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Google Shape;182;p28">
            <a:extLst>
              <a:ext uri="{FF2B5EF4-FFF2-40B4-BE49-F238E27FC236}">
                <a16:creationId xmlns:a16="http://schemas.microsoft.com/office/drawing/2014/main" id="{77BF2B04-DAF4-8726-0FB8-BAAB80902DF2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Security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0CDF9-6273-7355-42CB-E635B5511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A675A18E-59B6-9D00-5E8D-18C9DEE90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335" y="955224"/>
            <a:ext cx="438967" cy="43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77040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Current limitations</a:t>
            </a:r>
            <a:endParaRPr dirty="0"/>
          </a:p>
        </p:txBody>
      </p:sp>
      <p:sp>
        <p:nvSpPr>
          <p:cNvPr id="298" name="Google Shape;298;p36"/>
          <p:cNvSpPr txBox="1">
            <a:spLocks noGrp="1"/>
          </p:cNvSpPr>
          <p:nvPr>
            <p:ph type="subTitle" idx="1"/>
          </p:nvPr>
        </p:nvSpPr>
        <p:spPr>
          <a:xfrm>
            <a:off x="330950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If a worker’s disk is slow, it can still block despite non-blocking sockets; mitigated by </a:t>
            </a:r>
            <a:r>
              <a:rPr lang="en-US" sz="1400" dirty="0" err="1"/>
              <a:t>sendfile</a:t>
            </a:r>
            <a:r>
              <a:rPr lang="en-US" sz="1400" dirty="0"/>
              <a:t> and AIO, but still a challenge on purely single-threaded workers.</a:t>
            </a:r>
          </a:p>
        </p:txBody>
      </p:sp>
      <p:sp>
        <p:nvSpPr>
          <p:cNvPr id="299" name="Google Shape;299;p36"/>
          <p:cNvSpPr txBox="1">
            <a:spLocks noGrp="1"/>
          </p:cNvSpPr>
          <p:nvPr>
            <p:ph type="subTitle" idx="2"/>
          </p:nvPr>
        </p:nvSpPr>
        <p:spPr>
          <a:xfrm>
            <a:off x="3225884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Native HTTP/3 (QUIC) support is only now maturing (latest NGINX versions include experimental HTTP/3) – full mainstream support is a work in progress.</a:t>
            </a:r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5"/>
          </p:nvPr>
        </p:nvSpPr>
        <p:spPr>
          <a:xfrm>
            <a:off x="6120825" y="1987918"/>
            <a:ext cx="2579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Newer event-based proxies (Envoy, </a:t>
            </a:r>
            <a:r>
              <a:rPr lang="en-US" sz="1400" dirty="0" err="1"/>
              <a:t>Traefik</a:t>
            </a:r>
            <a:r>
              <a:rPr lang="en-US" sz="1400" dirty="0"/>
              <a:t>, </a:t>
            </a:r>
            <a:r>
              <a:rPr lang="en-US" sz="1400" dirty="0" err="1"/>
              <a:t>OpenResty</a:t>
            </a:r>
            <a:r>
              <a:rPr lang="en-US" sz="1400" dirty="0"/>
              <a:t>) offer features like dynamic reconfiguration, </a:t>
            </a:r>
            <a:r>
              <a:rPr lang="en-US" sz="1400" dirty="0" err="1"/>
              <a:t>gRPC</a:t>
            </a:r>
            <a:r>
              <a:rPr lang="en-US" sz="1400" dirty="0"/>
              <a:t>, richer plugin systems; research explores NGINX extensions (e.g. hardware offload with DPDK/DPF).</a:t>
            </a:r>
          </a:p>
        </p:txBody>
      </p:sp>
      <p:sp>
        <p:nvSpPr>
          <p:cNvPr id="304" name="Google Shape;304;p36"/>
          <p:cNvSpPr txBox="1">
            <a:spLocks noGrp="1"/>
          </p:cNvSpPr>
          <p:nvPr>
            <p:ph type="title" idx="8"/>
          </p:nvPr>
        </p:nvSpPr>
        <p:spPr>
          <a:xfrm>
            <a:off x="6132612" y="1677125"/>
            <a:ext cx="2574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Competition</a:t>
            </a:r>
            <a:endParaRPr sz="2400" dirty="0"/>
          </a:p>
        </p:txBody>
      </p:sp>
      <p:sp>
        <p:nvSpPr>
          <p:cNvPr id="305" name="Google Shape;305;p36"/>
          <p:cNvSpPr txBox="1">
            <a:spLocks noGrp="1"/>
          </p:cNvSpPr>
          <p:nvPr>
            <p:ph type="title" idx="9"/>
          </p:nvPr>
        </p:nvSpPr>
        <p:spPr>
          <a:xfrm>
            <a:off x="3239948" y="1677425"/>
            <a:ext cx="2574600" cy="3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Protocol support</a:t>
            </a:r>
            <a:endParaRPr sz="2400" dirty="0"/>
          </a:p>
        </p:txBody>
      </p:sp>
      <p:sp>
        <p:nvSpPr>
          <p:cNvPr id="307" name="Google Shape;307;p36"/>
          <p:cNvSpPr txBox="1">
            <a:spLocks noGrp="1"/>
          </p:cNvSpPr>
          <p:nvPr>
            <p:ph type="title" idx="14"/>
          </p:nvPr>
        </p:nvSpPr>
        <p:spPr>
          <a:xfrm>
            <a:off x="342736" y="1677125"/>
            <a:ext cx="2579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Disk I/O blocking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D947528-7A83-906A-4CFA-2A95019D5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8" y="1372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901D02B-01BB-765D-7D04-EF851C781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4700" y="13723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12C11C3C-65CA-6975-DC2E-13697FE6F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866" y="1257199"/>
            <a:ext cx="419925" cy="41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7F40B35F-3AA9-4D91-76F3-EC7E971D6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500" y="8492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89E033E4-2D8E-A08B-F5AB-1D677CB51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92" y="1250723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82;p28">
            <a:extLst>
              <a:ext uri="{FF2B5EF4-FFF2-40B4-BE49-F238E27FC236}">
                <a16:creationId xmlns:a16="http://schemas.microsoft.com/office/drawing/2014/main" id="{D388B93E-6024-3B09-63EB-A25EF36B25F2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Current limitations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CFD66C-9C49-52BD-1AF1-355E58463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>
            <a:spLocks noGrp="1"/>
          </p:cNvSpPr>
          <p:nvPr>
            <p:ph type="title"/>
          </p:nvPr>
        </p:nvSpPr>
        <p:spPr>
          <a:xfrm>
            <a:off x="341850" y="654800"/>
            <a:ext cx="84534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references</a:t>
            </a:r>
            <a:endParaRPr b="0" dirty="0"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324917" y="1168132"/>
            <a:ext cx="8598950" cy="31835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[1] “</a:t>
            </a:r>
            <a:r>
              <a:rPr lang="en-US" sz="1600" b="1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Alexeev. nginx. In </a:t>
            </a:r>
            <a:r>
              <a:rPr lang="en-US" sz="1600" b="1" i="1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The Architecture of Open Source Applications”</a:t>
            </a:r>
            <a:r>
              <a:rPr lang="en-US" sz="1600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, Vol. 2, 2012. Link: </a:t>
            </a:r>
            <a:r>
              <a:rPr lang="en-US" sz="1600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https://aosabook.org/en/v2/nginx.html#:~:text=nginx%20runs%20several%20processes%20in,run%20as%20an%20unprivileged%20user</a:t>
            </a:r>
            <a:endParaRPr lang="en-US" sz="1600" dirty="0">
              <a:effectLst/>
              <a:latin typeface="VT323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[2] </a:t>
            </a:r>
            <a:r>
              <a:rPr lang="en-US" sz="1600" b="1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“Exception-Less System Calls for Event-Driven Servers.”</a:t>
            </a:r>
            <a:r>
              <a:rPr lang="en-US" sz="1600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Soares &amp; Stumm. USENIX ATC, 2011. Link: </a:t>
            </a:r>
            <a:r>
              <a:rPr lang="en-US" sz="1600" u="sng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  <a:hlinkClick r:id="rId4"/>
              </a:rPr>
              <a:t>https://www.eecg.toronto.edu/~stumm/Papers/Soares-USENIXATC11.pdf#:~:text=servers%20,We%20based%20our</a:t>
            </a:r>
            <a:endParaRPr lang="en-US" sz="1600" u="sng" dirty="0">
              <a:latin typeface="VT323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[3] </a:t>
            </a:r>
            <a:r>
              <a:rPr lang="en-US" sz="1600" b="1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“Comparing the Performance of Web Server Architectures.”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600" u="sng" dirty="0" err="1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Pariag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et al</a:t>
            </a:r>
            <a:r>
              <a:rPr lang="en-US" sz="1600" b="1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2007. Link: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https://people.eecs.berkeley.edu/~brewer/cs262/Pariag07.pdf#:~:text=sockets%20that%20are%20ready%20for,blocking%20due%20to%20disk%20activity</a:t>
            </a:r>
            <a:endParaRPr lang="en-US" sz="1600" u="sng" dirty="0">
              <a:effectLst/>
              <a:latin typeface="VT323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[4] “</a:t>
            </a:r>
            <a:r>
              <a:rPr lang="en-US" sz="1600" b="1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Rearchitecting the TCP Stack for I/O-Offloaded Content Delivery</a:t>
            </a:r>
            <a:r>
              <a:rPr lang="en-US" sz="1600" b="1" u="sng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”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600" u="sng" dirty="0" err="1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Taehyun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Kim KAIST Deondre Martin Ng KAIST </a:t>
            </a:r>
            <a:r>
              <a:rPr lang="en-US" sz="1600" u="sng" dirty="0" err="1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Junzhi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Gong Harvard University </a:t>
            </a:r>
            <a:r>
              <a:rPr lang="en-US" sz="1600" u="sng" dirty="0" err="1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Youngjin</a:t>
            </a: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 Kwon KAIST. Link: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https://www.usenix.org/system/files/nsdi23-kim-taehyun.pdf#:~:text=experiments%20with% 20two</a:t>
            </a:r>
            <a:b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u="sng" dirty="0">
                <a:effectLst/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%20popular%20Web,refer%20to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[5] </a:t>
            </a:r>
            <a:r>
              <a:rPr lang="en-US" sz="1600" b="1" u="sng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“Web Server Performance of Apache and Nginx: A Systematic Literature Review”</a:t>
            </a:r>
            <a:r>
              <a:rPr lang="en-US" sz="1600" u="sng" dirty="0">
                <a:latin typeface="VT323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. Link: https://www.researchgate.net/publication/329118749_Web_Server_Performance_of_Apache_and_Nginx_A_Systematic_Literature_Review</a:t>
            </a:r>
            <a:endParaRPr lang="en-US" sz="1600" u="sng" dirty="0">
              <a:effectLst/>
              <a:latin typeface="VT323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VT323" panose="020B0604020202020204" charset="0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1BEDE18B-6DCD-8228-3BEB-98E1CC70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7" y="264512"/>
            <a:ext cx="879475" cy="18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182;p28">
            <a:extLst>
              <a:ext uri="{FF2B5EF4-FFF2-40B4-BE49-F238E27FC236}">
                <a16:creationId xmlns:a16="http://schemas.microsoft.com/office/drawing/2014/main" id="{883AE4E3-06CB-2EA6-E66E-089F9F40C63C}"/>
              </a:ext>
            </a:extLst>
          </p:cNvPr>
          <p:cNvSpPr txBox="1"/>
          <p:nvPr/>
        </p:nvSpPr>
        <p:spPr>
          <a:xfrm>
            <a:off x="1358420" y="210808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References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689EB1-BC2B-3D34-3EA9-DF4102217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120" y="8633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349460-F75F-01CA-590E-1F7E29CC3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75" y="821968"/>
            <a:ext cx="3852300" cy="564000"/>
          </a:xfrm>
        </p:spPr>
        <p:txBody>
          <a:bodyPr/>
          <a:lstStyle/>
          <a:p>
            <a:r>
              <a:rPr lang="en" sz="6000" b="1" dirty="0"/>
              <a:t>Thank you</a:t>
            </a:r>
            <a:endParaRPr lang="ru-RU" sz="60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1552AD-7DC1-08FA-E0D7-0316323A2A88}"/>
              </a:ext>
            </a:extLst>
          </p:cNvPr>
          <p:cNvSpPr txBox="1">
            <a:spLocks/>
          </p:cNvSpPr>
          <p:nvPr/>
        </p:nvSpPr>
        <p:spPr>
          <a:xfrm>
            <a:off x="719701" y="1866621"/>
            <a:ext cx="3852299" cy="977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 dirty="0">
                <a:latin typeface="Roboto Mono" panose="00000009000000000000" pitchFamily="49" charset="0"/>
                <a:ea typeface="Roboto Mono" panose="00000009000000000000" pitchFamily="49" charset="0"/>
              </a:rPr>
              <a:t>Do you have any questions?</a:t>
            </a:r>
          </a:p>
          <a:p>
            <a:endParaRPr lang="ru-RU" sz="18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5" name="Google Shape;182;p28">
            <a:extLst>
              <a:ext uri="{FF2B5EF4-FFF2-40B4-BE49-F238E27FC236}">
                <a16:creationId xmlns:a16="http://schemas.microsoft.com/office/drawing/2014/main" id="{1C42AA06-FE7F-38DE-99DD-5F9E57A8D96F}"/>
              </a:ext>
            </a:extLst>
          </p:cNvPr>
          <p:cNvSpPr txBox="1"/>
          <p:nvPr/>
        </p:nvSpPr>
        <p:spPr>
          <a:xfrm>
            <a:off x="435854" y="205291"/>
            <a:ext cx="4475400" cy="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Nikita Niakhai/</a:t>
            </a:r>
            <a:r>
              <a:rPr lang="en-US" sz="1600" dirty="0">
                <a:solidFill>
                  <a:schemeClr val="bg1">
                    <a:lumMod val="10000"/>
                  </a:schemeClr>
                </a:solidFill>
                <a:latin typeface="VT323"/>
                <a:ea typeface="VT323"/>
                <a:cs typeface="VT323"/>
                <a:sym typeface="VT323"/>
              </a:rPr>
              <a:t>M25-SNE-01/Unix-based Applications</a:t>
            </a:r>
            <a:endParaRPr sz="1600" dirty="0">
              <a:solidFill>
                <a:schemeClr val="bg1">
                  <a:lumMod val="10000"/>
                </a:schemeClr>
              </a:solidFill>
              <a:latin typeface="VT323"/>
              <a:ea typeface="VT323"/>
              <a:cs typeface="VT323"/>
              <a:sym typeface="VT323"/>
            </a:endParaRPr>
          </a:p>
        </p:txBody>
      </p:sp>
      <p:pic>
        <p:nvPicPr>
          <p:cNvPr id="6" name="Google Shape;249;p31" title="fluffy-clouds-windy-sky.jpg">
            <a:extLst>
              <a:ext uri="{FF2B5EF4-FFF2-40B4-BE49-F238E27FC236}">
                <a16:creationId xmlns:a16="http://schemas.microsoft.com/office/drawing/2014/main" id="{F9E46771-14BD-BC5F-3858-2BD46902055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l="20604" r="20610"/>
          <a:stretch/>
        </p:blipFill>
        <p:spPr>
          <a:xfrm>
            <a:off x="5592546" y="1143000"/>
            <a:ext cx="2947200" cy="3341428"/>
          </a:xfrm>
          <a:prstGeom prst="rect">
            <a:avLst/>
          </a:prstGeom>
        </p:spPr>
      </p:pic>
      <p:grpSp>
        <p:nvGrpSpPr>
          <p:cNvPr id="7" name="Google Shape;252;p31">
            <a:extLst>
              <a:ext uri="{FF2B5EF4-FFF2-40B4-BE49-F238E27FC236}">
                <a16:creationId xmlns:a16="http://schemas.microsoft.com/office/drawing/2014/main" id="{98B7DBDC-5762-8488-FF3E-A414F11C9384}"/>
              </a:ext>
            </a:extLst>
          </p:cNvPr>
          <p:cNvGrpSpPr/>
          <p:nvPr/>
        </p:nvGrpSpPr>
        <p:grpSpPr>
          <a:xfrm>
            <a:off x="5581246" y="894875"/>
            <a:ext cx="2971350" cy="265500"/>
            <a:chOff x="511225" y="947025"/>
            <a:chExt cx="2971350" cy="265500"/>
          </a:xfrm>
        </p:grpSpPr>
        <p:pic>
          <p:nvPicPr>
            <p:cNvPr id="8" name="Google Shape;253;p31" title="Sin título-2.png">
              <a:extLst>
                <a:ext uri="{FF2B5EF4-FFF2-40B4-BE49-F238E27FC236}">
                  <a16:creationId xmlns:a16="http://schemas.microsoft.com/office/drawing/2014/main" id="{B2BDAF68-0F6A-E175-CADD-94B4B48EB04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0127"/>
            <a:stretch/>
          </p:blipFill>
          <p:spPr>
            <a:xfrm>
              <a:off x="51277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254;p31" title="Sin título-2.png">
              <a:extLst>
                <a:ext uri="{FF2B5EF4-FFF2-40B4-BE49-F238E27FC236}">
                  <a16:creationId xmlns:a16="http://schemas.microsoft.com/office/drawing/2014/main" id="{6729D44C-D16B-2E80-BCA1-473F6CD3D85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60127"/>
            <a:stretch/>
          </p:blipFill>
          <p:spPr>
            <a:xfrm>
              <a:off x="511225" y="947025"/>
              <a:ext cx="2969800" cy="265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80;p28">
            <a:extLst>
              <a:ext uri="{FF2B5EF4-FFF2-40B4-BE49-F238E27FC236}">
                <a16:creationId xmlns:a16="http://schemas.microsoft.com/office/drawing/2014/main" id="{9B20D9EA-CF0E-DF91-E345-FB2F1D06D66A}"/>
              </a:ext>
            </a:extLst>
          </p:cNvPr>
          <p:cNvSpPr txBox="1">
            <a:spLocks/>
          </p:cNvSpPr>
          <p:nvPr/>
        </p:nvSpPr>
        <p:spPr>
          <a:xfrm>
            <a:off x="719701" y="2475809"/>
            <a:ext cx="5312338" cy="24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T323"/>
              <a:buNone/>
              <a:defRPr sz="3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n-US" sz="4400" i="1" dirty="0">
                <a:solidFill>
                  <a:schemeClr val="bg2">
                    <a:lumMod val="75000"/>
                  </a:schemeClr>
                </a:solidFill>
              </a:rPr>
              <a:t>Nginx as Unix-based Application:</a:t>
            </a:r>
          </a:p>
        </p:txBody>
      </p:sp>
      <p:sp>
        <p:nvSpPr>
          <p:cNvPr id="10" name="Google Shape;181;p28">
            <a:extLst>
              <a:ext uri="{FF2B5EF4-FFF2-40B4-BE49-F238E27FC236}">
                <a16:creationId xmlns:a16="http://schemas.microsoft.com/office/drawing/2014/main" id="{6FDE232A-109A-88D9-1F4E-C2C7C3463B6B}"/>
              </a:ext>
            </a:extLst>
          </p:cNvPr>
          <p:cNvSpPr txBox="1">
            <a:spLocks/>
          </p:cNvSpPr>
          <p:nvPr/>
        </p:nvSpPr>
        <p:spPr>
          <a:xfrm>
            <a:off x="719701" y="4008230"/>
            <a:ext cx="7862188" cy="4376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i="1" dirty="0">
                <a:solidFill>
                  <a:schemeClr val="bg2">
                    <a:lumMod val="75000"/>
                  </a:schemeClr>
                </a:solidFill>
              </a:rPr>
              <a:t>Evolution, Architecture, Performance, Security</a:t>
            </a:r>
          </a:p>
        </p:txBody>
      </p:sp>
      <p:cxnSp>
        <p:nvCxnSpPr>
          <p:cNvPr id="11" name="Google Shape;341;p38">
            <a:extLst>
              <a:ext uri="{FF2B5EF4-FFF2-40B4-BE49-F238E27FC236}">
                <a16:creationId xmlns:a16="http://schemas.microsoft.com/office/drawing/2014/main" id="{4A46A65A-B2DE-3B01-5C11-0C40891916EA}"/>
              </a:ext>
            </a:extLst>
          </p:cNvPr>
          <p:cNvCxnSpPr>
            <a:cxnSpLocks/>
          </p:cNvCxnSpPr>
          <p:nvPr/>
        </p:nvCxnSpPr>
        <p:spPr>
          <a:xfrm>
            <a:off x="771433" y="2571750"/>
            <a:ext cx="4821113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27082248"/>
      </p:ext>
    </p:extLst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91919"/>
      </a:dk1>
      <a:lt1>
        <a:srgbClr val="EFEFEF"/>
      </a:lt1>
      <a:dk2>
        <a:srgbClr val="707070"/>
      </a:dk2>
      <a:lt2>
        <a:srgbClr val="C1C1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1304</Words>
  <Application>Microsoft Office PowerPoint</Application>
  <PresentationFormat>On-screen Show (16:9)</PresentationFormat>
  <Paragraphs>92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Roboto Mono</vt:lpstr>
      <vt:lpstr>Symbol</vt:lpstr>
      <vt:lpstr>Darker Grotesque SemiBold</vt:lpstr>
      <vt:lpstr>Raleway</vt:lpstr>
      <vt:lpstr>VT323</vt:lpstr>
      <vt:lpstr>Open Sans</vt:lpstr>
      <vt:lpstr>Arial</vt:lpstr>
      <vt:lpstr>My Presentation Template</vt:lpstr>
      <vt:lpstr>Nginx as Unix-based Application:</vt:lpstr>
      <vt:lpstr>Introduction. Definition</vt:lpstr>
      <vt:lpstr>Evolution of nginx</vt:lpstr>
      <vt:lpstr>Figure. Diagram of  nginx's architecture (master and worker processes using OS event APIs)</vt:lpstr>
      <vt:lpstr>Master</vt:lpstr>
      <vt:lpstr>Multiplexing APIs: epoll (Linux), kqueue (BSD), or poll/select on older Unix.</vt:lpstr>
      <vt:lpstr> Because NGINX uses a small memory footprint per connection, CPU and memory usage remain low under high load (unlike Apache)</vt:lpstr>
      <vt:lpstr>PowerPoint Presentation</vt:lpstr>
      <vt:lpstr>PowerPoint Presentation</vt:lpstr>
      <vt:lpstr>Security</vt:lpstr>
      <vt:lpstr>Current limitations</vt:lpstr>
      <vt:lpstr>Table of 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zach slap</dc:creator>
  <cp:lastModifiedBy>zach slap</cp:lastModifiedBy>
  <cp:revision>69</cp:revision>
  <dcterms:modified xsi:type="dcterms:W3CDTF">2025-12-02T10:30:19Z</dcterms:modified>
</cp:coreProperties>
</file>