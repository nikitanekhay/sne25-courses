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792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 as a Modern Unix-based Application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1779605" y="2133600"/>
            <a:ext cx="55846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Architecture, Performance, Security and Evolution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14924" y="3954859"/>
            <a:ext cx="3714053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Master's Thesis Defence / Scientific Conference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375273" y="4347270"/>
            <a:ext cx="239345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Speaker • [University] • November 2025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247158"/>
            <a:ext cx="7924800" cy="286742"/>
          </a:xfrm>
          <a:prstGeom prst="rect">
            <a:avLst/>
          </a:prstGeom>
          <a:noFill/>
          <a:ln w="6350">
            <a:solidFill>
              <a:srgbClr val="38BDF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 &amp; Problem Statement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249660"/>
            <a:ext cx="7620000" cy="2000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2025: Modern web serves 5+ billion users; billions of simultaneous connections required globally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multi-process/multi-threaded servers (Apache) face C10K/C100K/C10M scaling limits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Unix process models create fundamental resource overhead: memory per thread, context switching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NGINX remain dominant after 16+ years? Architecture beats hardware scaling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event-driven Unix paradigm critical for infrastructure engineering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4367808"/>
            <a:ext cx="8083296" cy="127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4"/>
              </a:lnSpc>
              <a:buNone/>
            </a:pPr>
            <a:r>
              <a:rPr lang="en-US" sz="84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Kegel, D. "The C10K problem." (1999) • [2] Pariag, D. et al. "Comparing Web Server Architectures." USENIX ATC (2007)</a:t>
            </a:r>
            <a:endParaRPr lang="en-US" sz="8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247158"/>
            <a:ext cx="7924800" cy="286742"/>
          </a:xfrm>
          <a:prstGeom prst="rect">
            <a:avLst/>
          </a:prstGeom>
          <a:noFill/>
          <a:ln w="6350">
            <a:solidFill>
              <a:srgbClr val="38BDF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and Evolution of NGINX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554461"/>
            <a:ext cx="1584920" cy="511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92"/>
              </a:lnSpc>
              <a:buNone/>
            </a:pPr>
            <a:r>
              <a:rPr lang="en-US" sz="9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2002-2004</a:t>
            </a:r>
            <a:pPr algn="ctr" indent="0" marL="0">
              <a:lnSpc>
                <a:spcPts val="1792"/>
              </a:lnSpc>
              <a:buNone/>
            </a:pPr>
            <a:endParaRPr lang="en-US" sz="960" dirty="0"/>
          </a:p>
          <a:p>
            <a:pPr algn="ctr" indent="0" marL="0">
              <a:lnSpc>
                <a:spcPts val="1792"/>
              </a:lnSpc>
              <a:buNone/>
            </a:pPr>
            <a:r>
              <a:rPr lang="en-US" sz="96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Igor Sysoev</a:t>
            </a:r>
            <a:endParaRPr lang="en-US" sz="960" dirty="0"/>
          </a:p>
          <a:p>
            <a:pPr algn="ctr" indent="0" marL="0">
              <a:lnSpc>
                <a:spcPts val="1792"/>
              </a:lnSpc>
              <a:buNone/>
            </a:pPr>
            <a:r>
              <a:rPr lang="en-US" sz="96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Rambler.ru problem</a:t>
            </a:r>
            <a:endParaRPr lang="en-US" sz="960" dirty="0"/>
          </a:p>
        </p:txBody>
      </p:sp>
      <p:sp>
        <p:nvSpPr>
          <p:cNvPr id="5" name="Text 3"/>
          <p:cNvSpPr/>
          <p:nvPr/>
        </p:nvSpPr>
        <p:spPr>
          <a:xfrm>
            <a:off x="2194521" y="1554461"/>
            <a:ext cx="1584920" cy="511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92"/>
              </a:lnSpc>
              <a:buNone/>
            </a:pPr>
            <a:r>
              <a:rPr lang="en-US" sz="9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2004</a:t>
            </a:r>
            <a:pPr algn="ctr" indent="0" marL="0">
              <a:lnSpc>
                <a:spcPts val="1792"/>
              </a:lnSpc>
              <a:buNone/>
            </a:pPr>
            <a:endParaRPr lang="en-US" sz="960" dirty="0"/>
          </a:p>
          <a:p>
            <a:pPr algn="ctr" indent="0" marL="0">
              <a:lnSpc>
                <a:spcPts val="1792"/>
              </a:lnSpc>
              <a:buNone/>
            </a:pPr>
            <a:r>
              <a:rPr lang="en-US" sz="96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use</a:t>
            </a:r>
            <a:endParaRPr lang="en-US" sz="960" dirty="0"/>
          </a:p>
          <a:p>
            <a:pPr algn="ctr" indent="0" marL="0">
              <a:lnSpc>
                <a:spcPts val="1792"/>
              </a:lnSpc>
              <a:buNone/>
            </a:pPr>
            <a:r>
              <a:rPr lang="en-US" sz="96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Rambler.ru</a:t>
            </a:r>
            <a:endParaRPr lang="en-US" sz="960" dirty="0"/>
          </a:p>
        </p:txBody>
      </p:sp>
      <p:sp>
        <p:nvSpPr>
          <p:cNvPr id="6" name="Text 4"/>
          <p:cNvSpPr/>
          <p:nvPr/>
        </p:nvSpPr>
        <p:spPr>
          <a:xfrm>
            <a:off x="3779441" y="1554461"/>
            <a:ext cx="1584920" cy="511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92"/>
              </a:lnSpc>
              <a:buNone/>
            </a:pPr>
            <a:r>
              <a:rPr lang="en-US" sz="9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2009</a:t>
            </a:r>
            <a:pPr algn="ctr" indent="0" marL="0">
              <a:lnSpc>
                <a:spcPts val="1792"/>
              </a:lnSpc>
              <a:buNone/>
            </a:pPr>
            <a:endParaRPr lang="en-US" sz="960" dirty="0"/>
          </a:p>
          <a:p>
            <a:pPr algn="ctr" indent="0" marL="0">
              <a:lnSpc>
                <a:spcPts val="1792"/>
              </a:lnSpc>
              <a:buNone/>
            </a:pPr>
            <a:r>
              <a:rPr lang="en-US" sz="96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release</a:t>
            </a:r>
            <a:endParaRPr lang="en-US" sz="960" dirty="0"/>
          </a:p>
          <a:p>
            <a:pPr algn="ctr" indent="0" marL="0">
              <a:lnSpc>
                <a:spcPts val="1792"/>
              </a:lnSpc>
              <a:buNone/>
            </a:pPr>
            <a:r>
              <a:rPr lang="en-US" sz="96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 0.7</a:t>
            </a:r>
            <a:endParaRPr lang="en-US" sz="960" dirty="0"/>
          </a:p>
        </p:txBody>
      </p:sp>
      <p:sp>
        <p:nvSpPr>
          <p:cNvPr id="7" name="Text 5"/>
          <p:cNvSpPr/>
          <p:nvPr/>
        </p:nvSpPr>
        <p:spPr>
          <a:xfrm>
            <a:off x="5364361" y="1554461"/>
            <a:ext cx="1584920" cy="511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92"/>
              </a:lnSpc>
              <a:buNone/>
            </a:pPr>
            <a:r>
              <a:rPr lang="en-US" sz="9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2011</a:t>
            </a:r>
            <a:pPr algn="ctr" indent="0" marL="0">
              <a:lnSpc>
                <a:spcPts val="1792"/>
              </a:lnSpc>
              <a:buNone/>
            </a:pPr>
            <a:endParaRPr lang="en-US" sz="960" dirty="0"/>
          </a:p>
          <a:p>
            <a:pPr algn="ctr" indent="0" marL="0">
              <a:lnSpc>
                <a:spcPts val="1792"/>
              </a:lnSpc>
              <a:buNone/>
            </a:pPr>
            <a:r>
              <a:rPr lang="en-US" sz="96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</a:t>
            </a:r>
            <a:endParaRPr lang="en-US" sz="960" dirty="0"/>
          </a:p>
          <a:p>
            <a:pPr algn="ctr" indent="0" marL="0">
              <a:lnSpc>
                <a:spcPts val="1792"/>
              </a:lnSpc>
              <a:buNone/>
            </a:pPr>
            <a:r>
              <a:rPr lang="en-US" sz="96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GPL model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6949282" y="1554461"/>
            <a:ext cx="1584920" cy="511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92"/>
              </a:lnSpc>
              <a:buNone/>
            </a:pPr>
            <a:r>
              <a:rPr lang="en-US" sz="9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</a:t>
            </a:r>
            <a:pPr algn="ctr" indent="0" marL="0">
              <a:lnSpc>
                <a:spcPts val="1792"/>
              </a:lnSpc>
              <a:buNone/>
            </a:pPr>
            <a:endParaRPr lang="en-US" sz="960" dirty="0"/>
          </a:p>
          <a:p>
            <a:pPr algn="ctr" indent="0" marL="0">
              <a:lnSpc>
                <a:spcPts val="1792"/>
              </a:lnSpc>
              <a:buNone/>
            </a:pPr>
            <a:r>
              <a:rPr lang="en-US" sz="96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F5 acquisition</a:t>
            </a:r>
            <a:endParaRPr lang="en-US" sz="960" dirty="0"/>
          </a:p>
          <a:p>
            <a:pPr algn="ctr" indent="0" marL="0">
              <a:lnSpc>
                <a:spcPts val="1792"/>
              </a:lnSpc>
              <a:buNone/>
            </a:pPr>
            <a:r>
              <a:rPr lang="en-US" sz="96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$668M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609600" y="2523630"/>
            <a:ext cx="8083296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6"/>
              </a:lnSpc>
              <a:buNone/>
            </a:pPr>
            <a:r>
              <a:rPr lang="en-US" sz="108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</a:t>
            </a:r>
            <a:pPr indent="0" marL="0">
              <a:lnSpc>
                <a:spcPts val="2016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Solve Rambler.ru capacity problem: 10,000+ simultaneous users on single server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609600" y="2715518"/>
            <a:ext cx="8083296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6"/>
              </a:lnSpc>
              <a:buNone/>
            </a:pPr>
            <a:r>
              <a:rPr lang="en-US" sz="108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Innovation:</a:t>
            </a:r>
            <a:pPr indent="0" marL="0">
              <a:lnSpc>
                <a:spcPts val="2016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Master process + lightweight worker processes + event loop (epoll/kqueue)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609600" y="4367808"/>
            <a:ext cx="8083296" cy="127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4"/>
              </a:lnSpc>
              <a:buNone/>
            </a:pPr>
            <a:r>
              <a:rPr lang="en-US" sz="84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NGINX Blog. "How NGINX Scales." nginx.org (2015) • [2] Sysoev, I. NGINX Architecture Overview (2009)</a:t>
            </a:r>
            <a:endParaRPr lang="en-US" sz="8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747174"/>
            <a:ext cx="7924800" cy="286742"/>
          </a:xfrm>
          <a:prstGeom prst="rect">
            <a:avLst/>
          </a:prstGeom>
          <a:noFill/>
          <a:ln w="6350">
            <a:solidFill>
              <a:srgbClr val="38BDF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 Process Model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39919" y="2691110"/>
            <a:ext cx="64163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│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55347" y="2862560"/>
            <a:ext cx="833307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┌─────┼─────┐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738694" y="3034010"/>
            <a:ext cx="1666613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900" dirty="0">
                <a:solidFill>
                  <a:srgbClr val="38BDF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┌────▼─┐ ┌─▼────┐ ┌─▼────┐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57879" y="3205460"/>
            <a:ext cx="2628144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900" dirty="0">
                <a:solidFill>
                  <a:srgbClr val="38BDF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│Worker│ │Worker│ │Worker│ (unprivileged)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930980" y="3376910"/>
            <a:ext cx="1282041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900" dirty="0">
                <a:solidFill>
                  <a:srgbClr val="38BDF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│ P1 │ │ P2 │ │ Pn │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738694" y="3548360"/>
            <a:ext cx="1666613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900" dirty="0">
                <a:solidFill>
                  <a:srgbClr val="38BDF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└──────┘ └──────┘ └──────┘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3935711"/>
            <a:ext cx="7620000" cy="281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Process: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Single privileged process (uid=0); manages configuration, workers, graceful restart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Processes: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 processes (uid=nobody); handle all client connections; event-driven within process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Graceful Restart/Upgrade: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Master signals workers to stop accepting; existing connections drain; new master spawns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Privilege Separation: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Master bound to port 80; workers run unprivileged; defeats privilege escalation attacks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09600" y="6867823"/>
            <a:ext cx="8083296" cy="127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4"/>
              </a:lnSpc>
              <a:buNone/>
            </a:pPr>
            <a:r>
              <a:rPr lang="en-US" sz="84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NGINX Blog. "Inside NGINX: How We Designed for Performance &amp; Scale" (2015)</a:t>
            </a:r>
            <a:endParaRPr lang="en-US" sz="8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438255"/>
            <a:ext cx="7924800" cy="286742"/>
          </a:xfrm>
          <a:prstGeom prst="rect">
            <a:avLst/>
          </a:prstGeom>
          <a:noFill/>
          <a:ln w="6350">
            <a:solidFill>
              <a:srgbClr val="38BDF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Event-Driven Architecture – Part 1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73461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6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Concept:</a:t>
            </a:r>
            <a:pPr indent="0" marL="0">
              <a:lnSpc>
                <a:spcPts val="196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Single worker process handles thousands of connections via event loop + state machine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14400" y="1512491"/>
            <a:ext cx="7620000" cy="292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Loop: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Worker runs infinite loop; at each iteration, waits for I/O events on all connections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Notification System (epoll/kqueue):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OS kernel efficiently notifies which sockets are ready (read/write)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Non-blocking I/O: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All socket operations set O_NONBLOCK; never block waiting for single connection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State Machine: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Each connection has state (accept → parse header → send response → close)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Multiplexing: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While Connection A waits on disk, handle incoming data from Connections B, C, D, ...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4558903"/>
            <a:ext cx="8083296" cy="127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4"/>
              </a:lnSpc>
              <a:buNone/>
            </a:pPr>
            <a:r>
              <a:rPr lang="en-US" sz="84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Banga, G., Mogul, J. "Scalable Kernel Performance." USENIX ATC (1998) • [2] OLS Paper. "epoll vs select vs poll" (2004)</a:t>
            </a:r>
            <a:endParaRPr lang="en-US" sz="8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247159"/>
            <a:ext cx="7924800" cy="286742"/>
          </a:xfrm>
          <a:prstGeom prst="rect">
            <a:avLst/>
          </a:prstGeom>
          <a:noFill/>
          <a:ln w="6350">
            <a:solidFill>
              <a:srgbClr val="38BDF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Event-Driven Architecture – Part 2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73461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6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Unix-Specific Optimizations: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14400" y="1360091"/>
            <a:ext cx="7620000" cy="21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sendfile(2):</a:t>
            </a:r>
            <a:pPr indent="0" marL="0">
              <a:lnSpc>
                <a:spcPts val="28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Zero-copy file transmission; kernel DMA directly from disk buffer to NIC; eliminates 2 memory copies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SO_REUSEPORT:</a:t>
            </a:r>
            <a:pPr indent="0" marL="0">
              <a:lnSpc>
                <a:spcPts val="28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Multiple worker processes can bind same port; kernel distributes incoming connections (no thundering herd)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accept_mutex:</a:t>
            </a:r>
            <a:pPr indent="0" marL="0">
              <a:lnSpc>
                <a:spcPts val="28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Serializes accept() to prevent thundering herd; only one worker accepts at a time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Memory Counters:</a:t>
            </a:r>
            <a:pPr indent="0" marL="0">
              <a:lnSpc>
                <a:spcPts val="28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Master+workers share shmem for statistics; no IPC overhead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TCP_CORK + TCP_NODELAY:</a:t>
            </a:r>
            <a:pPr indent="0" marL="0">
              <a:lnSpc>
                <a:spcPts val="28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Batch small writes; reduce system call overhead; optimize packet transmission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4367808"/>
            <a:ext cx="8083296" cy="127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4"/>
              </a:lnSpc>
              <a:buNone/>
            </a:pPr>
            <a:r>
              <a:rPr lang="en-US" sz="84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Mauro, D., McDougal, K. "Zero Copy I/O." Linux Journal (2002) • [2] Stevens, W. Unix Network Programming Vol 1 (1994)</a:t>
            </a:r>
            <a:endParaRPr lang="en-US" sz="8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247159"/>
            <a:ext cx="7924800" cy="286742"/>
          </a:xfrm>
          <a:prstGeom prst="rect">
            <a:avLst/>
          </a:prstGeom>
          <a:noFill/>
          <a:ln w="6350">
            <a:solidFill>
              <a:srgbClr val="38BDF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Advantages – Part 1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73461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6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C10K/C100K/C10M Problem:</a:t>
            </a:r>
            <a:pPr indent="0" marL="0">
              <a:lnSpc>
                <a:spcPts val="196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Traditional multi-process/threaded servers fail at scale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09600" y="2966642"/>
            <a:ext cx="8083296" cy="181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4"/>
              </a:lnSpc>
              <a:buNone/>
            </a:pPr>
            <a:r>
              <a:rPr lang="en-US" sz="102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</a:t>
            </a:r>
            <a:pPr indent="0" marL="0">
              <a:lnSpc>
                <a:spcPts val="1904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Event-driven avoids context switching and thread synchronization overhead. Minimal per-connection state.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609600" y="4367808"/>
            <a:ext cx="8083296" cy="127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4"/>
              </a:lnSpc>
              <a:buNone/>
            </a:pPr>
            <a:r>
              <a:rPr lang="en-US" sz="84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Pariag, D., Brecht, M. "Comparing Web Server Architectures." USENIX ATC (2007) • [2] Kegel, D. "C10K Problem" (1999)</a:t>
            </a:r>
            <a:endParaRPr lang="en-US" sz="8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119167"/>
            <a:ext cx="7924800" cy="414734"/>
          </a:xfrm>
          <a:prstGeom prst="rect">
            <a:avLst/>
          </a:prstGeom>
          <a:noFill/>
          <a:ln w="6350">
            <a:solidFill>
              <a:srgbClr val="38BDF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Advantages – Part 2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021061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6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Benchmark Results (Highly-Cited Papers)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09600" y="1283891"/>
            <a:ext cx="3963924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6"/>
              </a:lnSpc>
              <a:buNone/>
            </a:pPr>
            <a:r>
              <a:rPr lang="en-US" sz="108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 (AMPED) vs Apache + Zeus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609600" y="1475780"/>
            <a:ext cx="3963924" cy="181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4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 et al. (USENIX '99, 587 citations):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762000" y="1657152"/>
            <a:ext cx="3733800" cy="88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304"/>
              </a:lnSpc>
              <a:buSzPct val="100000"/>
              <a:buChar char="•"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Flash: </a:t>
            </a:r>
            <a:pPr indent="0" marL="0">
              <a:lnSpc>
                <a:spcPts val="2304"/>
              </a:lnSpc>
              <a:buNone/>
            </a:pPr>
            <a:r>
              <a:rPr lang="en-US" sz="9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50%+ throughput advantage</a:t>
            </a:r>
            <a:pPr indent="0" marL="0">
              <a:lnSpc>
                <a:spcPts val="230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Apache</a:t>
            </a:r>
            <a:endParaRPr lang="en-US" sz="960" dirty="0"/>
          </a:p>
          <a:p>
            <a:pPr marL="342900" indent="-342900">
              <a:lnSpc>
                <a:spcPts val="2304"/>
              </a:lnSpc>
              <a:buSzPct val="100000"/>
              <a:buChar char="•"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SPED: single-process event loop best on cached workloads</a:t>
            </a:r>
            <a:endParaRPr lang="en-US" sz="960" dirty="0"/>
          </a:p>
          <a:p>
            <a:pPr marL="342900" indent="-342900">
              <a:lnSpc>
                <a:spcPts val="2304"/>
              </a:lnSpc>
              <a:buSzPct val="100000"/>
              <a:buChar char="•"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 overhead: significant on real workloads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4648200" y="1283891"/>
            <a:ext cx="3963924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6"/>
              </a:lnSpc>
              <a:buNone/>
            </a:pPr>
            <a:r>
              <a:rPr lang="en-US" sz="108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Pariag et al. Comparison (USENIX ATC '07)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4648200" y="1475780"/>
            <a:ext cx="3963924" cy="181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4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Event-driven µserver vs Knot (threads):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4800600" y="1657152"/>
            <a:ext cx="3733800" cy="88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304"/>
              </a:lnSpc>
              <a:buSzPct val="100000"/>
              <a:buChar char="•"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Event-driven: </a:t>
            </a:r>
            <a:pPr indent="0" marL="0">
              <a:lnSpc>
                <a:spcPts val="2304"/>
              </a:lnSpc>
              <a:buNone/>
            </a:pPr>
            <a:r>
              <a:rPr lang="en-US" sz="9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 or better throughput</a:t>
            </a:r>
            <a:endParaRPr lang="en-US" sz="960" dirty="0"/>
          </a:p>
          <a:p>
            <a:pPr marL="342900" indent="-342900">
              <a:lnSpc>
                <a:spcPts val="2304"/>
              </a:lnSpc>
              <a:buSzPct val="100000"/>
              <a:buChar char="•"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latency variance</a:t>
            </a:r>
            <a:endParaRPr lang="en-US" sz="960" dirty="0"/>
          </a:p>
          <a:p>
            <a:pPr marL="342900" indent="-342900">
              <a:lnSpc>
                <a:spcPts val="2304"/>
              </a:lnSpc>
              <a:buSzPct val="100000"/>
              <a:buChar char="•"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to 10,000+ connections/sec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609600" y="4239816"/>
            <a:ext cx="7924800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4"/>
              </a:lnSpc>
              <a:buNone/>
            </a:pPr>
            <a:r>
              <a:rPr lang="en-US" sz="84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Pai, V. et al. "Flash: An Efficient and Portable Web Server." USENIX OSDI (1999) • [2] Pariag, D. et al. USENIX ATC (2007) • [3] Soares, L., Stumm, M. "Exception-Less System Calls." USENIX ATC (2011)</a:t>
            </a:r>
            <a:endParaRPr lang="en-US" sz="8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247159"/>
            <a:ext cx="7924800" cy="286742"/>
          </a:xfrm>
          <a:prstGeom prst="rect">
            <a:avLst/>
          </a:prstGeom>
          <a:noFill/>
          <a:ln w="6350">
            <a:solidFill>
              <a:srgbClr val="38BDF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and Reliability Mechanisms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173463"/>
            <a:ext cx="7620000" cy="276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Isolation:</a:t>
            </a:r>
            <a:pPr indent="0" marL="0">
              <a:lnSpc>
                <a:spcPts val="28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Master (root) isolated from workers (nobody); if worker compromised, no privilege escalation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Privilege Separation:</a:t>
            </a:r>
            <a:pPr indent="0" marL="0">
              <a:lnSpc>
                <a:spcPts val="28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Master binds ports &lt;1024; workers drop privileges immediately; run as unprivileged user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Request Smuggling Mitigation:</a:t>
            </a:r>
            <a:pPr indent="0" marL="0">
              <a:lnSpc>
                <a:spcPts val="28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Strict HTTP/1.1 parsing; reject ambiguous Content-Length/Transfer-Encoding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Slowloris &amp; Slow Read Protection:</a:t>
            </a:r>
            <a:pPr indent="0" marL="0">
              <a:lnSpc>
                <a:spcPts val="28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Client_max_body_size, request_timeout limits; prevents resource exhaustion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Graceful Degradation:</a:t>
            </a:r>
            <a:pPr indent="0" marL="0">
              <a:lnSpc>
                <a:spcPts val="28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Worker dies → master spawns replacement; no cascading failures; connection draining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seccomp/AppArmor Integration:</a:t>
            </a:r>
            <a:pPr indent="0" marL="0">
              <a:lnSpc>
                <a:spcPts val="28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Restrict worker syscalls; Linux-specific hardening (optional compile-time)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4367808"/>
            <a:ext cx="8083296" cy="127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4"/>
              </a:lnSpc>
              <a:buNone/>
            </a:pPr>
            <a:r>
              <a:rPr lang="en-US" sz="84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OWASP. "HTTP Request Smuggling" (2021) • [2] NGINX Security whitepaper • [3] Linux kernel seccomp docs (2015)</a:t>
            </a:r>
            <a:endParaRPr lang="en-US" sz="8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16363"/>
            <a:ext cx="7924800" cy="286742"/>
          </a:xfrm>
          <a:prstGeom prst="rect">
            <a:avLst/>
          </a:prstGeom>
          <a:noFill/>
          <a:ln w="6350">
            <a:solidFill>
              <a:srgbClr val="38BDF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and Future Directions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173463"/>
            <a:ext cx="7620000" cy="354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HTTP/3 &amp; QUIC Adoption (Experimental):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NGINX adds QUIC support (0.9.41+); UDP-based; better mobile, connection migration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Competing Systems (Envoy, ATS):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Cloud-native proxies extend event-driven model; better observability; newer protocol support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Model on ARM/MIPS: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Event loops assume x86 memory barriers; ARM weakly-ordered; research ongoing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Affinity &amp; NUMA: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Single event loop can't span NUMA boundaries efficiently; multi-socket systems need per-socket workers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eBPF/io_uring Potential: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Linux io_uring API may supersede epoll; reduce syscall overhead further (2024+ research)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4837016"/>
            <a:ext cx="8083296" cy="127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4"/>
              </a:lnSpc>
              <a:buNone/>
            </a:pPr>
            <a:r>
              <a:rPr lang="en-US" sz="84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NGINX QUIC RFC 9000 support (2024) • [2] Axboe, J. "io_uring." Linux kernel (2019) • [3] Uncovering Hidden Potential of Event-Driven Architecture. arXiv (2023)</a:t>
            </a:r>
            <a:endParaRPr lang="en-US" sz="8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Conclusion: Key Takeaways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63"/>
            <a:ext cx="7620000" cy="3295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312"/>
              </a:lnSpc>
              <a:buSzPct val="100000"/>
              <a:buChar char="•"/>
            </a:pPr>
            <a:r>
              <a:rPr lang="en-US" sz="13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lnSpc>
                <a:spcPts val="3312"/>
              </a:lnSpc>
              <a:buNone/>
            </a:pPr>
            <a:r>
              <a:rPr lang="en-US" sz="138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Event-Driven Paradigm:</a:t>
            </a:r>
            <a:pPr indent="0" marL="0">
              <a:lnSpc>
                <a:spcPts val="3312"/>
              </a:lnSpc>
              <a:buNone/>
            </a:pPr>
            <a:r>
              <a:rPr lang="en-US" sz="13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Single process handles 100K+ connections with minimal overhead vs multi-process/threaded</a:t>
            </a:r>
            <a:endParaRPr lang="en-US" sz="1380" dirty="0"/>
          </a:p>
          <a:p>
            <a:pPr marL="342900" indent="-342900">
              <a:lnSpc>
                <a:spcPts val="3312"/>
              </a:lnSpc>
              <a:buSzPct val="100000"/>
              <a:buChar char="•"/>
            </a:pPr>
            <a:r>
              <a:rPr lang="en-US" sz="13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lnSpc>
                <a:spcPts val="3312"/>
              </a:lnSpc>
              <a:buNone/>
            </a:pPr>
            <a:r>
              <a:rPr lang="en-US" sz="138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Unix/Linux Optimizations:</a:t>
            </a:r>
            <a:pPr indent="0" marL="0">
              <a:lnSpc>
                <a:spcPts val="3312"/>
              </a:lnSpc>
              <a:buNone/>
            </a:pPr>
            <a:r>
              <a:rPr lang="en-US" sz="13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sendfile, epoll/kqueue, SO_REUSEPORT, shared memory solve C10K/C100K/C10M at kernel level</a:t>
            </a:r>
            <a:endParaRPr lang="en-US" sz="1380" dirty="0"/>
          </a:p>
          <a:p>
            <a:pPr marL="342900" indent="-342900">
              <a:lnSpc>
                <a:spcPts val="3312"/>
              </a:lnSpc>
              <a:buSzPct val="100000"/>
              <a:buChar char="•"/>
            </a:pPr>
            <a:r>
              <a:rPr lang="en-US" sz="13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lnSpc>
                <a:spcPts val="3312"/>
              </a:lnSpc>
              <a:buNone/>
            </a:pPr>
            <a:r>
              <a:rPr lang="en-US" sz="138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at Scale:</a:t>
            </a:r>
            <a:pPr indent="0" marL="0">
              <a:lnSpc>
                <a:spcPts val="3312"/>
              </a:lnSpc>
              <a:buNone/>
            </a:pPr>
            <a:r>
              <a:rPr lang="en-US" sz="13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20+ years of real-world deployment; powers 30%+ of internet traffic; peer-reviewed research validates 50%+ performance advantage</a:t>
            </a:r>
            <a:endParaRPr lang="en-US" sz="1380" dirty="0"/>
          </a:p>
          <a:p>
            <a:pPr marL="342900" indent="-342900">
              <a:lnSpc>
                <a:spcPts val="3312"/>
              </a:lnSpc>
              <a:buSzPct val="100000"/>
              <a:buChar char="•"/>
            </a:pPr>
            <a:r>
              <a:rPr lang="en-US" sz="13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lnSpc>
                <a:spcPts val="3312"/>
              </a:lnSpc>
              <a:buNone/>
            </a:pPr>
            <a:r>
              <a:rPr lang="en-US" sz="138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by Design:</a:t>
            </a:r>
            <a:pPr indent="0" marL="0">
              <a:lnSpc>
                <a:spcPts val="3312"/>
              </a:lnSpc>
              <a:buNone/>
            </a:pPr>
            <a:r>
              <a:rPr lang="en-US" sz="13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Process isolation, privilege separation, strict parsing reduce attack surface</a:t>
            </a:r>
            <a:endParaRPr lang="en-US" sz="1380" dirty="0"/>
          </a:p>
          <a:p>
            <a:pPr marL="342900" indent="-342900">
              <a:lnSpc>
                <a:spcPts val="3312"/>
              </a:lnSpc>
              <a:buSzPct val="100000"/>
              <a:buChar char="•"/>
            </a:pPr>
            <a:r>
              <a:rPr lang="en-US" sz="13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lnSpc>
                <a:spcPts val="3312"/>
              </a:lnSpc>
              <a:buNone/>
            </a:pPr>
            <a:r>
              <a:rPr lang="en-US" sz="138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Challenges:</a:t>
            </a:r>
            <a:pPr indent="0" marL="0">
              <a:lnSpc>
                <a:spcPts val="3312"/>
              </a:lnSpc>
              <a:buNone/>
            </a:pPr>
            <a:r>
              <a:rPr lang="en-US" sz="13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HTTP/3/QUIC, io_uring, NUMA-aware scheduling continue evolution of event-driven model</a:t>
            </a:r>
            <a:endParaRPr lang="en-US" sz="13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19102"/>
            <a:ext cx="8083296" cy="1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9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</a:t>
            </a:r>
            <a:pPr indent="0" marL="0">
              <a:lnSpc>
                <a:spcPts val="168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Kegel, D. "The C10K Problem." (1999) http://www.kegel.com/c10k.html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09600" y="1424685"/>
            <a:ext cx="8083296" cy="1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9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</a:t>
            </a:r>
            <a:pPr indent="0" marL="0">
              <a:lnSpc>
                <a:spcPts val="168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Pai, V.S., Druschel, P., Zwaenepoel, W. "Flash: An Efficient and Portable Web Server." USENIX OSDI (1999, 587 citations)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9600" y="1630263"/>
            <a:ext cx="8083296" cy="1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9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</a:t>
            </a:r>
            <a:pPr indent="0" marL="0">
              <a:lnSpc>
                <a:spcPts val="168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Pariag, D., Brecht, M., Harji, A., Buhr, P., Shukla, A. "Comparing the Performance of Web Server Architectures." USENIX ATC (2007)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09600" y="1835846"/>
            <a:ext cx="8083296" cy="1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9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</a:t>
            </a:r>
            <a:pPr indent="0" marL="0">
              <a:lnSpc>
                <a:spcPts val="168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Banga, G., Mogul, J.C. "Scalable Kernel Performance for Internet Servers." USENIX ATC (1998, 400+ citations)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9600" y="2041429"/>
            <a:ext cx="8083296" cy="1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9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</a:t>
            </a:r>
            <a:pPr indent="0" marL="0">
              <a:lnSpc>
                <a:spcPts val="168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Drepper, U. "What Every Programmer Should Know About Memory." (2007, LWN.net)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9600" y="2247007"/>
            <a:ext cx="8083296" cy="1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9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[6]</a:t>
            </a:r>
            <a:pPr indent="0" marL="0">
              <a:lnSpc>
                <a:spcPts val="168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Mauro, D., McDougal, K. "Zero Copy I/O." Linux Journal (2002)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09600" y="2452590"/>
            <a:ext cx="8083296" cy="1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9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[7]</a:t>
            </a:r>
            <a:pPr indent="0" marL="0">
              <a:lnSpc>
                <a:spcPts val="168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Soares, L., Stumm, M. "Exception-Less System Calls for Event-Driven Servers." USENIX ATC (2011)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09600" y="2658173"/>
            <a:ext cx="8083296" cy="1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9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[8]</a:t>
            </a:r>
            <a:pPr indent="0" marL="0">
              <a:lnSpc>
                <a:spcPts val="168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OLS Paper: "Comparing and Evaluating epoll, select, and poll Event Mechanisms." Kernel.org/ols (2004)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09600" y="2863751"/>
            <a:ext cx="8083296" cy="1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9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[9]</a:t>
            </a:r>
            <a:pPr indent="0" marL="0">
              <a:lnSpc>
                <a:spcPts val="168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Welsh, M., Culler, D., Brewer, E. "SEDA: An Architecture for Well-Conditioned, Scalable Internet Services." OSDI (2001)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09600" y="3069334"/>
            <a:ext cx="8083296" cy="1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9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[10]</a:t>
            </a:r>
            <a:pPr indent="0" marL="0">
              <a:lnSpc>
                <a:spcPts val="168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NGINX Blog: "Inside NGINX: How We Designed for Performance &amp; Scale." (2015)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09600" y="3274916"/>
            <a:ext cx="8083296" cy="1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9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[11]</a:t>
            </a:r>
            <a:pPr indent="0" marL="0">
              <a:lnSpc>
                <a:spcPts val="168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Stevens, W.R., Fenner, B., Rudoff, A.M. "Unix Network Programming Vol 1: The Sockets Networking API." Addison-Wesley (1994)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9600" y="3480495"/>
            <a:ext cx="8083296" cy="1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9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[12]</a:t>
            </a:r>
            <a:pPr indent="0" marL="0">
              <a:lnSpc>
                <a:spcPts val="168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Axboe, J. "io_uring Linux API." (2019) https://kernel.dk/io_uring.pdf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9600" y="3686077"/>
            <a:ext cx="8083296" cy="1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9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[13]</a:t>
            </a:r>
            <a:pPr indent="0" marL="0">
              <a:lnSpc>
                <a:spcPts val="168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"Uncovering the Hidden Potential of Event-Driven Architecture." arXiv:2308.05270 (2023)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9600" y="3891660"/>
            <a:ext cx="8083296" cy="1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9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[14]</a:t>
            </a:r>
            <a:pPr indent="0" marL="0">
              <a:lnSpc>
                <a:spcPts val="168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RFC 9000: "QUIC: A UDP-Based Multiplexed and Secure Transport" (2021)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2025-11-28T13:31:01Z</dcterms:created>
  <dcterms:modified xsi:type="dcterms:W3CDTF">2025-11-28T13:31:01Z</dcterms:modified>
</cp:coreProperties>
</file>