
<file path=[Content_Types].xml><?xml version="1.0" encoding="utf-8"?>
<Types xmlns="http://schemas.openxmlformats.org/package/2006/content-types">
  <Default Extension="jpeg" ContentType="image/jpeg"/>
  <Default Extension="png" ContentType="image/png"/>
  <Default Extension="ppm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1" r:id="rId6"/>
    <p:sldId id="263" r:id="rId7"/>
    <p:sldId id="265" r:id="rId8"/>
    <p:sldId id="266" r:id="rId9"/>
    <p:sldId id="264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10" autoAdjust="0"/>
  </p:normalViewPr>
  <p:slideViewPr>
    <p:cSldViewPr snapToGrid="0">
      <p:cViewPr varScale="1">
        <p:scale>
          <a:sx n="59" d="100"/>
          <a:sy n="59" d="100"/>
        </p:scale>
        <p:origin x="940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F0700-AF03-4C0C-B600-D0BEB68CF705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02F8D-464D-4ECA-8F9A-FAC55F9648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295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2F8D-464D-4ECA-8F9A-FAC55F96487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217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2F8D-464D-4ECA-8F9A-FAC55F96487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3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2F8D-464D-4ECA-8F9A-FAC55F96487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733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2F8D-464D-4ECA-8F9A-FAC55F96487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704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B200-D513-6582-1C18-FD1FF53C1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D9887-0FB9-0007-9644-87A3DEB20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A99D9-8A04-CD2F-C979-69877ECA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CEE8E-2F53-08C4-837F-281EA98B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A9C24-F8E1-A894-B68E-301969B3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95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DF1D-E049-BB91-A878-98123D3E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189A3-AB52-2924-3BB1-349CC9E6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C08C2-FCBA-979D-4AA1-CE60BB0A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32812-F2E4-7A93-7E71-46ED18D9C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77FD7-1D2F-80AB-1BBD-F0C3EE54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94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4D25-570E-B292-E44D-2B0F468E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E6AC4-C499-5D2D-FBE4-0C5B3303C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959AA-5CBD-DE77-88D2-FA7AB3C3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F463A-0B25-E3F4-469A-00C6BFF8C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53446-3CC7-4EA1-FF06-46BD2709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23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B993-8146-6365-E9ED-49E7DD6B6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71801-1680-B144-D867-0D0628EFE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96267-E94E-E950-0E6A-D950B7C1E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2ADC1-C293-88D4-83E1-293BEFED6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B8828-6A4A-E0BF-5D09-AAC0A218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8DC6C-5115-06B6-6308-CA8DBDC9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73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C84F4-0049-8D83-04BB-F5DF2497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D3CF3-C499-569B-6DDD-B917660EA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9197A-6F8A-129F-062B-FE745DB7F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EC9-DB06-3F83-A756-9ABA5919A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00CC6-A4A4-FB2E-1BAF-2C6C3CEA5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8C6D0-5C75-67BD-B530-E30CE1058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471E0-D457-657C-9F01-643330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B8B60-95F7-20FE-5C19-AD1AA5A2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61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28E5-E38A-39ED-BB48-5214A9CC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9AEF1-6695-9CFD-4B9C-C2F52D4F7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C5FF9-3A7B-DD2D-6D7B-BF6285EC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6836C-BEC6-B000-649B-95E794BB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63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EA845-835A-AC2D-F15D-83D80802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C9F09-4074-B2A9-3E5E-D826501D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3EB68-3A1B-FCA2-040A-1C3CC6B5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217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9BCE-A567-0277-3829-952CB4ED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A2481-5EE8-133D-9431-E65E0EEE3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513E9-32DC-A39D-8C83-C4203F801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129DE-1AB9-23FB-0C9F-E47E33E1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0D0F9-1929-04D9-03C3-36284B1F9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4941A-B02B-E39B-150A-1A7DD4B1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3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5061-8C82-8332-1105-039200AE5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31E25-EDC3-0B32-22E5-A7DB91D8D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14198-83AF-62F3-DAD9-95EA5AF8E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22498-D838-24DE-1241-B995CE06A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F3CE6-D798-1807-6AF1-0869D834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3501B-0206-E821-F516-06F7DD52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67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C412-C6B8-E86D-D990-4F449CAD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C2034-149F-32A0-F3FB-5F442C3C8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B0C20-ACFB-915C-00CF-B232D0E33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1370F-1350-2E79-905F-F36D9095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65C38-8F0E-8CB5-178A-5997ED39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089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00EF3-B656-E24E-B53A-3CEC32E05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A435C-0537-F246-3EA7-E8DD67A11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E4E9-1232-B755-163D-50CE321B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87408-DE53-5321-6FB6-B4078960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5A72E-0135-3030-CDD2-3BA6E5F0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70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C1DBD-D94E-1906-6CE2-877150C2F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7AEE7-7BE6-8FE3-43F6-7E9F6DF7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A05A0-9038-F7D0-9CFB-4F2EC4FC2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36AEE-C378-4593-9088-2232B7B7A3D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B5C14-48F0-3984-5B2F-34384EE91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791D-D135-142E-2EAB-6D859C181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D62DB-855E-47E5-83F9-B84493218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44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pm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orproject.org/tor-security-advisory-relay-early-traffic-confirmation-attack/" TargetMode="External"/><Relationship Id="rId2" Type="http://schemas.openxmlformats.org/officeDocument/2006/relationships/hyperlink" Target="https://www.princeton.edu/~pmittal/publications/bgptor-hotnets14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Operation_Onymo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cademy-What-is-the-Tor-Browser-Hero">
            <a:extLst>
              <a:ext uri="{FF2B5EF4-FFF2-40B4-BE49-F238E27FC236}">
                <a16:creationId xmlns:a16="http://schemas.microsoft.com/office/drawing/2014/main" id="{CC8F878B-50D5-691D-E8F6-2CD80DE0A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2925" y="934720"/>
            <a:ext cx="12744925" cy="4683760"/>
          </a:xfrm>
          <a:prstGeom prst="rect">
            <a:avLst/>
          </a:prstGeom>
          <a:noFill/>
          <a:effectLst>
            <a:glow rad="127000">
              <a:schemeClr val="accent1">
                <a:alpha val="2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02944B-4512-694E-6986-53F14A730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3695"/>
            <a:ext cx="9144000" cy="2387600"/>
          </a:xfrm>
        </p:spPr>
        <p:txBody>
          <a:bodyPr/>
          <a:lstStyle/>
          <a:p>
            <a:r>
              <a:rPr lang="en-US" dirty="0"/>
              <a:t>Security issues in TOR browser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63D38-96E8-59E5-3F2D-804B6C708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1295"/>
            <a:ext cx="9144000" cy="1655762"/>
          </a:xfrm>
        </p:spPr>
        <p:txBody>
          <a:bodyPr/>
          <a:lstStyle/>
          <a:p>
            <a:r>
              <a:rPr lang="en-US" dirty="0"/>
              <a:t>Performed by Nikita </a:t>
            </a:r>
            <a:r>
              <a:rPr lang="en-US" dirty="0" err="1"/>
              <a:t>Niakhai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9485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6816-3A0E-618E-A19A-945B6CB2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and description</a:t>
            </a:r>
            <a:endParaRPr lang="ru-RU" dirty="0"/>
          </a:p>
        </p:txBody>
      </p:sp>
      <p:pic>
        <p:nvPicPr>
          <p:cNvPr id="5" name="Content Placeholder 4" descr="A person standing on a bridge&#10;&#10;AI-generated content may be incorrect.">
            <a:extLst>
              <a:ext uri="{FF2B5EF4-FFF2-40B4-BE49-F238E27FC236}">
                <a16:creationId xmlns:a16="http://schemas.microsoft.com/office/drawing/2014/main" id="{8CB6D698-34B6-DE77-ED52-4F1C08EF6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879" y="812185"/>
            <a:ext cx="2702262" cy="26168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B2C9E-A798-B831-F627-3CD0E5266383}"/>
              </a:ext>
            </a:extLst>
          </p:cNvPr>
          <p:cNvSpPr txBox="1"/>
          <p:nvPr/>
        </p:nvSpPr>
        <p:spPr>
          <a:xfrm>
            <a:off x="8447442" y="3418860"/>
            <a:ext cx="4872318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 An umbrella only protects you </a:t>
            </a:r>
          </a:p>
          <a:p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the rain if you have it with </a:t>
            </a:r>
          </a:p>
          <a:p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 and it is used as intended</a:t>
            </a:r>
            <a:r>
              <a:rPr lang="ru-RU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1446B-872F-2977-25AB-7C20672EAD93}"/>
              </a:ext>
            </a:extLst>
          </p:cNvPr>
          <p:cNvSpPr txBox="1"/>
          <p:nvPr/>
        </p:nvSpPr>
        <p:spPr>
          <a:xfrm>
            <a:off x="548640" y="1690688"/>
            <a:ext cx="5974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 </a:t>
            </a:r>
            <a:r>
              <a:rPr lang="en-US" b="1" dirty="0"/>
              <a:t>Tor (The Onion Router)</a:t>
            </a:r>
            <a:r>
              <a:rPr lang="en-US" dirty="0"/>
              <a:t> is a </a:t>
            </a:r>
            <a:r>
              <a:rPr lang="en-US" i="1" dirty="0"/>
              <a:t>free, open-source overlay network</a:t>
            </a:r>
            <a:r>
              <a:rPr lang="en-US" dirty="0"/>
              <a:t> designed to provide </a:t>
            </a:r>
            <a:r>
              <a:rPr lang="en-US" b="1" dirty="0"/>
              <a:t>anonymity</a:t>
            </a:r>
            <a:r>
              <a:rPr lang="en-US" dirty="0"/>
              <a:t> for TCP-based applications (web browsing, messaging, etc.) by routing traffic through multiple volunteer-operated relays, encrypting data in successive layers so no single relay knows both source and destination “ - spec.torproject.org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E1A226-9A57-5AA7-C2E9-EC4A618CB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912" y="4796140"/>
            <a:ext cx="3727680" cy="10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C7ED1C-BACD-3695-8845-B5F8F1917863}"/>
              </a:ext>
            </a:extLst>
          </p:cNvPr>
          <p:cNvSpPr txBox="1"/>
          <p:nvPr/>
        </p:nvSpPr>
        <p:spPr>
          <a:xfrm>
            <a:off x="6850680" y="59600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B6B6B"/>
                </a:solidFill>
                <a:effectLst/>
                <a:latin typeface="sohne"/>
              </a:rPr>
              <a:t>The architecture of the Tor cell circuit</a:t>
            </a:r>
            <a:endParaRPr lang="ru-RU" dirty="0"/>
          </a:p>
        </p:txBody>
      </p:sp>
      <p:pic>
        <p:nvPicPr>
          <p:cNvPr id="11" name="Picture 10" descr="A diagram of a network of volunteers">
            <a:extLst>
              <a:ext uri="{FF2B5EF4-FFF2-40B4-BE49-F238E27FC236}">
                <a16:creationId xmlns:a16="http://schemas.microsoft.com/office/drawing/2014/main" id="{80595DFB-A968-4726-E3D8-9B6D3C94B1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" y="3734365"/>
            <a:ext cx="3923972" cy="28452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F4A0A6-823B-14AD-4B4D-BB9A7BFCDE3E}"/>
              </a:ext>
            </a:extLst>
          </p:cNvPr>
          <p:cNvSpPr txBox="1"/>
          <p:nvPr/>
        </p:nvSpPr>
        <p:spPr>
          <a:xfrm>
            <a:off x="6659880" y="1430144"/>
            <a:ext cx="665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Distributed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28F83A-24FF-E271-E791-E87EED5B2AED}"/>
              </a:ext>
            </a:extLst>
          </p:cNvPr>
          <p:cNvSpPr txBox="1"/>
          <p:nvPr/>
        </p:nvSpPr>
        <p:spPr>
          <a:xfrm>
            <a:off x="6096000" y="1998735"/>
            <a:ext cx="665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Partially decentralized</a:t>
            </a:r>
            <a:endParaRPr lang="ru-RU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63CC52-4447-3298-1628-F884C34DC9DB}"/>
              </a:ext>
            </a:extLst>
          </p:cNvPr>
          <p:cNvSpPr txBox="1"/>
          <p:nvPr/>
        </p:nvSpPr>
        <p:spPr>
          <a:xfrm>
            <a:off x="6568740" y="2537208"/>
            <a:ext cx="665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TCP/IP - layer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94666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593C-D5BD-DD68-DFF1-70F6551A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54875"/>
            <a:ext cx="10515600" cy="1325563"/>
          </a:xfrm>
        </p:spPr>
        <p:txBody>
          <a:bodyPr/>
          <a:lstStyle/>
          <a:p>
            <a:r>
              <a:rPr lang="en-US" dirty="0"/>
              <a:t>Context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43287D-4091-8193-44D1-B8D1CB774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919" y="26318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 Use Cases:</a:t>
            </a:r>
            <a:endParaRPr lang="en-US" b="1" dirty="0"/>
          </a:p>
          <a:p>
            <a:pPr lvl="1"/>
            <a:r>
              <a:rPr lang="en-US" dirty="0"/>
              <a:t>Journalists / activists / whistleblowers </a:t>
            </a:r>
            <a:br>
              <a:rPr lang="en-US" dirty="0"/>
            </a:br>
            <a:r>
              <a:rPr lang="en-US" dirty="0"/>
              <a:t>communicating sensitive info without </a:t>
            </a:r>
            <a:br>
              <a:rPr lang="en-US" dirty="0"/>
            </a:br>
            <a:r>
              <a:rPr lang="en-US" dirty="0"/>
              <a:t>revealing identity.</a:t>
            </a:r>
          </a:p>
          <a:p>
            <a:pPr lvl="1"/>
            <a:r>
              <a:rPr lang="en-US" dirty="0"/>
              <a:t>hiding identity/location from websites, </a:t>
            </a:r>
            <a:br>
              <a:rPr lang="en-US" dirty="0"/>
            </a:br>
            <a:r>
              <a:rPr lang="en-US" dirty="0"/>
              <a:t>ISPs, trackers.</a:t>
            </a:r>
          </a:p>
          <a:p>
            <a:pPr lvl="1"/>
            <a:r>
              <a:rPr lang="en-US" dirty="0"/>
              <a:t>accessing blocked content or sites via </a:t>
            </a:r>
            <a:br>
              <a:rPr lang="en-US" dirty="0"/>
            </a:br>
            <a:r>
              <a:rPr lang="en-US" dirty="0"/>
              <a:t>bridges / pluggable transports.</a:t>
            </a:r>
          </a:p>
          <a:p>
            <a:pPr lvl="1"/>
            <a:r>
              <a:rPr lang="en-US" dirty="0"/>
              <a:t>hosting services anonymously so both </a:t>
            </a:r>
            <a:br>
              <a:rPr lang="en-US" dirty="0"/>
            </a:br>
            <a:r>
              <a:rPr lang="en-US" dirty="0"/>
              <a:t>clients and servers are shielded </a:t>
            </a:r>
            <a:br>
              <a:rPr lang="en-US" dirty="0"/>
            </a:br>
            <a:r>
              <a:rPr lang="en-US" dirty="0"/>
              <a:t>- Hidden services.</a:t>
            </a:r>
          </a:p>
          <a:p>
            <a:endParaRPr lang="ru-RU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42F085-5B99-2D7C-C0AB-801CED011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099" y="-30180"/>
            <a:ext cx="5977901" cy="3482003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FBAA8B1-F027-A30E-0E17-0AAE5F56989C}"/>
              </a:ext>
            </a:extLst>
          </p:cNvPr>
          <p:cNvSpPr txBox="1">
            <a:spLocks/>
          </p:cNvSpPr>
          <p:nvPr/>
        </p:nvSpPr>
        <p:spPr>
          <a:xfrm>
            <a:off x="6214099" y="3712313"/>
            <a:ext cx="7007039" cy="4231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Actors:</a:t>
            </a:r>
            <a:endParaRPr lang="en-US" b="1" dirty="0"/>
          </a:p>
          <a:p>
            <a:pPr lvl="1"/>
            <a:r>
              <a:rPr lang="en-US" dirty="0"/>
              <a:t>Client</a:t>
            </a:r>
          </a:p>
          <a:p>
            <a:pPr lvl="1"/>
            <a:r>
              <a:rPr lang="en-US" dirty="0"/>
              <a:t>Relays / Nodes (Guard, Middle, Exit relays)</a:t>
            </a:r>
          </a:p>
          <a:p>
            <a:pPr lvl="1"/>
            <a:r>
              <a:rPr lang="en-US" dirty="0"/>
              <a:t>Directory Authorities</a:t>
            </a:r>
          </a:p>
          <a:p>
            <a:pPr lvl="1"/>
            <a:r>
              <a:rPr lang="en-US" dirty="0"/>
              <a:t>Bridge </a:t>
            </a:r>
          </a:p>
          <a:p>
            <a:pPr lvl="1"/>
            <a:r>
              <a:rPr lang="en-US" b="1" dirty="0"/>
              <a:t>Adversaries:</a:t>
            </a:r>
            <a:r>
              <a:rPr lang="en-US" dirty="0"/>
              <a:t> network observers, ISPs, malicious relays, state actors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674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B272-FC1C-8755-B82B-53300B90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 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A971DB-091B-B914-C25F-12D39F5FDAD5}"/>
              </a:ext>
            </a:extLst>
          </p:cNvPr>
          <p:cNvSpPr txBox="1"/>
          <p:nvPr/>
        </p:nvSpPr>
        <p:spPr>
          <a:xfrm>
            <a:off x="495886" y="285670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Anonymity &amp; </a:t>
            </a:r>
            <a:r>
              <a:rPr lang="en-US" b="1" dirty="0" err="1"/>
              <a:t>Unlinkability</a:t>
            </a:r>
            <a:r>
              <a:rPr lang="en-US" b="1" dirty="0"/>
              <a:t>:</a:t>
            </a:r>
            <a:r>
              <a:rPr lang="en-US" dirty="0"/>
              <a:t> infeasible for an adversary to link a user to their actions online.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Privacy under adversary models:</a:t>
            </a:r>
            <a:r>
              <a:rPr lang="en-US" dirty="0"/>
              <a:t> partial network control, compromised relays, local observer.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Low-latency communication:</a:t>
            </a:r>
            <a:r>
              <a:rPr lang="en-US" dirty="0"/>
              <a:t> cannot incur huge delays while preserving anonymity.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Scalability:</a:t>
            </a:r>
            <a:r>
              <a:rPr lang="en-US" dirty="0"/>
              <a:t> many users and many relay nodes.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161758-3970-C034-B6D6-A27F29470202}"/>
              </a:ext>
            </a:extLst>
          </p:cNvPr>
          <p:cNvSpPr txBox="1"/>
          <p:nvPr/>
        </p:nvSpPr>
        <p:spPr>
          <a:xfrm>
            <a:off x="6439486" y="271820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Reliability /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Usability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Resistance to relay compromise / </a:t>
            </a:r>
            <a:br>
              <a:rPr lang="en-US" b="1" dirty="0"/>
            </a:br>
            <a:r>
              <a:rPr lang="en-US" b="1" dirty="0"/>
              <a:t>malicious behavior:</a:t>
            </a:r>
            <a:r>
              <a:rPr lang="en-US" dirty="0"/>
              <a:t> guard relay selection, directory authorities trust, detection/removal of malicious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Transparency &amp; open governance:</a:t>
            </a:r>
            <a:r>
              <a:rPr lang="en-US" dirty="0"/>
              <a:t> open source, clear policies, community review, audits.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Interoperability / compatibility.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067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FBA65-EA3B-0404-A17B-A4EF0CA0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Perimeter</a:t>
            </a:r>
            <a:endParaRPr lang="ru-RU" dirty="0"/>
          </a:p>
        </p:txBody>
      </p:sp>
      <p:pic>
        <p:nvPicPr>
          <p:cNvPr id="5" name="Content Placeholder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AB24CD9F-E54A-89D3-DE66-6E7D1C998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212" y="215870"/>
            <a:ext cx="5552787" cy="6426259"/>
          </a:xfr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EE244DF-108C-373C-F4F8-C73236139F83}"/>
              </a:ext>
            </a:extLst>
          </p:cNvPr>
          <p:cNvSpPr txBox="1">
            <a:spLocks/>
          </p:cNvSpPr>
          <p:nvPr/>
        </p:nvSpPr>
        <p:spPr>
          <a:xfrm>
            <a:off x="0" y="2052017"/>
            <a:ext cx="2928533" cy="422878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Safe Perimeter / Security Boundaries:</a:t>
            </a:r>
            <a:endParaRPr lang="en-US" dirty="0"/>
          </a:p>
          <a:p>
            <a:r>
              <a:rPr lang="en-US" dirty="0"/>
              <a:t>Trusted components: the user’s Tor Browser client (assumed uncorrupted), the local OS (to some extent), correct implementation of Tor Browser / Tor protocol.</a:t>
            </a:r>
          </a:p>
          <a:p>
            <a:r>
              <a:rPr lang="en-US" dirty="0"/>
              <a:t>Directory Authorities: semi-trusted; they can affect which relays are published, but should behave honestly (signing valid relay lists).</a:t>
            </a:r>
          </a:p>
          <a:p>
            <a:r>
              <a:rPr lang="en-US" dirty="0"/>
              <a:t>Relays that adhere to protocol: guard, middle, exit relays that are not compromised/malicious.</a:t>
            </a:r>
          </a:p>
          <a:p>
            <a:endParaRPr lang="ru-R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66B860-70E4-B5AA-5820-221043B60BFE}"/>
              </a:ext>
            </a:extLst>
          </p:cNvPr>
          <p:cNvSpPr txBox="1">
            <a:spLocks/>
          </p:cNvSpPr>
          <p:nvPr/>
        </p:nvSpPr>
        <p:spPr>
          <a:xfrm>
            <a:off x="2876420" y="2052017"/>
            <a:ext cx="3433906" cy="4590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Outside the Perimeter </a:t>
            </a:r>
          </a:p>
          <a:p>
            <a:r>
              <a:rPr lang="en-US" dirty="0"/>
              <a:t>Network observers (ISPs, governments) who can observe traffic entering/leaving the Tor network.</a:t>
            </a:r>
          </a:p>
          <a:p>
            <a:r>
              <a:rPr lang="en-US" dirty="0"/>
              <a:t>Malicious relays (especially exit, or a large fraction of nodes) trying to deanonymize or modify traffic.</a:t>
            </a:r>
          </a:p>
          <a:p>
            <a:r>
              <a:rPr lang="en-US" dirty="0"/>
              <a:t>Local adversaries on user device (malware, browser plugins, misconfiguration).</a:t>
            </a:r>
          </a:p>
          <a:p>
            <a:r>
              <a:rPr lang="en-US" dirty="0"/>
              <a:t>Censorship systems that block Tor or try to fingerprint its traffic.</a:t>
            </a:r>
          </a:p>
          <a:p>
            <a:r>
              <a:rPr lang="en-US" dirty="0"/>
              <a:t>Timing attacks, correlation attacks across the network.</a:t>
            </a:r>
          </a:p>
        </p:txBody>
      </p:sp>
    </p:spTree>
    <p:extLst>
      <p:ext uri="{BB962C8B-B14F-4D97-AF65-F5344CB8AC3E}">
        <p14:creationId xmlns:p14="http://schemas.microsoft.com/office/powerpoint/2010/main" val="2333327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6210-4BE5-9488-2460-9D07C3E7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attacks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7E7F-3AFC-0EEE-C566-39CBC92B2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Network &amp; Protocol Layer:</a:t>
            </a:r>
            <a:r>
              <a:rPr lang="en-US" dirty="0"/>
              <a:t> Traffic correlation, AS/BGP routing hijacks, Sybil relay attacks.</a:t>
            </a:r>
            <a:br>
              <a:rPr lang="en-US" dirty="0"/>
            </a:br>
            <a:r>
              <a:rPr lang="en-US" b="1" dirty="0"/>
              <a:t>2. Traffic &amp; Side Channels:</a:t>
            </a:r>
            <a:r>
              <a:rPr lang="en-US" dirty="0"/>
              <a:t> Website fingerprinting (ML-based), in-page JS markers, DNS cache leakage.</a:t>
            </a:r>
            <a:br>
              <a:rPr lang="en-US" dirty="0"/>
            </a:br>
            <a:r>
              <a:rPr lang="en-US" b="1" dirty="0"/>
              <a:t>3. Browser &amp; Endpoint Exploits:</a:t>
            </a:r>
            <a:r>
              <a:rPr lang="en-US" dirty="0"/>
              <a:t> Fingerprinting, zero-days in Tor Browser (Firefox base), JS/microarchitectural timing leaks.</a:t>
            </a:r>
            <a:br>
              <a:rPr lang="en-US" dirty="0"/>
            </a:br>
            <a:r>
              <a:rPr lang="en-US" b="1" dirty="0"/>
              <a:t>4. Infrastructure-Level Threats:</a:t>
            </a:r>
            <a:r>
              <a:rPr lang="en-US" dirty="0"/>
              <a:t> Malicious exit nodes (MITM, injection), DDoS to herd traffic.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19390-0E5E-867D-6DDA-2BD5B4C52B3A}"/>
              </a:ext>
            </a:extLst>
          </p:cNvPr>
          <p:cNvSpPr txBox="1"/>
          <p:nvPr/>
        </p:nvSpPr>
        <p:spPr>
          <a:xfrm>
            <a:off x="838200" y="5297210"/>
            <a:ext cx="9403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Studies:</a:t>
            </a:r>
            <a:r>
              <a:rPr lang="en-US" dirty="0"/>
              <a:t> Operation </a:t>
            </a:r>
            <a:r>
              <a:rPr lang="en-US" i="1" dirty="0"/>
              <a:t>Onymous</a:t>
            </a:r>
            <a:r>
              <a:rPr lang="en-US" dirty="0"/>
              <a:t> (2014) → endpoint + operational failure; Carnegie Mellon traffic confirmation (2014–2015) → relay-level deanonymization; German LE timing claims (2024).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1190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6B523-3D30-618A-3123-F557860D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correlation and BGP hijack attacks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3E10DD-D450-4E8F-75EB-FF4FC037F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683" y="2869939"/>
            <a:ext cx="6096000" cy="329908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BC1528-3A1A-1BC0-6DE4-4B004C8CFB5C}"/>
              </a:ext>
            </a:extLst>
          </p:cNvPr>
          <p:cNvSpPr txBox="1"/>
          <p:nvPr/>
        </p:nvSpPr>
        <p:spPr>
          <a:xfrm>
            <a:off x="558800" y="61690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https://thesis.dial.uclouvain.be/server/api/core/bitstreams/85a56966-a488-4cb7-a88e-20024148bc7b/content</a:t>
            </a:r>
          </a:p>
        </p:txBody>
      </p:sp>
      <p:pic>
        <p:nvPicPr>
          <p:cNvPr id="1026" name="Picture 2" descr="Example of a BGP Route Hijack">
            <a:extLst>
              <a:ext uri="{FF2B5EF4-FFF2-40B4-BE49-F238E27FC236}">
                <a16:creationId xmlns:a16="http://schemas.microsoft.com/office/drawing/2014/main" id="{F92BA265-8B9D-DAB3-77B4-5160882CF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790" y="2540016"/>
            <a:ext cx="5632527" cy="316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80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A66E-7980-46F7-D0C4-79583086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37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Sybil attack and 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website fingerprinting threat model.</a:t>
            </a:r>
            <a:b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</a:br>
            <a:endParaRPr lang="ru-RU" dirty="0"/>
          </a:p>
        </p:txBody>
      </p:sp>
      <p:pic>
        <p:nvPicPr>
          <p:cNvPr id="6" name="Content Placeholder 5" descr="A diagram of a network&#10;&#10;AI-generated content may be incorrect.">
            <a:extLst>
              <a:ext uri="{FF2B5EF4-FFF2-40B4-BE49-F238E27FC236}">
                <a16:creationId xmlns:a16="http://schemas.microsoft.com/office/drawing/2014/main" id="{D3FAFDB9-CFF6-F187-EC2F-D56F5A293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809" y="1919288"/>
            <a:ext cx="5981391" cy="339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09222D97-A97E-778E-2A77-0F2480D55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591" y="2741284"/>
            <a:ext cx="4876800" cy="219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189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24B99-463F-6EF3-2334-16C446D51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Forensic Analysis of Tor Browser: </a:t>
            </a:r>
            <a:r>
              <a:rPr lang="en-US" dirty="0"/>
              <a:t>A Case Study for Privacy and Anonymity on the Web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4BF38-648B-5101-09B6-4C0AE10A70E6}"/>
              </a:ext>
            </a:extLst>
          </p:cNvPr>
          <p:cNvSpPr txBox="1"/>
          <p:nvPr/>
        </p:nvSpPr>
        <p:spPr>
          <a:xfrm>
            <a:off x="1112520" y="6062583"/>
            <a:ext cx="1024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Studies:</a:t>
            </a:r>
            <a:r>
              <a:rPr lang="en-US" dirty="0"/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EPGOB J+ Adv O T 863180fb"/>
              </a:rPr>
              <a:t>Forensic Analysis of Tor Browser: A Case Study for Privacy and Anonymity on the Web</a:t>
            </a:r>
            <a:r>
              <a:rPr lang="ru-RU" dirty="0">
                <a:solidFill>
                  <a:srgbClr val="000000"/>
                </a:solidFill>
                <a:latin typeface="EPGOB J+ Adv O T 863180fb"/>
              </a:rPr>
              <a:t>.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EPGOB J+ Adv O T 863180fb"/>
              </a:rPr>
              <a:t>Abid Khan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EPGOB J+ Adv O T 863180fb"/>
              </a:rPr>
              <a:t>Jadoon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EPGOB J+ Adv O T 863180fb"/>
              </a:rPr>
              <a:t>, Waseem Iqbal, Muhammad Faisal Amjad, Hammad Afzal,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EPGOB J+ Adv O T 863180fb"/>
              </a:rPr>
              <a:t>Yawar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EPGOB J+ Adv O T 863180fb"/>
              </a:rPr>
              <a:t> Abbas Bangash </a:t>
            </a:r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512E3B-A748-2266-4E65-870C74054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Network 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Artifacts</a:t>
            </a:r>
            <a:endParaRPr lang="ru-RU" sz="3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Public Keys of Tor Relays</a:t>
            </a:r>
            <a:endParaRPr lang="ru-RU" sz="3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Email</a:t>
            </a: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Content (Gmail/Yahoo)</a:t>
            </a:r>
            <a:endParaRPr lang="ru-RU" sz="3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Google Drive 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Activity</a:t>
            </a:r>
            <a:endParaRPr lang="ru-RU" sz="3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Social Media Profiles and Interactions</a:t>
            </a:r>
            <a:endParaRPr lang="ru-RU" sz="3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Torrent</a:t>
            </a: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and</a:t>
            </a: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Academic</a:t>
            </a: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Sites</a:t>
            </a:r>
            <a:endParaRPr lang="ru-RU" sz="3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Research 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and</a:t>
            </a: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Other</a:t>
            </a: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Sites</a:t>
            </a:r>
            <a:endParaRPr lang="ru-RU" sz="36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Mail2Tor (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Onion</a:t>
            </a: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ru-RU" sz="3600" b="1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Email</a:t>
            </a:r>
            <a:r>
              <a:rPr lang="ru-RU" sz="3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Service)</a:t>
            </a:r>
            <a:endParaRPr lang="ru-RU" sz="36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2789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337BE-DA0B-9634-EDF0-C5A9B7130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EEA73-215D-DE2E-E01A-69F831BF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631089"/>
          </a:xfrm>
        </p:spPr>
        <p:txBody>
          <a:bodyPr/>
          <a:lstStyle/>
          <a:p>
            <a:r>
              <a:rPr lang="en-US" dirty="0"/>
              <a:t>1 - Forensic Analysis of Tor Browser: A Case Study for Privacy and Anonymity on the Web. Abid Khan </a:t>
            </a:r>
            <a:r>
              <a:rPr lang="en-US" dirty="0" err="1"/>
              <a:t>Jadoon</a:t>
            </a:r>
            <a:r>
              <a:rPr lang="en-US" dirty="0"/>
              <a:t>, Waseem Iqbal, Muhammad Faisal Amjad, Hammad Afzal, </a:t>
            </a:r>
            <a:r>
              <a:rPr lang="en-US" dirty="0" err="1"/>
              <a:t>Yawar</a:t>
            </a:r>
            <a:r>
              <a:rPr lang="en-US" dirty="0"/>
              <a:t> Abbas Bangash </a:t>
            </a:r>
            <a:endParaRPr lang="ru-RU" dirty="0"/>
          </a:p>
          <a:p>
            <a:r>
              <a:rPr lang="en-US" dirty="0"/>
              <a:t>2 - spec.torproject.org</a:t>
            </a:r>
            <a:endParaRPr lang="ru-RU" dirty="0"/>
          </a:p>
          <a:p>
            <a:r>
              <a:rPr lang="en-US" dirty="0"/>
              <a:t>3 - </a:t>
            </a:r>
            <a:r>
              <a:rPr lang="en-US" dirty="0">
                <a:hlinkClick r:id="rId2"/>
              </a:rPr>
              <a:t>https://www.princeton.edu/~pmittal/publications/bgptor-hotnets14.pdf</a:t>
            </a:r>
            <a:endParaRPr lang="ru-RU" dirty="0"/>
          </a:p>
          <a:p>
            <a:r>
              <a:rPr lang="en-US" dirty="0"/>
              <a:t>4 - </a:t>
            </a:r>
            <a:r>
              <a:rPr lang="en-US" dirty="0">
                <a:hlinkClick r:id="rId3"/>
              </a:rPr>
              <a:t>https://blog.torproject.org/tor-security-advisory-relay-early-traffic-confirmation-attack/</a:t>
            </a:r>
            <a:endParaRPr lang="ru-RU" dirty="0"/>
          </a:p>
          <a:p>
            <a:r>
              <a:rPr lang="en-US" dirty="0"/>
              <a:t>5 - </a:t>
            </a:r>
            <a:r>
              <a:rPr lang="en-US" dirty="0">
                <a:hlinkClick r:id="rId4"/>
              </a:rPr>
              <a:t>https://en.wikipedia.org/wiki/Operation_Onymous</a:t>
            </a:r>
            <a:endParaRPr lang="ru-RU" dirty="0"/>
          </a:p>
          <a:p>
            <a:r>
              <a:rPr lang="en-US" dirty="0"/>
              <a:t>6 - https://www.wired.com/2015/11/carnegie-mellon-denies-fbi-paid-for-tor-breaking-research/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12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3203</TotalTime>
  <Words>804</Words>
  <Application>Microsoft Office PowerPoint</Application>
  <PresentationFormat>Widescreen</PresentationFormat>
  <Paragraphs>71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EPGOB J+ Adv O T 863180fb</vt:lpstr>
      <vt:lpstr>Roboto</vt:lpstr>
      <vt:lpstr>sohne</vt:lpstr>
      <vt:lpstr>Office Theme</vt:lpstr>
      <vt:lpstr>Security issues in TOR browser</vt:lpstr>
      <vt:lpstr>Terms and description</vt:lpstr>
      <vt:lpstr>Context</vt:lpstr>
      <vt:lpstr>Non-Functional requirements </vt:lpstr>
      <vt:lpstr>Safe Perimeter</vt:lpstr>
      <vt:lpstr>Possible attacks</vt:lpstr>
      <vt:lpstr>Traffic correlation and BGP hijack attacks</vt:lpstr>
      <vt:lpstr>Sybil attack and website fingerprinting threat model. </vt:lpstr>
      <vt:lpstr>Forensic Analysis of Tor Browser: A Case Study for Privacy and Anonymity on the Web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 slap</dc:creator>
  <cp:lastModifiedBy>zach slap</cp:lastModifiedBy>
  <cp:revision>13</cp:revision>
  <dcterms:created xsi:type="dcterms:W3CDTF">2025-10-10T14:23:54Z</dcterms:created>
  <dcterms:modified xsi:type="dcterms:W3CDTF">2025-10-14T06:45:43Z</dcterms:modified>
</cp:coreProperties>
</file>